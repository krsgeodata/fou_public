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13"/>
  </p:notesMasterIdLst>
  <p:sldIdLst>
    <p:sldId id="275" r:id="rId3"/>
    <p:sldId id="271" r:id="rId4"/>
    <p:sldId id="272" r:id="rId5"/>
    <p:sldId id="290" r:id="rId6"/>
    <p:sldId id="291" r:id="rId7"/>
    <p:sldId id="292" r:id="rId8"/>
    <p:sldId id="293" r:id="rId9"/>
    <p:sldId id="276" r:id="rId10"/>
    <p:sldId id="294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1C587-AE84-9D5B-8D3D-3BB784B3A854}" v="14" dt="2026-05-20T13:59:45.482"/>
    <p1510:client id="{2A2DA04A-B81C-4640-A26B-903AC25C6CBA}" v="65" dt="2026-05-20T08:04:17.321"/>
    <p1510:client id="{AADC7826-BFF8-43FF-8BA2-7AE7861EC515}" v="303" dt="2026-05-20T20:09:59.673"/>
    <p1510:client id="{C5F36FBD-7DD4-E628-0E0A-47FB7F104AF0}" v="323" dt="2026-05-20T21:39:19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0C40E-A9A8-4C43-9783-BDFA4E96FB6E}" type="datetimeFigureOut">
              <a:t>20.05.2026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69C2C-FD82-4534-AFD0-E63D0F71CF67}" type="slidenum"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273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Du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nettopp</a:t>
            </a:r>
            <a:r>
              <a:rPr lang="en-US"/>
              <a:t> </a:t>
            </a:r>
            <a:r>
              <a:rPr lang="en-US" err="1"/>
              <a:t>kjøpt</a:t>
            </a:r>
            <a:r>
              <a:rPr lang="en-US"/>
              <a:t> </a:t>
            </a:r>
            <a:r>
              <a:rPr lang="en-US" err="1"/>
              <a:t>ny</a:t>
            </a:r>
            <a:r>
              <a:rPr lang="en-US"/>
              <a:t> </a:t>
            </a:r>
            <a:r>
              <a:rPr lang="en-US" err="1"/>
              <a:t>bolig</a:t>
            </a:r>
            <a:r>
              <a:rPr lang="en-US"/>
              <a:t>. Du </a:t>
            </a:r>
            <a:r>
              <a:rPr lang="en-US" err="1"/>
              <a:t>vil</a:t>
            </a:r>
            <a:r>
              <a:rPr lang="en-US"/>
              <a:t> </a:t>
            </a:r>
            <a:r>
              <a:rPr lang="en-US" err="1"/>
              <a:t>sjekke</a:t>
            </a:r>
            <a:r>
              <a:rPr lang="en-US"/>
              <a:t> </a:t>
            </a:r>
            <a:r>
              <a:rPr lang="en-US" err="1"/>
              <a:t>når</a:t>
            </a:r>
            <a:r>
              <a:rPr lang="en-US"/>
              <a:t> </a:t>
            </a:r>
            <a:r>
              <a:rPr lang="en-US" err="1"/>
              <a:t>søppelet</a:t>
            </a:r>
            <a:r>
              <a:rPr lang="en-US"/>
              <a:t> </a:t>
            </a:r>
            <a:r>
              <a:rPr lang="en-US" err="1"/>
              <a:t>hentes</a:t>
            </a:r>
            <a:r>
              <a:rPr lang="en-US"/>
              <a:t>, om det ligger </a:t>
            </a:r>
            <a:r>
              <a:rPr lang="en-US" err="1"/>
              <a:t>gamle</a:t>
            </a:r>
            <a:r>
              <a:rPr lang="en-US"/>
              <a:t> </a:t>
            </a:r>
            <a:r>
              <a:rPr lang="en-US" err="1"/>
              <a:t>byggesaker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eiendommen</a:t>
            </a:r>
            <a:r>
              <a:rPr lang="en-US"/>
              <a:t>,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hvem</a:t>
            </a:r>
            <a:r>
              <a:rPr lang="en-US"/>
              <a:t> </a:t>
            </a:r>
            <a:r>
              <a:rPr lang="en-US" err="1"/>
              <a:t>naboene</a:t>
            </a:r>
            <a:r>
              <a:rPr lang="en-US"/>
              <a:t> dine er. Du logger inn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kommunens</a:t>
            </a:r>
            <a:r>
              <a:rPr lang="en-US"/>
              <a:t> </a:t>
            </a:r>
            <a:r>
              <a:rPr lang="en-US" err="1"/>
              <a:t>nettside</a:t>
            </a:r>
            <a:r>
              <a:rPr lang="en-US"/>
              <a:t> –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finner</a:t>
            </a:r>
            <a:r>
              <a:rPr lang="en-US"/>
              <a:t> </a:t>
            </a:r>
            <a:r>
              <a:rPr lang="en-US" err="1"/>
              <a:t>ingenting</a:t>
            </a:r>
            <a:r>
              <a:rPr lang="en-US"/>
              <a:t> samlet. Du ender </a:t>
            </a:r>
            <a:r>
              <a:rPr lang="en-US" err="1"/>
              <a:t>opp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fire </a:t>
            </a:r>
            <a:r>
              <a:rPr lang="en-US" err="1"/>
              <a:t>forskjellige</a:t>
            </a:r>
            <a:r>
              <a:rPr lang="en-US"/>
              <a:t> </a:t>
            </a:r>
            <a:r>
              <a:rPr lang="en-US" err="1"/>
              <a:t>nettsider</a:t>
            </a:r>
            <a:r>
              <a:rPr lang="en-US"/>
              <a:t>,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slutt</a:t>
            </a:r>
            <a:r>
              <a:rPr lang="en-US"/>
              <a:t> ringer du </a:t>
            </a:r>
            <a:r>
              <a:rPr lang="en-US" err="1"/>
              <a:t>kommunen</a:t>
            </a:r>
            <a:r>
              <a:rPr lang="en-US"/>
              <a:t>.</a:t>
            </a:r>
          </a:p>
          <a:p>
            <a:r>
              <a:rPr lang="en-US"/>
              <a:t>Dette er </a:t>
            </a:r>
            <a:r>
              <a:rPr lang="en-US" err="1"/>
              <a:t>hverdagen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norske</a:t>
            </a:r>
            <a:r>
              <a:rPr lang="en-US"/>
              <a:t> </a:t>
            </a:r>
            <a:r>
              <a:rPr lang="en-US" err="1"/>
              <a:t>eiendomseiere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dag</a:t>
            </a:r>
            <a:r>
              <a:rPr lang="en-US"/>
              <a:t>. Vi er </a:t>
            </a:r>
            <a:r>
              <a:rPr lang="en-US" err="1"/>
              <a:t>gruppe</a:t>
            </a:r>
            <a:r>
              <a:rPr lang="en-US"/>
              <a:t> Delta, </a:t>
            </a:r>
            <a:r>
              <a:rPr lang="en-US" err="1"/>
              <a:t>og</a:t>
            </a:r>
            <a:r>
              <a:rPr lang="en-US"/>
              <a:t> vi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jobbet</a:t>
            </a:r>
            <a:r>
              <a:rPr lang="en-US"/>
              <a:t> med </a:t>
            </a:r>
            <a:r>
              <a:rPr lang="en-US" err="1"/>
              <a:t>å</a:t>
            </a:r>
            <a:r>
              <a:rPr lang="en-US"/>
              <a:t> </a:t>
            </a:r>
            <a:r>
              <a:rPr lang="en-US" err="1"/>
              <a:t>løse</a:t>
            </a:r>
            <a:r>
              <a:rPr lang="en-US"/>
              <a:t> </a:t>
            </a:r>
            <a:r>
              <a:rPr lang="en-US" err="1"/>
              <a:t>akkurat</a:t>
            </a:r>
            <a:r>
              <a:rPr lang="en-US"/>
              <a:t> </a:t>
            </a:r>
            <a:r>
              <a:rPr lang="en-US" err="1"/>
              <a:t>dette</a:t>
            </a:r>
            <a:r>
              <a:rPr lang="en-US"/>
              <a:t> </a:t>
            </a:r>
            <a:r>
              <a:rPr lang="en-US" err="1"/>
              <a:t>problemet</a:t>
            </a:r>
            <a:r>
              <a:rPr lang="en-US"/>
              <a:t> </a:t>
            </a:r>
            <a:r>
              <a:rPr lang="en-US" err="1"/>
              <a:t>sammen</a:t>
            </a:r>
            <a:r>
              <a:rPr lang="en-US"/>
              <a:t> med Kristiansand </a:t>
            </a:r>
            <a:r>
              <a:rPr lang="en-US" err="1"/>
              <a:t>kommune</a:t>
            </a:r>
            <a:r>
              <a:rPr lang="en-US"/>
              <a:t>.»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69C2C-FD82-4534-AFD0-E63D0F71CF67}" type="slidenum"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894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Løsningen</a:t>
            </a:r>
            <a:r>
              <a:rPr lang="en-US"/>
              <a:t> er </a:t>
            </a:r>
            <a:r>
              <a:rPr lang="en-US" err="1"/>
              <a:t>en</a:t>
            </a:r>
            <a:r>
              <a:rPr lang="en-US"/>
              <a:t> proof of concept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samler</a:t>
            </a:r>
            <a:r>
              <a:rPr lang="en-US"/>
              <a:t> </a:t>
            </a:r>
            <a:r>
              <a:rPr lang="en-US" err="1"/>
              <a:t>eiendomsrelatert</a:t>
            </a:r>
            <a:r>
              <a:rPr lang="en-US"/>
              <a:t> </a:t>
            </a:r>
            <a:r>
              <a:rPr lang="en-US" err="1"/>
              <a:t>informasjon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ett</a:t>
            </a:r>
            <a:r>
              <a:rPr lang="en-US"/>
              <a:t> </a:t>
            </a:r>
            <a:r>
              <a:rPr lang="en-US" err="1"/>
              <a:t>sted</a:t>
            </a:r>
            <a:r>
              <a:rPr lang="en-US"/>
              <a:t> – </a:t>
            </a:r>
            <a:r>
              <a:rPr lang="en-US" err="1"/>
              <a:t>byggesak</a:t>
            </a:r>
            <a:r>
              <a:rPr lang="en-US"/>
              <a:t>, </a:t>
            </a:r>
            <a:r>
              <a:rPr lang="en-US" err="1"/>
              <a:t>avfall</a:t>
            </a:r>
            <a:r>
              <a:rPr lang="en-US"/>
              <a:t>, </a:t>
            </a:r>
            <a:r>
              <a:rPr lang="en-US" err="1"/>
              <a:t>naboer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avgifter</a:t>
            </a:r>
            <a:r>
              <a:rPr lang="en-US"/>
              <a:t>.</a:t>
            </a:r>
            <a:endParaRPr lang="nb-NO"/>
          </a:p>
          <a:p>
            <a:r>
              <a:rPr lang="en-US">
                <a:ea typeface="Calibri"/>
                <a:cs typeface="Calibri"/>
              </a:rPr>
              <a:t>Det </a:t>
            </a:r>
            <a:r>
              <a:rPr lang="en-US" err="1">
                <a:ea typeface="Calibri"/>
                <a:cs typeface="Calibri"/>
              </a:rPr>
              <a:t>som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skiller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løsningen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fra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andre</a:t>
            </a:r>
            <a:r>
              <a:rPr lang="en-US">
                <a:ea typeface="Calibri"/>
                <a:cs typeface="Calibri"/>
              </a:rPr>
              <a:t> er </a:t>
            </a:r>
            <a:r>
              <a:rPr lang="en-US" err="1">
                <a:ea typeface="Calibri"/>
                <a:cs typeface="Calibri"/>
              </a:rPr>
              <a:t>arkitekturen</a:t>
            </a:r>
            <a:r>
              <a:rPr lang="en-US">
                <a:ea typeface="Calibri"/>
                <a:cs typeface="Calibri"/>
              </a:rPr>
              <a:t>. Et </a:t>
            </a:r>
            <a:r>
              <a:rPr lang="en-US" err="1">
                <a:ea typeface="Calibri"/>
                <a:cs typeface="Calibri"/>
              </a:rPr>
              <a:t>tydelig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skille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mellom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presentasjonslaget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datatilgangen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gjør</a:t>
            </a:r>
            <a:r>
              <a:rPr lang="en-US">
                <a:ea typeface="Calibri"/>
                <a:cs typeface="Calibri"/>
              </a:rPr>
              <a:t> at </a:t>
            </a:r>
            <a:r>
              <a:rPr lang="en-US" err="1">
                <a:ea typeface="Calibri"/>
                <a:cs typeface="Calibri"/>
              </a:rPr>
              <a:t>hver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kommune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tilpasse</a:t>
            </a:r>
            <a:r>
              <a:rPr lang="en-US">
                <a:ea typeface="Calibri"/>
                <a:cs typeface="Calibri"/>
              </a:rPr>
              <a:t> sin </a:t>
            </a:r>
            <a:r>
              <a:rPr lang="en-US" err="1">
                <a:ea typeface="Calibri"/>
                <a:cs typeface="Calibri"/>
              </a:rPr>
              <a:t>egen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visuelle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profil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farger</a:t>
            </a:r>
            <a:r>
              <a:rPr lang="en-US">
                <a:ea typeface="Calibri"/>
                <a:cs typeface="Calibri"/>
              </a:rPr>
              <a:t>, logo </a:t>
            </a:r>
            <a:r>
              <a:rPr lang="en-US" err="1">
                <a:ea typeface="Calibri"/>
                <a:cs typeface="Calibri"/>
              </a:rPr>
              <a:t>og</a:t>
            </a:r>
            <a:r>
              <a:rPr lang="en-US">
                <a:ea typeface="Calibri"/>
                <a:cs typeface="Calibri"/>
              </a:rPr>
              <a:t>  </a:t>
            </a:r>
            <a:r>
              <a:rPr lang="en-US" err="1">
                <a:ea typeface="Calibri"/>
                <a:cs typeface="Calibri"/>
              </a:rPr>
              <a:t>hjelpetekster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uten</a:t>
            </a:r>
            <a:r>
              <a:rPr lang="en-US">
                <a:ea typeface="Calibri"/>
                <a:cs typeface="Calibri"/>
              </a:rPr>
              <a:t> å skive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linje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kode</a:t>
            </a:r>
            <a:r>
              <a:rPr lang="en-US">
                <a:ea typeface="Calibri"/>
                <a:cs typeface="Calibri"/>
              </a:rPr>
              <a:t>. Nye </a:t>
            </a:r>
            <a:r>
              <a:rPr lang="en-US" err="1">
                <a:ea typeface="Calibri"/>
                <a:cs typeface="Calibri"/>
              </a:rPr>
              <a:t>kommuner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onboardes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uten</a:t>
            </a:r>
            <a:r>
              <a:rPr lang="en-US">
                <a:ea typeface="Calibri"/>
                <a:cs typeface="Calibri"/>
              </a:rPr>
              <a:t> at </a:t>
            </a:r>
            <a:r>
              <a:rPr lang="en-US" err="1">
                <a:ea typeface="Calibri"/>
                <a:cs typeface="Calibri"/>
              </a:rPr>
              <a:t>kjernelogikken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røres</a:t>
            </a:r>
            <a:r>
              <a:rPr lang="en-US">
                <a:ea typeface="Calibri"/>
                <a:cs typeface="Calibri"/>
              </a:rPr>
              <a:t>. </a:t>
            </a:r>
            <a:r>
              <a:rPr lang="en-US" err="1">
                <a:ea typeface="Calibri"/>
                <a:cs typeface="Calibri"/>
              </a:rPr>
              <a:t>Løsningen</a:t>
            </a:r>
            <a:r>
              <a:rPr lang="en-US">
                <a:ea typeface="Calibri"/>
                <a:cs typeface="Calibri"/>
              </a:rPr>
              <a:t> er I </a:t>
            </a:r>
            <a:r>
              <a:rPr lang="en-US" err="1">
                <a:ea typeface="Calibri"/>
                <a:cs typeface="Calibri"/>
              </a:rPr>
              <a:t>dag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konfigurert</a:t>
            </a:r>
            <a:r>
              <a:rPr lang="en-US">
                <a:ea typeface="Calibri"/>
                <a:cs typeface="Calibri"/>
              </a:rPr>
              <a:t> for Kristiansand, </a:t>
            </a:r>
            <a:r>
              <a:rPr lang="en-US" err="1">
                <a:ea typeface="Calibri"/>
                <a:cs typeface="Calibri"/>
              </a:rPr>
              <a:t>og</a:t>
            </a:r>
            <a:r>
              <a:rPr lang="en-US">
                <a:ea typeface="Calibri"/>
                <a:cs typeface="Calibri"/>
              </a:rPr>
              <a:t> vi </a:t>
            </a:r>
            <a:r>
              <a:rPr lang="en-US" err="1">
                <a:ea typeface="Calibri"/>
                <a:cs typeface="Calibri"/>
              </a:rPr>
              <a:t>har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utarbeidet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utkast</a:t>
            </a:r>
            <a:r>
              <a:rPr lang="en-US">
                <a:ea typeface="Calibri"/>
                <a:cs typeface="Calibri"/>
              </a:rPr>
              <a:t> for Oslo </a:t>
            </a:r>
            <a:r>
              <a:rPr lang="en-US" err="1">
                <a:ea typeface="Calibri"/>
                <a:cs typeface="Calibri"/>
              </a:rPr>
              <a:t>og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Eidsvoll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69C2C-FD82-4534-AFD0-E63D0F71CF67}" type="slidenum"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690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69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9475-A655-B5C2-0F72-F9B2CB4D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5F4405EF-A84B-CA7F-C8C4-48589E3A6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B53D7ED4-635D-F2A2-80BB-04B0785D4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ABCA5DE-E9FF-C443-C0BB-69C717296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245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44A8-220F-B3AC-6057-48199B00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1EB0C1C-34A1-9D48-CB8B-A108027A8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CC7942FC-BD58-4CF5-756B-E80AF6DF4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FD77F82-BEC8-DA36-3ED0-C5259F8F2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0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92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3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6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8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7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2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4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8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1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7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61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60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33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57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12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3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71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1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3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00B4D8"/>
              </a:gs>
              <a:gs pos="50000">
                <a:srgbClr val="48CAE4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00" name="BottomAccent"/>
          <p:cNvSpPr/>
          <p:nvPr userDrawn="1"/>
        </p:nvSpPr>
        <p:spPr>
          <a:xfrm>
            <a:off x="0" y="6743700"/>
            <a:ext cx="12192000" cy="114300"/>
          </a:xfrm>
          <a:prstGeom prst="rect">
            <a:avLst/>
          </a:prstGeom>
          <a:gradFill>
            <a:gsLst>
              <a:gs pos="0">
                <a:srgbClr val="0077B6"/>
              </a:gs>
              <a:gs pos="50000">
                <a:srgbClr val="00A676"/>
              </a:gs>
              <a:gs pos="100000">
                <a:srgbClr val="48CAE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LeftAccent"/>
          <p:cNvSpPr/>
          <p:nvPr userDrawn="1"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4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rgbClr val="1A2B3C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rgbClr val="2D4356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rgbClr val="2D4356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rgbClr val="2D4356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D4356"/>
          </a:solidFill>
        </a:defRPr>
      </a:defPPr>
      <a:lvl1pPr marL="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2D435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43BDC-0553-40FA-A4DB-EDAAA606CFF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4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labs.geokrs.no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12.sv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12.sv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dieforskerkonferansen 2026 - Universitetet i Agder">
            <a:extLst>
              <a:ext uri="{FF2B5EF4-FFF2-40B4-BE49-F238E27FC236}">
                <a16:creationId xmlns:a16="http://schemas.microsoft.com/office/drawing/2014/main" id="{6D0902C2-6D57-ECA7-34D1-B3A6C5E2B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rkOverlay">
            <a:extLst>
              <a:ext uri="{FF2B5EF4-FFF2-40B4-BE49-F238E27FC236}">
                <a16:creationId xmlns:a16="http://schemas.microsoft.com/office/drawing/2014/main" id="{3D75241B-3581-A649-9CA1-EF00BB629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>
              <a:alpha val="50000"/>
            </a:srgbClr>
          </a:solidFill>
          <a:ln w="1397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nb-NO" sz="5400" b="1">
                <a:solidFill>
                  <a:srgbClr val="FFFFFF"/>
                </a:solidFill>
              </a:rPr>
              <a:t>Min Eiendom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nb-NO" sz="2000">
                <a:solidFill>
                  <a:srgbClr val="90E0EF"/>
                </a:solidFill>
              </a:rPr>
              <a:t>Fremtidens nasjonale eiendomsplattform</a:t>
            </a:r>
          </a:p>
          <a:p>
            <a:pPr algn="ctr"/>
            <a:r>
              <a:rPr lang="nb-NO" sz="1400">
                <a:solidFill>
                  <a:srgbClr val="C8D8E4"/>
                </a:solidFill>
              </a:rPr>
              <a:t>Team DELTA  |  Bachelorprosjekt 2026  |  UiA</a:t>
            </a:r>
            <a:endParaRPr lang="nb-NO" sz="1400">
              <a:solidFill>
                <a:srgbClr val="C8D8E4"/>
              </a:solidFill>
              <a:cs typeface="Segoe UI"/>
            </a:endParaRPr>
          </a:p>
        </p:txBody>
      </p:sp>
      <p:sp>
        <p:nvSpPr>
          <p:cNvPr id="50" name="TitleAccent"/>
          <p:cNvSpPr/>
          <p:nvPr/>
        </p:nvSpPr>
        <p:spPr>
          <a:xfrm>
            <a:off x="3810000" y="4800600"/>
            <a:ext cx="4572000" cy="45720"/>
          </a:xfrm>
          <a:prstGeom prst="rect">
            <a:avLst/>
          </a:prstGeom>
          <a:gradFill>
            <a:gsLst>
              <a:gs pos="0">
                <a:srgbClr val="00B4D8">
                  <a:alpha val="0"/>
                </a:srgbClr>
              </a:gs>
              <a:gs pos="50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637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-0.13054" pathEditMode="relative" ptsTypes="AA">
                                      <p:cBhvr>
                                        <p:cTn id="6" dur="30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-0.13054 L 0 0" pathEditMode="relative" ptsTypes="AA">
                                      <p:cBhvr>
                                        <p:cTn id="11" dur="30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3" dur="30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A263-49F6-EA92-3FE9-1C565465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nb-NO" sz="3200" b="1">
                <a:solidFill>
                  <a:srgbClr val="1A2B3C"/>
                </a:solidFill>
              </a:rPr>
              <a:t>Oppgaven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ABF8-F391-5CAE-268B-F4454E7B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nb-NO" sz="1600">
                <a:solidFill>
                  <a:srgbClr val="6B7D8E"/>
                </a:solidFill>
              </a:rPr>
              <a:t>Oppdrag fra Kristiansand kommune</a:t>
            </a:r>
          </a:p>
          <a:p>
            <a:pPr>
              <a:buNone/>
            </a:pPr>
            <a:r>
              <a:rPr lang="nb-NO" sz="2200" i="1">
                <a:solidFill>
                  <a:srgbClr val="0077B6"/>
                </a:solidFill>
              </a:rPr>
              <a:t>“Lag en proof-of-concept som utforsker en fremtidig versjon av Min Eiendom”</a:t>
            </a:r>
          </a:p>
          <a:p>
            <a:pPr>
              <a:buNone/>
            </a:pPr>
            <a:endParaRPr lang="nb-NO" sz="1600">
              <a:solidFill>
                <a:srgbClr val="6B7D8E"/>
              </a:solidFill>
            </a:endParaRPr>
          </a:p>
          <a:p>
            <a:pPr>
              <a:buNone/>
            </a:pPr>
            <a:r>
              <a:rPr lang="nb-NO" sz="1600">
                <a:solidFill>
                  <a:srgbClr val="6B7D8E"/>
                </a:solidFill>
              </a:rPr>
              <a:t>Vår Problemstilling:</a:t>
            </a:r>
          </a:p>
          <a:p>
            <a:pPr>
              <a:buNone/>
            </a:pPr>
            <a:r>
              <a:rPr lang="nb-NO" i="1">
                <a:solidFill>
                  <a:srgbClr val="000000"/>
                </a:solidFill>
              </a:rPr>
              <a:t>“ </a:t>
            </a:r>
            <a:r>
              <a:rPr lang="nb-NO" sz="1800">
                <a:solidFill>
                  <a:srgbClr val="000000"/>
                </a:solidFill>
              </a:rPr>
              <a:t>Hvordan kan en brukersentrert og teknisk skalerbar arkitektur synliggjøre forutsetningene for nasjonal utbredelse av en samlet eiendomsinformasjonsløsning?</a:t>
            </a:r>
            <a:r>
              <a:rPr lang="nb-NO" i="1">
                <a:solidFill>
                  <a:srgbClr val="000000"/>
                </a:solidFill>
              </a:rPr>
              <a:t> “</a:t>
            </a:r>
            <a:endParaRPr lang="nb-NO" sz="1800">
              <a:solidFill>
                <a:srgbClr val="000000"/>
              </a:solidFill>
            </a:endParaRPr>
          </a:p>
        </p:txBody>
      </p:sp>
      <p:sp>
        <p:nvSpPr>
          <p:cNvPr id="51" name="QuoteAccent"/>
          <p:cNvSpPr/>
          <p:nvPr/>
        </p:nvSpPr>
        <p:spPr>
          <a:xfrm>
            <a:off x="1143000" y="2286000"/>
            <a:ext cx="118872" cy="66459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5666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44C2C-9E24-AD82-7C7B-1BAD83B7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4624001"/>
            <a:ext cx="10156435" cy="1152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 b="1">
                <a:solidFill>
                  <a:schemeClr val="tx1"/>
                </a:solidFill>
              </a:rPr>
              <a:t>Løsningen</a:t>
            </a:r>
          </a:p>
        </p:txBody>
      </p:sp>
      <p:pic>
        <p:nvPicPr>
          <p:cNvPr id="8" name="Plassholder for innhold 7" descr="Et bilde som inneholder tekst, skjermbilde, Font, nummer&#10;&#10;KI-generert innhold kan være feil.">
            <a:extLst>
              <a:ext uri="{FF2B5EF4-FFF2-40B4-BE49-F238E27FC236}">
                <a16:creationId xmlns:a16="http://schemas.microsoft.com/office/drawing/2014/main" id="{60676D21-1663-C68B-825C-5BE065816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950" y="639097"/>
            <a:ext cx="5494429" cy="4270156"/>
          </a:xfrm>
          <a:prstGeom prst="rect">
            <a:avLst/>
          </a:prstGeom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41015E49-7387-8D9C-97B4-FA57FE4C34A0}"/>
              </a:ext>
            </a:extLst>
          </p:cNvPr>
          <p:cNvSpPr txBox="1"/>
          <p:nvPr/>
        </p:nvSpPr>
        <p:spPr>
          <a:xfrm>
            <a:off x="6215269" y="53008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b-NO" dirty="0">
                <a:ea typeface="+mn-lt"/>
                <a:cs typeface="+mn-lt"/>
                <a:hlinkClick r:id="rId4"/>
              </a:rPr>
              <a:t>http://labs.geokrs.no/</a:t>
            </a:r>
            <a:endParaRPr lang="nb-NO"/>
          </a:p>
        </p:txBody>
      </p:sp>
      <p:pic>
        <p:nvPicPr>
          <p:cNvPr id="6" name="Bilde 5" descr="Et bilde som inneholder tekst, skjermbilde, programvare, Multimedieprogramvare&#10;&#10;KI-generert innhold kan være feil.">
            <a:extLst>
              <a:ext uri="{FF2B5EF4-FFF2-40B4-BE49-F238E27FC236}">
                <a16:creationId xmlns:a16="http://schemas.microsoft.com/office/drawing/2014/main" id="{C6F6331A-FF4F-C593-09F9-D88C8A5DB5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21" r="2874" b="-53"/>
          <a:stretch>
            <a:fillRect/>
          </a:stretch>
        </p:blipFill>
        <p:spPr>
          <a:xfrm>
            <a:off x="7080511" y="564311"/>
            <a:ext cx="4310378" cy="44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2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176C-1FBF-3B26-5429-89DFE8DC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778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77B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10" name="Avrundet rektangel 9">
            <a:extLst>
              <a:ext uri="{FF2B5EF4-FFF2-40B4-BE49-F238E27FC236}">
                <a16:creationId xmlns:a16="http://schemas.microsoft.com/office/drawing/2014/main" id="{EB5B552A-68F2-9E45-2CFF-E36AAC17450C}"/>
              </a:ext>
            </a:extLst>
          </p:cNvPr>
          <p:cNvSpPr/>
          <p:nvPr/>
        </p:nvSpPr>
        <p:spPr>
          <a:xfrm>
            <a:off x="5191136" y="869188"/>
            <a:ext cx="1796527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11" name="Avrundet rektangel 10">
            <a:extLst>
              <a:ext uri="{FF2B5EF4-FFF2-40B4-BE49-F238E27FC236}">
                <a16:creationId xmlns:a16="http://schemas.microsoft.com/office/drawing/2014/main" id="{867E9394-2EB4-46E9-38DA-F957615A6876}"/>
              </a:ext>
            </a:extLst>
          </p:cNvPr>
          <p:cNvSpPr/>
          <p:nvPr/>
        </p:nvSpPr>
        <p:spPr>
          <a:xfrm>
            <a:off x="5191135" y="2260600"/>
            <a:ext cx="1796527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12" name="Avrundet rektangel 11">
            <a:extLst>
              <a:ext uri="{FF2B5EF4-FFF2-40B4-BE49-F238E27FC236}">
                <a16:creationId xmlns:a16="http://schemas.microsoft.com/office/drawing/2014/main" id="{EEAAAEA2-B29D-EB09-4FC4-0D7E793F8378}"/>
              </a:ext>
            </a:extLst>
          </p:cNvPr>
          <p:cNvSpPr/>
          <p:nvPr/>
        </p:nvSpPr>
        <p:spPr>
          <a:xfrm>
            <a:off x="4964398" y="4118998"/>
            <a:ext cx="2250000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F6041789-58F3-FDFA-851C-08BC2CEB3F0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5472172" y="3501771"/>
            <a:ext cx="1234454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inkel 16">
            <a:extLst>
              <a:ext uri="{FF2B5EF4-FFF2-40B4-BE49-F238E27FC236}">
                <a16:creationId xmlns:a16="http://schemas.microsoft.com/office/drawing/2014/main" id="{D4B14E5C-EA52-BCE0-D369-8DCA0A964D4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5705666" y="1876866"/>
            <a:ext cx="767468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tel 1">
            <a:extLst>
              <a:ext uri="{FF2B5EF4-FFF2-40B4-BE49-F238E27FC236}">
                <a16:creationId xmlns:a16="http://schemas.microsoft.com/office/drawing/2014/main" id="{93E795A7-EF62-79C0-5AD5-4E79D5769B96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879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3530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241688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96BC-6F6E-07FD-5237-DFCB940D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2032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5016500"/>
            <a:ext cx="12192000" cy="1841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FA2BCE51-C013-41DB-773D-7B6CE037CF5B}"/>
              </a:ext>
            </a:extLst>
          </p:cNvPr>
          <p:cNvSpPr/>
          <p:nvPr/>
        </p:nvSpPr>
        <p:spPr>
          <a:xfrm>
            <a:off x="5191136" y="869188"/>
            <a:ext cx="1796527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8BBDD92B-C89A-3FB0-F3BF-726B142BE28F}"/>
              </a:ext>
            </a:extLst>
          </p:cNvPr>
          <p:cNvSpPr/>
          <p:nvPr/>
        </p:nvSpPr>
        <p:spPr>
          <a:xfrm>
            <a:off x="5191135" y="2260600"/>
            <a:ext cx="1796527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A2ACC9A8-1C1F-9A67-4622-FD6719A3B925}"/>
              </a:ext>
            </a:extLst>
          </p:cNvPr>
          <p:cNvSpPr/>
          <p:nvPr/>
        </p:nvSpPr>
        <p:spPr>
          <a:xfrm>
            <a:off x="4964400" y="5364868"/>
            <a:ext cx="2250000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DA7CE680-DEB3-4DF0-1BF5-792A317F158E}"/>
              </a:ext>
            </a:extLst>
          </p:cNvPr>
          <p:cNvSpPr>
            <a:spLocks noGrp="1"/>
          </p:cNvSpPr>
          <p:nvPr/>
        </p:nvSpPr>
        <p:spPr>
          <a:xfrm>
            <a:off x="4686300" y="3975100"/>
            <a:ext cx="2806700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AA0B50CF-E5E3-45A3-DDF5-D6659D0B37AE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5705791" y="4981009"/>
            <a:ext cx="767468" cy="25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nkel 28">
            <a:extLst>
              <a:ext uri="{FF2B5EF4-FFF2-40B4-BE49-F238E27FC236}">
                <a16:creationId xmlns:a16="http://schemas.microsoft.com/office/drawing/2014/main" id="{3252934A-04BD-A631-B168-932BB3CFCEA8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5544246" y="3429696"/>
            <a:ext cx="1090556" cy="2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nkel 31">
            <a:extLst>
              <a:ext uri="{FF2B5EF4-FFF2-40B4-BE49-F238E27FC236}">
                <a16:creationId xmlns:a16="http://schemas.microsoft.com/office/drawing/2014/main" id="{421B35DA-DBE5-0A07-47E9-AAB3D58C2D9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5705666" y="1876866"/>
            <a:ext cx="767468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tel 1">
            <a:extLst>
              <a:ext uri="{FF2B5EF4-FFF2-40B4-BE49-F238E27FC236}">
                <a16:creationId xmlns:a16="http://schemas.microsoft.com/office/drawing/2014/main" id="{C810D0CD-F5FE-F2F7-897A-D07795693727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118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4135189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EA05B-334E-F723-3872-6B995E02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50" name="Avrundet rektangel 49">
            <a:extLst>
              <a:ext uri="{FF2B5EF4-FFF2-40B4-BE49-F238E27FC236}">
                <a16:creationId xmlns:a16="http://schemas.microsoft.com/office/drawing/2014/main" id="{B5EC5CF6-DF7E-FFEA-A9E9-74A32EC88DC0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1" name="Avrundet rektangel 50">
            <a:extLst>
              <a:ext uri="{FF2B5EF4-FFF2-40B4-BE49-F238E27FC236}">
                <a16:creationId xmlns:a16="http://schemas.microsoft.com/office/drawing/2014/main" id="{FCAD52B7-D69B-D707-4197-6F0D73C99366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52" name="Avrundet rektangel 51">
            <a:extLst>
              <a:ext uri="{FF2B5EF4-FFF2-40B4-BE49-F238E27FC236}">
                <a16:creationId xmlns:a16="http://schemas.microsoft.com/office/drawing/2014/main" id="{9D3C1575-681F-9518-ECC9-01A0CDF184AB}"/>
              </a:ext>
            </a:extLst>
          </p:cNvPr>
          <p:cNvSpPr/>
          <p:nvPr/>
        </p:nvSpPr>
        <p:spPr>
          <a:xfrm>
            <a:off x="5086800" y="5091386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53" name="Rett linje 52">
            <a:extLst>
              <a:ext uri="{FF2B5EF4-FFF2-40B4-BE49-F238E27FC236}">
                <a16:creationId xmlns:a16="http://schemas.microsoft.com/office/drawing/2014/main" id="{3185091F-B0EC-7D6F-E721-A8C40403177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Matrikkel">
            <a:extLst>
              <a:ext uri="{FF2B5EF4-FFF2-40B4-BE49-F238E27FC236}">
                <a16:creationId xmlns:a16="http://schemas.microsoft.com/office/drawing/2014/main" id="{EED22D2F-80D9-11B9-42B9-8D72EC162689}"/>
              </a:ext>
            </a:extLst>
          </p:cNvPr>
          <p:cNvSpPr>
            <a:spLocks noGrp="1"/>
          </p:cNvSpPr>
          <p:nvPr/>
        </p:nvSpPr>
        <p:spPr>
          <a:xfrm>
            <a:off x="4916292" y="3310499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55" name="Vinkel 54">
            <a:extLst>
              <a:ext uri="{FF2B5EF4-FFF2-40B4-BE49-F238E27FC236}">
                <a16:creationId xmlns:a16="http://schemas.microsoft.com/office/drawing/2014/main" id="{AEA9187E-3F42-3BB3-ECE5-42F995BD3D2F}"/>
              </a:ext>
            </a:extLst>
          </p:cNvPr>
          <p:cNvCxnSpPr>
            <a:cxnSpLocks/>
            <a:stCxn id="54" idx="2"/>
            <a:endCxn id="52" idx="0"/>
          </p:cNvCxnSpPr>
          <p:nvPr/>
        </p:nvCxnSpPr>
        <p:spPr>
          <a:xfrm rot="16200000" flipH="1">
            <a:off x="5517968" y="4510829"/>
            <a:ext cx="1158587" cy="252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Matrikkel">
            <a:extLst>
              <a:ext uri="{FF2B5EF4-FFF2-40B4-BE49-F238E27FC236}">
                <a16:creationId xmlns:a16="http://schemas.microsoft.com/office/drawing/2014/main" id="{E58F829E-271A-9B48-61EE-51E538B1CC53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7" name="Vinkel 56">
            <a:extLst>
              <a:ext uri="{FF2B5EF4-FFF2-40B4-BE49-F238E27FC236}">
                <a16:creationId xmlns:a16="http://schemas.microsoft.com/office/drawing/2014/main" id="{BFD34C07-C37E-8842-D292-46536E1ED52B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Matrikkel">
            <a:extLst>
              <a:ext uri="{FF2B5EF4-FFF2-40B4-BE49-F238E27FC236}">
                <a16:creationId xmlns:a16="http://schemas.microsoft.com/office/drawing/2014/main" id="{CBB44926-238A-D100-D3D4-8CDE0328C631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9" name="Vinkel 58">
            <a:extLst>
              <a:ext uri="{FF2B5EF4-FFF2-40B4-BE49-F238E27FC236}">
                <a16:creationId xmlns:a16="http://schemas.microsoft.com/office/drawing/2014/main" id="{E392ADBF-7D5E-311A-38D0-F46D4E529D55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Matrikkel">
            <a:extLst>
              <a:ext uri="{FF2B5EF4-FFF2-40B4-BE49-F238E27FC236}">
                <a16:creationId xmlns:a16="http://schemas.microsoft.com/office/drawing/2014/main" id="{7408AB22-9AE9-EB83-49D8-3600F0102830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61" name="Vinkel 60">
            <a:extLst>
              <a:ext uri="{FF2B5EF4-FFF2-40B4-BE49-F238E27FC236}">
                <a16:creationId xmlns:a16="http://schemas.microsoft.com/office/drawing/2014/main" id="{3F639584-14F7-D19F-4A4B-F6938BE7695B}"/>
              </a:ext>
            </a:extLst>
          </p:cNvPr>
          <p:cNvCxnSpPr>
            <a:cxnSpLocks/>
            <a:stCxn id="52" idx="1"/>
            <a:endCxn id="60" idx="3"/>
          </p:cNvCxnSpPr>
          <p:nvPr/>
        </p:nvCxnSpPr>
        <p:spPr>
          <a:xfrm rot="10800000" flipV="1">
            <a:off x="3474670" y="5480185"/>
            <a:ext cx="1612131" cy="1496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Vinkel 61">
            <a:extLst>
              <a:ext uri="{FF2B5EF4-FFF2-40B4-BE49-F238E27FC236}">
                <a16:creationId xmlns:a16="http://schemas.microsoft.com/office/drawing/2014/main" id="{3A57AC1A-D196-DD3F-6DAF-AB4BE79BA525}"/>
              </a:ext>
            </a:extLst>
          </p:cNvPr>
          <p:cNvCxnSpPr>
            <a:cxnSpLocks/>
            <a:stCxn id="60" idx="0"/>
            <a:endCxn id="58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Vinkel 62">
            <a:extLst>
              <a:ext uri="{FF2B5EF4-FFF2-40B4-BE49-F238E27FC236}">
                <a16:creationId xmlns:a16="http://schemas.microsoft.com/office/drawing/2014/main" id="{23FF3BAB-A926-B86A-0638-6A78C314F766}"/>
              </a:ext>
            </a:extLst>
          </p:cNvPr>
          <p:cNvCxnSpPr>
            <a:cxnSpLocks/>
            <a:stCxn id="51" idx="2"/>
            <a:endCxn id="54" idx="0"/>
          </p:cNvCxnSpPr>
          <p:nvPr/>
        </p:nvCxnSpPr>
        <p:spPr>
          <a:xfrm rot="5400000">
            <a:off x="5618011" y="2832511"/>
            <a:ext cx="955976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label_frontend">
            <a:extLst>
              <a:ext uri="{FF2B5EF4-FFF2-40B4-BE49-F238E27FC236}">
                <a16:creationId xmlns:a16="http://schemas.microsoft.com/office/drawing/2014/main" id="{75D81B0E-EF0E-9113-9A84-27C78F1C0CEC}"/>
              </a:ext>
            </a:extLst>
          </p:cNvPr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68" name="label_cms_service">
            <a:extLst>
              <a:ext uri="{FF2B5EF4-FFF2-40B4-BE49-F238E27FC236}">
                <a16:creationId xmlns:a16="http://schemas.microsoft.com/office/drawing/2014/main" id="{BBEE8503-CF06-85B0-4648-AFF0F3C3F9C0}"/>
              </a:ext>
            </a:extLst>
          </p:cNvPr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69" name="label_matrikkel">
            <a:extLst>
              <a:ext uri="{FF2B5EF4-FFF2-40B4-BE49-F238E27FC236}">
                <a16:creationId xmlns:a16="http://schemas.microsoft.com/office/drawing/2014/main" id="{6182A790-3458-9959-FF7F-85CF6E11F576}"/>
              </a:ext>
            </a:extLst>
          </p:cNvPr>
          <p:cNvSpPr txBox="1"/>
          <p:nvPr/>
        </p:nvSpPr>
        <p:spPr>
          <a:xfrm>
            <a:off x="4840176" y="3962357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70" name="label_renovasjon">
            <a:extLst>
              <a:ext uri="{FF2B5EF4-FFF2-40B4-BE49-F238E27FC236}">
                <a16:creationId xmlns:a16="http://schemas.microsoft.com/office/drawing/2014/main" id="{C27246AD-8D19-ACA5-E2BB-976DA50DC18B}"/>
              </a:ext>
            </a:extLst>
          </p:cNvPr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71" name="label_wagtail">
            <a:extLst>
              <a:ext uri="{FF2B5EF4-FFF2-40B4-BE49-F238E27FC236}">
                <a16:creationId xmlns:a16="http://schemas.microsoft.com/office/drawing/2014/main" id="{1A2A0F72-B713-63A4-4BDF-78348F4A4B84}"/>
              </a:ext>
            </a:extLst>
          </p:cNvPr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72" name="label_database">
            <a:extLst>
              <a:ext uri="{FF2B5EF4-FFF2-40B4-BE49-F238E27FC236}">
                <a16:creationId xmlns:a16="http://schemas.microsoft.com/office/drawing/2014/main" id="{A2110D00-1453-6212-082D-F9C588E81807}"/>
              </a:ext>
            </a:extLst>
          </p:cNvPr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74" name="label_matrikkel">
            <a:extLst>
              <a:ext uri="{FF2B5EF4-FFF2-40B4-BE49-F238E27FC236}">
                <a16:creationId xmlns:a16="http://schemas.microsoft.com/office/drawing/2014/main" id="{8013B222-8BF2-2599-91D2-381E86970242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75" name="Grafikk 74" descr="Resirkuler med heldekkende fyll">
            <a:extLst>
              <a:ext uri="{FF2B5EF4-FFF2-40B4-BE49-F238E27FC236}">
                <a16:creationId xmlns:a16="http://schemas.microsoft.com/office/drawing/2014/main" id="{1F9AC3CD-5C26-682C-A71E-787206F84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76" name="Grafikk 75" descr="Forstadslandskap med heldekkende fyll">
            <a:extLst>
              <a:ext uri="{FF2B5EF4-FFF2-40B4-BE49-F238E27FC236}">
                <a16:creationId xmlns:a16="http://schemas.microsoft.com/office/drawing/2014/main" id="{BC658ECB-3C60-A639-593E-B205B5042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280" y="3387530"/>
            <a:ext cx="435538" cy="435538"/>
          </a:xfrm>
          <a:prstGeom prst="rect">
            <a:avLst/>
          </a:prstGeom>
        </p:spPr>
      </p:pic>
      <p:pic>
        <p:nvPicPr>
          <p:cNvPr id="78" name="Grafikk 77" descr="Database med heldekkende fyll">
            <a:extLst>
              <a:ext uri="{FF2B5EF4-FFF2-40B4-BE49-F238E27FC236}">
                <a16:creationId xmlns:a16="http://schemas.microsoft.com/office/drawing/2014/main" id="{376D0E9F-974F-331E-B678-B11A48638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79" name="Grafikk 78" descr="Blyant med heldekkende fyll">
            <a:extLst>
              <a:ext uri="{FF2B5EF4-FFF2-40B4-BE49-F238E27FC236}">
                <a16:creationId xmlns:a16="http://schemas.microsoft.com/office/drawing/2014/main" id="{D5FA56C5-9A59-CC7F-706E-33EF0095E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80" name="Grafikk 79" descr="Tannhjul med heldekkende fyll">
            <a:extLst>
              <a:ext uri="{FF2B5EF4-FFF2-40B4-BE49-F238E27FC236}">
                <a16:creationId xmlns:a16="http://schemas.microsoft.com/office/drawing/2014/main" id="{3B9FC0C8-DCCB-4EB4-D449-13AAED12B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81" name="Grafikk 80" descr="Server med heldekkende fyll">
            <a:extLst>
              <a:ext uri="{FF2B5EF4-FFF2-40B4-BE49-F238E27FC236}">
                <a16:creationId xmlns:a16="http://schemas.microsoft.com/office/drawing/2014/main" id="{9EFE3D3E-2F7D-2387-3247-F64766C36C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82" name="Grafikk 81" descr="Nettleservindu med heldekkende fyll">
            <a:extLst>
              <a:ext uri="{FF2B5EF4-FFF2-40B4-BE49-F238E27FC236}">
                <a16:creationId xmlns:a16="http://schemas.microsoft.com/office/drawing/2014/main" id="{A77EA163-6C5F-F8A0-D2ED-4A0BFF0FE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83" name="Tittel 1">
            <a:extLst>
              <a:ext uri="{FF2B5EF4-FFF2-40B4-BE49-F238E27FC236}">
                <a16:creationId xmlns:a16="http://schemas.microsoft.com/office/drawing/2014/main" id="{1DF65D98-E7ED-D8C6-A1E4-A6171E8DE93B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3103109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455F-4EC9-68E6-251E-7ADC2090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AA067FFB-B89F-4E2E-45AC-2C1350DA8088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79CD29C8-F809-CD8B-5BE4-4FCE470EA4C5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F6074E84-30A1-E021-667D-69322053C795}"/>
              </a:ext>
            </a:extLst>
          </p:cNvPr>
          <p:cNvSpPr/>
          <p:nvPr/>
        </p:nvSpPr>
        <p:spPr>
          <a:xfrm>
            <a:off x="5047202" y="5108400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653EBF0D-8776-1625-A5EC-D7AFF831C23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B886E3A7-F86B-7CAB-47E8-E3B69D707B68}"/>
              </a:ext>
            </a:extLst>
          </p:cNvPr>
          <p:cNvSpPr>
            <a:spLocks noGrp="1"/>
          </p:cNvSpPr>
          <p:nvPr/>
        </p:nvSpPr>
        <p:spPr>
          <a:xfrm>
            <a:off x="6192856" y="3310500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81DEB1EF-670F-40F9-C8D3-2CF1C59C4173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6127944" y="3863782"/>
            <a:ext cx="1175600" cy="13136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Matrikkel">
            <a:extLst>
              <a:ext uri="{FF2B5EF4-FFF2-40B4-BE49-F238E27FC236}">
                <a16:creationId xmlns:a16="http://schemas.microsoft.com/office/drawing/2014/main" id="{0502983F-0152-8BE8-8578-DE530AE48FD9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0DE79A18-B6F2-F647-300A-46A28D78CF8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Matrikkel">
            <a:extLst>
              <a:ext uri="{FF2B5EF4-FFF2-40B4-BE49-F238E27FC236}">
                <a16:creationId xmlns:a16="http://schemas.microsoft.com/office/drawing/2014/main" id="{387B7B15-30DB-EBDD-0C3B-5CF1F16B500C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0" name="Vinkel 19">
            <a:extLst>
              <a:ext uri="{FF2B5EF4-FFF2-40B4-BE49-F238E27FC236}">
                <a16:creationId xmlns:a16="http://schemas.microsoft.com/office/drawing/2014/main" id="{D11B5E53-3C12-30AA-5E82-08698D68A986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Matrikkel">
            <a:extLst>
              <a:ext uri="{FF2B5EF4-FFF2-40B4-BE49-F238E27FC236}">
                <a16:creationId xmlns:a16="http://schemas.microsoft.com/office/drawing/2014/main" id="{1459753D-3ADA-0888-0ED7-0FFEFE748FBE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30" name="Vinkel 29">
            <a:extLst>
              <a:ext uri="{FF2B5EF4-FFF2-40B4-BE49-F238E27FC236}">
                <a16:creationId xmlns:a16="http://schemas.microsoft.com/office/drawing/2014/main" id="{8D27F1BE-3992-7A5A-83DA-09F0C8EE059F}"/>
              </a:ext>
            </a:extLst>
          </p:cNvPr>
          <p:cNvCxnSpPr>
            <a:cxnSpLocks/>
            <a:stCxn id="6" idx="1"/>
            <a:endCxn id="29" idx="3"/>
          </p:cNvCxnSpPr>
          <p:nvPr/>
        </p:nvCxnSpPr>
        <p:spPr>
          <a:xfrm rot="10800000">
            <a:off x="3474670" y="5495148"/>
            <a:ext cx="1572533" cy="20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nkel 32">
            <a:extLst>
              <a:ext uri="{FF2B5EF4-FFF2-40B4-BE49-F238E27FC236}">
                <a16:creationId xmlns:a16="http://schemas.microsoft.com/office/drawing/2014/main" id="{77C5A898-3778-5C7D-6E6E-1BDCC49ED8C3}"/>
              </a:ext>
            </a:extLst>
          </p:cNvPr>
          <p:cNvCxnSpPr>
            <a:cxnSpLocks/>
            <a:stCxn id="29" idx="0"/>
            <a:endCxn id="19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nkel 8">
            <a:extLst>
              <a:ext uri="{FF2B5EF4-FFF2-40B4-BE49-F238E27FC236}">
                <a16:creationId xmlns:a16="http://schemas.microsoft.com/office/drawing/2014/main" id="{A925F5F9-7EF7-E10E-89AF-A5B7012C8FE5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6256292" y="2194229"/>
            <a:ext cx="955977" cy="12765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Matrikkel">
            <a:extLst>
              <a:ext uri="{FF2B5EF4-FFF2-40B4-BE49-F238E27FC236}">
                <a16:creationId xmlns:a16="http://schemas.microsoft.com/office/drawing/2014/main" id="{9FD218C7-8062-8230-EB08-99351F5DF130}"/>
              </a:ext>
            </a:extLst>
          </p:cNvPr>
          <p:cNvSpPr>
            <a:spLocks noGrp="1"/>
          </p:cNvSpPr>
          <p:nvPr/>
        </p:nvSpPr>
        <p:spPr>
          <a:xfrm>
            <a:off x="3562567" y="3310500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Arkivtjeneste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6" name="Vinkel 25">
            <a:extLst>
              <a:ext uri="{FF2B5EF4-FFF2-40B4-BE49-F238E27FC236}">
                <a16:creationId xmlns:a16="http://schemas.microsoft.com/office/drawing/2014/main" id="{898D16BB-0970-0549-51E6-8FA951CA46BA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5400000">
            <a:off x="4837191" y="2051691"/>
            <a:ext cx="955977" cy="15616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nkel 30">
            <a:extLst>
              <a:ext uri="{FF2B5EF4-FFF2-40B4-BE49-F238E27FC236}">
                <a16:creationId xmlns:a16="http://schemas.microsoft.com/office/drawing/2014/main" id="{68967088-2714-0392-8D4B-05F3AA95DB0C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rot="16200000" flipV="1">
            <a:off x="4708842" y="3758316"/>
            <a:ext cx="1175600" cy="15245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abel_frontend"/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202" name="label_cms_service"/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4" name="label_matrikkel"/>
          <p:cNvSpPr txBox="1"/>
          <p:nvPr/>
        </p:nvSpPr>
        <p:spPr>
          <a:xfrm>
            <a:off x="6116740" y="3962358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05" name="label_renovasjon"/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6" name="label_wagtail"/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207" name="label_database"/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22" name="label_matrikkel">
            <a:extLst>
              <a:ext uri="{FF2B5EF4-FFF2-40B4-BE49-F238E27FC236}">
                <a16:creationId xmlns:a16="http://schemas.microsoft.com/office/drawing/2014/main" id="{D8ED3093-03AC-D0D8-6F57-5B5F0476E469}"/>
              </a:ext>
            </a:extLst>
          </p:cNvPr>
          <p:cNvSpPr txBox="1"/>
          <p:nvPr/>
        </p:nvSpPr>
        <p:spPr>
          <a:xfrm>
            <a:off x="3272396" y="3951951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3" name="label_matrikkel">
            <a:extLst>
              <a:ext uri="{FF2B5EF4-FFF2-40B4-BE49-F238E27FC236}">
                <a16:creationId xmlns:a16="http://schemas.microsoft.com/office/drawing/2014/main" id="{D02A58FC-CA56-779B-FBDC-FAE1BDB8FD3A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53" name="Grafikk 52" descr="Resirkuler med heldekkende fyll">
            <a:extLst>
              <a:ext uri="{FF2B5EF4-FFF2-40B4-BE49-F238E27FC236}">
                <a16:creationId xmlns:a16="http://schemas.microsoft.com/office/drawing/2014/main" id="{978F654F-47D4-C024-5C85-0B7CB5553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55" name="Grafikk 54" descr="Forstadslandskap med heldekkende fyll">
            <a:extLst>
              <a:ext uri="{FF2B5EF4-FFF2-40B4-BE49-F238E27FC236}">
                <a16:creationId xmlns:a16="http://schemas.microsoft.com/office/drawing/2014/main" id="{436E53E1-4B51-D57E-F1B1-BAF60B08C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844" y="3387531"/>
            <a:ext cx="435538" cy="435538"/>
          </a:xfrm>
          <a:prstGeom prst="rect">
            <a:avLst/>
          </a:prstGeom>
        </p:spPr>
      </p:pic>
      <p:pic>
        <p:nvPicPr>
          <p:cNvPr id="60" name="Grafikk 59" descr="Arkivboks med heldekkende fyll">
            <a:extLst>
              <a:ext uri="{FF2B5EF4-FFF2-40B4-BE49-F238E27FC236}">
                <a16:creationId xmlns:a16="http://schemas.microsoft.com/office/drawing/2014/main" id="{16EE74FE-B5FC-7F26-44E3-5D091A9F5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9427" y="3421860"/>
            <a:ext cx="418731" cy="418731"/>
          </a:xfrm>
          <a:prstGeom prst="rect">
            <a:avLst/>
          </a:prstGeom>
        </p:spPr>
      </p:pic>
      <p:pic>
        <p:nvPicPr>
          <p:cNvPr id="64" name="Grafikk 63" descr="Database med heldekkende fyll">
            <a:extLst>
              <a:ext uri="{FF2B5EF4-FFF2-40B4-BE49-F238E27FC236}">
                <a16:creationId xmlns:a16="http://schemas.microsoft.com/office/drawing/2014/main" id="{F579A0FC-9CD3-B0D2-BB62-5555081F6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121" name="Grafikk 120" descr="Blyant med heldekkende fyll">
            <a:extLst>
              <a:ext uri="{FF2B5EF4-FFF2-40B4-BE49-F238E27FC236}">
                <a16:creationId xmlns:a16="http://schemas.microsoft.com/office/drawing/2014/main" id="{BB1E20F1-79EA-B69A-1944-81A304D6E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123" name="Grafikk 122" descr="Tannhjul med heldekkende fyll">
            <a:extLst>
              <a:ext uri="{FF2B5EF4-FFF2-40B4-BE49-F238E27FC236}">
                <a16:creationId xmlns:a16="http://schemas.microsoft.com/office/drawing/2014/main" id="{F01A3984-EFD1-E5CF-06AD-3C55FA06C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194" name="Grafikk 193" descr="Server med heldekkende fyll">
            <a:extLst>
              <a:ext uri="{FF2B5EF4-FFF2-40B4-BE49-F238E27FC236}">
                <a16:creationId xmlns:a16="http://schemas.microsoft.com/office/drawing/2014/main" id="{6484E0DF-8698-23B1-91F7-594C320C9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209" name="Grafikk 208" descr="Nettleservindu med heldekkende fyll">
            <a:extLst>
              <a:ext uri="{FF2B5EF4-FFF2-40B4-BE49-F238E27FC236}">
                <a16:creationId xmlns:a16="http://schemas.microsoft.com/office/drawing/2014/main" id="{043A872B-6F25-9D5D-6B8F-2E9B73210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99EDB047-18AB-545B-B9AB-9A21EB0A3F45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414234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5327-0371-16A7-B246-C96B9901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F637A49F-AE7A-4696-D7D2-AD9A8D849272}"/>
              </a:ext>
            </a:extLst>
          </p:cNvPr>
          <p:cNvSpPr>
            <a:spLocks noGrp="1"/>
          </p:cNvSpPr>
          <p:nvPr/>
        </p:nvSpPr>
        <p:spPr>
          <a:xfrm>
            <a:off x="-22761178" y="-59377"/>
            <a:ext cx="26451928" cy="69767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grpSp>
        <p:nvGrpSpPr>
          <p:cNvPr id="40" name="Gruppe 39">
            <a:extLst>
              <a:ext uri="{FF2B5EF4-FFF2-40B4-BE49-F238E27FC236}">
                <a16:creationId xmlns:a16="http://schemas.microsoft.com/office/drawing/2014/main" id="{FE559D53-19E0-D4A9-E437-CC6101EFD80B}"/>
              </a:ext>
            </a:extLst>
          </p:cNvPr>
          <p:cNvGrpSpPr/>
          <p:nvPr/>
        </p:nvGrpSpPr>
        <p:grpSpPr>
          <a:xfrm>
            <a:off x="-772133" y="4180114"/>
            <a:ext cx="6198919" cy="2737262"/>
            <a:chOff x="-2508169" y="4180114"/>
            <a:chExt cx="6198919" cy="2737262"/>
          </a:xfrm>
        </p:grpSpPr>
        <p:sp>
          <p:nvSpPr>
            <p:cNvPr id="12" name="Kube 11">
              <a:extLst>
                <a:ext uri="{FF2B5EF4-FFF2-40B4-BE49-F238E27FC236}">
                  <a16:creationId xmlns:a16="http://schemas.microsoft.com/office/drawing/2014/main" id="{5DC0C28A-BCE0-0938-204B-2F7168FE7E7B}"/>
                </a:ext>
              </a:extLst>
            </p:cNvPr>
            <p:cNvSpPr/>
            <p:nvPr/>
          </p:nvSpPr>
          <p:spPr>
            <a:xfrm>
              <a:off x="-2508169" y="4180114"/>
              <a:ext cx="6198919" cy="2737262"/>
            </a:xfrm>
            <a:prstGeom prst="cub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39" name="Grafikk 38" descr="Tralle med heldekkende fyll">
              <a:extLst>
                <a:ext uri="{FF2B5EF4-FFF2-40B4-BE49-F238E27FC236}">
                  <a16:creationId xmlns:a16="http://schemas.microsoft.com/office/drawing/2014/main" id="{8D9F1881-D272-C2FA-D838-322E7CB11A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3792" y="5239727"/>
              <a:ext cx="1323580" cy="1323580"/>
            </a:xfrm>
            <a:prstGeom prst="rect">
              <a:avLst/>
            </a:prstGeom>
          </p:spPr>
        </p:pic>
      </p:grp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808A5D88-7F46-5C74-7550-FBD96F607373}"/>
              </a:ext>
            </a:extLst>
          </p:cNvPr>
          <p:cNvGrpSpPr/>
          <p:nvPr/>
        </p:nvGrpSpPr>
        <p:grpSpPr>
          <a:xfrm>
            <a:off x="-784008" y="2090057"/>
            <a:ext cx="6198919" cy="2737262"/>
            <a:chOff x="-2520044" y="2090057"/>
            <a:chExt cx="6198919" cy="27372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3" name="Kube 12">
              <a:extLst>
                <a:ext uri="{FF2B5EF4-FFF2-40B4-BE49-F238E27FC236}">
                  <a16:creationId xmlns:a16="http://schemas.microsoft.com/office/drawing/2014/main" id="{1DC63F34-5D44-4125-B2AC-2B8EE94DADD3}"/>
                </a:ext>
              </a:extLst>
            </p:cNvPr>
            <p:cNvSpPr/>
            <p:nvPr/>
          </p:nvSpPr>
          <p:spPr>
            <a:xfrm>
              <a:off x="-2520044" y="2090057"/>
              <a:ext cx="6198919" cy="273726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24" name="Grafikk 23" descr="Rute (sti mellom to tegnestifter) med heldekkende fyll">
              <a:extLst>
                <a:ext uri="{FF2B5EF4-FFF2-40B4-BE49-F238E27FC236}">
                  <a16:creationId xmlns:a16="http://schemas.microsoft.com/office/drawing/2014/main" id="{FB7395A3-749A-6DDC-1316-DFCCDC15B2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3792" y="2986645"/>
              <a:ext cx="1442851" cy="1442851"/>
            </a:xfrm>
            <a:prstGeom prst="rect">
              <a:avLst/>
            </a:prstGeom>
          </p:spPr>
        </p:pic>
      </p:grpSp>
      <p:grpSp>
        <p:nvGrpSpPr>
          <p:cNvPr id="41" name="Gruppe 40">
            <a:extLst>
              <a:ext uri="{FF2B5EF4-FFF2-40B4-BE49-F238E27FC236}">
                <a16:creationId xmlns:a16="http://schemas.microsoft.com/office/drawing/2014/main" id="{61C21C55-073C-0106-7A26-AB0AA62C9386}"/>
              </a:ext>
            </a:extLst>
          </p:cNvPr>
          <p:cNvGrpSpPr/>
          <p:nvPr/>
        </p:nvGrpSpPr>
        <p:grpSpPr>
          <a:xfrm>
            <a:off x="-772132" y="-59377"/>
            <a:ext cx="6198919" cy="2796639"/>
            <a:chOff x="-2508168" y="-59377"/>
            <a:chExt cx="6198919" cy="2796639"/>
          </a:xfrm>
        </p:grpSpPr>
        <p:sp>
          <p:nvSpPr>
            <p:cNvPr id="17" name="Kube 16">
              <a:extLst>
                <a:ext uri="{FF2B5EF4-FFF2-40B4-BE49-F238E27FC236}">
                  <a16:creationId xmlns:a16="http://schemas.microsoft.com/office/drawing/2014/main" id="{D1B5D87C-3240-F73A-5B33-2F7822373582}"/>
                </a:ext>
              </a:extLst>
            </p:cNvPr>
            <p:cNvSpPr/>
            <p:nvPr/>
          </p:nvSpPr>
          <p:spPr>
            <a:xfrm>
              <a:off x="-2508168" y="-59377"/>
              <a:ext cx="6198919" cy="2796639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32" name="Grafikk 31" descr="Sjekkliste med heldekkende fyll">
              <a:extLst>
                <a:ext uri="{FF2B5EF4-FFF2-40B4-BE49-F238E27FC236}">
                  <a16:creationId xmlns:a16="http://schemas.microsoft.com/office/drawing/2014/main" id="{B3A5BE1D-C39A-4016-D03C-EBDA4DE8E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792" y="1015859"/>
              <a:ext cx="1323580" cy="1323580"/>
            </a:xfrm>
            <a:prstGeom prst="rect">
              <a:avLst/>
            </a:prstGeom>
          </p:spPr>
        </p:pic>
      </p:grpSp>
      <p:sp>
        <p:nvSpPr>
          <p:cNvPr id="43" name="TekstSylinder 42">
            <a:extLst>
              <a:ext uri="{FF2B5EF4-FFF2-40B4-BE49-F238E27FC236}">
                <a16:creationId xmlns:a16="http://schemas.microsoft.com/office/drawing/2014/main" id="{D44F515C-9F2E-EA72-20FA-59F448BF69EE}"/>
              </a:ext>
            </a:extLst>
          </p:cNvPr>
          <p:cNvSpPr txBox="1"/>
          <p:nvPr/>
        </p:nvSpPr>
        <p:spPr>
          <a:xfrm>
            <a:off x="6096000" y="5239727"/>
            <a:ext cx="2906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Repository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4" name="TekstSylinder 43">
            <a:extLst>
              <a:ext uri="{FF2B5EF4-FFF2-40B4-BE49-F238E27FC236}">
                <a16:creationId xmlns:a16="http://schemas.microsoft.com/office/drawing/2014/main" id="{7160D8D6-6ED9-8C4D-B5E3-ADFDC122D27D}"/>
              </a:ext>
            </a:extLst>
          </p:cNvPr>
          <p:cNvSpPr txBox="1"/>
          <p:nvPr/>
        </p:nvSpPr>
        <p:spPr>
          <a:xfrm>
            <a:off x="6096000" y="3094921"/>
            <a:ext cx="1945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Route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5" name="TekstSylinder 44">
            <a:extLst>
              <a:ext uri="{FF2B5EF4-FFF2-40B4-BE49-F238E27FC236}">
                <a16:creationId xmlns:a16="http://schemas.microsoft.com/office/drawing/2014/main" id="{4A51CB96-3D74-5817-4AB6-D3D570F8F484}"/>
              </a:ext>
            </a:extLst>
          </p:cNvPr>
          <p:cNvSpPr txBox="1"/>
          <p:nvPr/>
        </p:nvSpPr>
        <p:spPr>
          <a:xfrm>
            <a:off x="6096000" y="950115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Schema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31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4" grpId="0"/>
      <p:bldP spid="44" grpId="1"/>
      <p:bldP spid="45" grpId="0"/>
      <p:bldP spid="4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AD1F0-27E4-50EF-69C0-D044308A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A6C4A276-6DE8-13A1-343F-2C6F85BC25F8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7D19ECD9-3F06-8267-67BC-660C7BAADA5E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737A7EEA-B638-7D34-2AC8-72CD01CE5607}"/>
              </a:ext>
            </a:extLst>
          </p:cNvPr>
          <p:cNvSpPr/>
          <p:nvPr/>
        </p:nvSpPr>
        <p:spPr>
          <a:xfrm>
            <a:off x="5047202" y="5108400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3BD04FE5-2976-BD8A-5213-0C8A40B12E1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D70EBA4F-7BE3-E9E8-70CC-8CDAD1C80816}"/>
              </a:ext>
            </a:extLst>
          </p:cNvPr>
          <p:cNvSpPr>
            <a:spLocks noGrp="1"/>
          </p:cNvSpPr>
          <p:nvPr/>
        </p:nvSpPr>
        <p:spPr>
          <a:xfrm>
            <a:off x="6192856" y="3310500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5262A69A-7487-E5EE-5A9F-9C697D33838C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6127944" y="3863782"/>
            <a:ext cx="1175600" cy="13136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Matrikkel">
            <a:extLst>
              <a:ext uri="{FF2B5EF4-FFF2-40B4-BE49-F238E27FC236}">
                <a16:creationId xmlns:a16="http://schemas.microsoft.com/office/drawing/2014/main" id="{367054E3-1FC2-3509-5C7A-9CE45C825F2E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A5B56D2E-B94E-38D6-B15B-A5D4FA86CDEB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Matrikkel">
            <a:extLst>
              <a:ext uri="{FF2B5EF4-FFF2-40B4-BE49-F238E27FC236}">
                <a16:creationId xmlns:a16="http://schemas.microsoft.com/office/drawing/2014/main" id="{8CD6B9A9-CA21-AF6D-FF68-D23D88363DDA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0" name="Vinkel 19">
            <a:extLst>
              <a:ext uri="{FF2B5EF4-FFF2-40B4-BE49-F238E27FC236}">
                <a16:creationId xmlns:a16="http://schemas.microsoft.com/office/drawing/2014/main" id="{EDF0A6F4-6302-7202-5146-D6F593B0F0B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Matrikkel">
            <a:extLst>
              <a:ext uri="{FF2B5EF4-FFF2-40B4-BE49-F238E27FC236}">
                <a16:creationId xmlns:a16="http://schemas.microsoft.com/office/drawing/2014/main" id="{B950B27B-1A48-558F-BF29-F159370B3AE1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30" name="Vinkel 29">
            <a:extLst>
              <a:ext uri="{FF2B5EF4-FFF2-40B4-BE49-F238E27FC236}">
                <a16:creationId xmlns:a16="http://schemas.microsoft.com/office/drawing/2014/main" id="{7F637E0D-1F6C-A5D3-C5F4-DE12C4221365}"/>
              </a:ext>
            </a:extLst>
          </p:cNvPr>
          <p:cNvCxnSpPr>
            <a:cxnSpLocks/>
            <a:stCxn id="6" idx="1"/>
            <a:endCxn id="29" idx="3"/>
          </p:cNvCxnSpPr>
          <p:nvPr/>
        </p:nvCxnSpPr>
        <p:spPr>
          <a:xfrm rot="10800000">
            <a:off x="3474670" y="5495148"/>
            <a:ext cx="1572533" cy="20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nkel 32">
            <a:extLst>
              <a:ext uri="{FF2B5EF4-FFF2-40B4-BE49-F238E27FC236}">
                <a16:creationId xmlns:a16="http://schemas.microsoft.com/office/drawing/2014/main" id="{1D88D64C-7165-FD69-EED7-45A71AFBCC5B}"/>
              </a:ext>
            </a:extLst>
          </p:cNvPr>
          <p:cNvCxnSpPr>
            <a:cxnSpLocks/>
            <a:stCxn id="29" idx="0"/>
            <a:endCxn id="19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nkel 8">
            <a:extLst>
              <a:ext uri="{FF2B5EF4-FFF2-40B4-BE49-F238E27FC236}">
                <a16:creationId xmlns:a16="http://schemas.microsoft.com/office/drawing/2014/main" id="{3B42344E-1DBA-48EE-18FF-20393F5AAF9C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6256292" y="2194229"/>
            <a:ext cx="955977" cy="12765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Matrikkel">
            <a:extLst>
              <a:ext uri="{FF2B5EF4-FFF2-40B4-BE49-F238E27FC236}">
                <a16:creationId xmlns:a16="http://schemas.microsoft.com/office/drawing/2014/main" id="{ECC286BE-1343-F0B7-C433-200B0939D3A6}"/>
              </a:ext>
            </a:extLst>
          </p:cNvPr>
          <p:cNvSpPr>
            <a:spLocks noGrp="1"/>
          </p:cNvSpPr>
          <p:nvPr/>
        </p:nvSpPr>
        <p:spPr>
          <a:xfrm>
            <a:off x="3562567" y="3310500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Arkivtjeneste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6" name="Vinkel 25">
            <a:extLst>
              <a:ext uri="{FF2B5EF4-FFF2-40B4-BE49-F238E27FC236}">
                <a16:creationId xmlns:a16="http://schemas.microsoft.com/office/drawing/2014/main" id="{3CE3D1CD-4047-F6AA-031E-9FC45679D72E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5400000">
            <a:off x="4837191" y="2051691"/>
            <a:ext cx="955977" cy="15616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nkel 30">
            <a:extLst>
              <a:ext uri="{FF2B5EF4-FFF2-40B4-BE49-F238E27FC236}">
                <a16:creationId xmlns:a16="http://schemas.microsoft.com/office/drawing/2014/main" id="{F4282CC9-9E1D-A2AC-7071-438D8A79ED8F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rot="16200000" flipV="1">
            <a:off x="4708842" y="3758316"/>
            <a:ext cx="1175600" cy="15245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abel_frontend">
            <a:extLst>
              <a:ext uri="{FF2B5EF4-FFF2-40B4-BE49-F238E27FC236}">
                <a16:creationId xmlns:a16="http://schemas.microsoft.com/office/drawing/2014/main" id="{57E21EEA-DB7C-000D-0802-D0EF706FA69C}"/>
              </a:ext>
            </a:extLst>
          </p:cNvPr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202" name="label_cms_service">
            <a:extLst>
              <a:ext uri="{FF2B5EF4-FFF2-40B4-BE49-F238E27FC236}">
                <a16:creationId xmlns:a16="http://schemas.microsoft.com/office/drawing/2014/main" id="{C0B56AA2-F5E7-7EAD-A75E-45DBB7705C49}"/>
              </a:ext>
            </a:extLst>
          </p:cNvPr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4" name="label_matrikkel">
            <a:extLst>
              <a:ext uri="{FF2B5EF4-FFF2-40B4-BE49-F238E27FC236}">
                <a16:creationId xmlns:a16="http://schemas.microsoft.com/office/drawing/2014/main" id="{B3360A34-08EF-A8CA-A6EE-F3F3A5A7CE85}"/>
              </a:ext>
            </a:extLst>
          </p:cNvPr>
          <p:cNvSpPr txBox="1"/>
          <p:nvPr/>
        </p:nvSpPr>
        <p:spPr>
          <a:xfrm>
            <a:off x="6116740" y="3962358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05" name="label_renovasjon">
            <a:extLst>
              <a:ext uri="{FF2B5EF4-FFF2-40B4-BE49-F238E27FC236}">
                <a16:creationId xmlns:a16="http://schemas.microsoft.com/office/drawing/2014/main" id="{88E43607-F46D-224B-8F8F-105F1C816A42}"/>
              </a:ext>
            </a:extLst>
          </p:cNvPr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6" name="label_wagtail">
            <a:extLst>
              <a:ext uri="{FF2B5EF4-FFF2-40B4-BE49-F238E27FC236}">
                <a16:creationId xmlns:a16="http://schemas.microsoft.com/office/drawing/2014/main" id="{B92608DA-7387-906A-9FD8-41F91A94B203}"/>
              </a:ext>
            </a:extLst>
          </p:cNvPr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207" name="label_database">
            <a:extLst>
              <a:ext uri="{FF2B5EF4-FFF2-40B4-BE49-F238E27FC236}">
                <a16:creationId xmlns:a16="http://schemas.microsoft.com/office/drawing/2014/main" id="{3A2DBCD7-B516-87C5-5C92-C2274758242E}"/>
              </a:ext>
            </a:extLst>
          </p:cNvPr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22" name="label_matrikkel">
            <a:extLst>
              <a:ext uri="{FF2B5EF4-FFF2-40B4-BE49-F238E27FC236}">
                <a16:creationId xmlns:a16="http://schemas.microsoft.com/office/drawing/2014/main" id="{4E18C3F7-1F3D-7B07-BED5-E7B57588AE6D}"/>
              </a:ext>
            </a:extLst>
          </p:cNvPr>
          <p:cNvSpPr txBox="1"/>
          <p:nvPr/>
        </p:nvSpPr>
        <p:spPr>
          <a:xfrm>
            <a:off x="3272396" y="3951951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3" name="label_matrikkel">
            <a:extLst>
              <a:ext uri="{FF2B5EF4-FFF2-40B4-BE49-F238E27FC236}">
                <a16:creationId xmlns:a16="http://schemas.microsoft.com/office/drawing/2014/main" id="{6D88AE51-92CD-0785-485A-AFBBC7A7F953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53" name="Grafikk 52" descr="Resirkuler med heldekkende fyll">
            <a:extLst>
              <a:ext uri="{FF2B5EF4-FFF2-40B4-BE49-F238E27FC236}">
                <a16:creationId xmlns:a16="http://schemas.microsoft.com/office/drawing/2014/main" id="{CC4836A2-31EA-82C5-5D4B-C32957068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55" name="Grafikk 54" descr="Forstadslandskap med heldekkende fyll">
            <a:extLst>
              <a:ext uri="{FF2B5EF4-FFF2-40B4-BE49-F238E27FC236}">
                <a16:creationId xmlns:a16="http://schemas.microsoft.com/office/drawing/2014/main" id="{E37F17F3-795F-3A10-3E7C-9E76A503F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844" y="3387531"/>
            <a:ext cx="435538" cy="435538"/>
          </a:xfrm>
          <a:prstGeom prst="rect">
            <a:avLst/>
          </a:prstGeom>
        </p:spPr>
      </p:pic>
      <p:pic>
        <p:nvPicPr>
          <p:cNvPr id="60" name="Grafikk 59" descr="Arkivboks med heldekkende fyll">
            <a:extLst>
              <a:ext uri="{FF2B5EF4-FFF2-40B4-BE49-F238E27FC236}">
                <a16:creationId xmlns:a16="http://schemas.microsoft.com/office/drawing/2014/main" id="{B0041906-3105-B021-FF90-0247D3B3C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9427" y="3421860"/>
            <a:ext cx="418731" cy="418731"/>
          </a:xfrm>
          <a:prstGeom prst="rect">
            <a:avLst/>
          </a:prstGeom>
        </p:spPr>
      </p:pic>
      <p:pic>
        <p:nvPicPr>
          <p:cNvPr id="64" name="Grafikk 63" descr="Database med heldekkende fyll">
            <a:extLst>
              <a:ext uri="{FF2B5EF4-FFF2-40B4-BE49-F238E27FC236}">
                <a16:creationId xmlns:a16="http://schemas.microsoft.com/office/drawing/2014/main" id="{C8149BBE-1B59-C5B2-E12B-A28D248DC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121" name="Grafikk 120" descr="Blyant med heldekkende fyll">
            <a:extLst>
              <a:ext uri="{FF2B5EF4-FFF2-40B4-BE49-F238E27FC236}">
                <a16:creationId xmlns:a16="http://schemas.microsoft.com/office/drawing/2014/main" id="{DCAE5327-E8DA-A2CF-6821-7895F9148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123" name="Grafikk 122" descr="Tannhjul med heldekkende fyll">
            <a:extLst>
              <a:ext uri="{FF2B5EF4-FFF2-40B4-BE49-F238E27FC236}">
                <a16:creationId xmlns:a16="http://schemas.microsoft.com/office/drawing/2014/main" id="{C374775A-E6B2-78C9-B0A5-64D2444BE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194" name="Grafikk 193" descr="Server med heldekkende fyll">
            <a:extLst>
              <a:ext uri="{FF2B5EF4-FFF2-40B4-BE49-F238E27FC236}">
                <a16:creationId xmlns:a16="http://schemas.microsoft.com/office/drawing/2014/main" id="{F1BE782F-E562-D56A-E9B1-B2DA25E0A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209" name="Grafikk 208" descr="Nettleservindu med heldekkende fyll">
            <a:extLst>
              <a:ext uri="{FF2B5EF4-FFF2-40B4-BE49-F238E27FC236}">
                <a16:creationId xmlns:a16="http://schemas.microsoft.com/office/drawing/2014/main" id="{9B48E293-637F-3378-B59E-CF60E7C14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EBFCF784-23EF-8E80-6699-4CF1479DDDDB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3162019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18EE74E-2489-3B9A-B567-FAE1AFE2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36" y="49458"/>
            <a:ext cx="9692640" cy="1325562"/>
          </a:xfrm>
        </p:spPr>
        <p:txBody>
          <a:bodyPr/>
          <a:lstStyle/>
          <a:p>
            <a:r>
              <a:rPr lang="nb-NO">
                <a:cs typeface="Segoe UI Semibold"/>
              </a:rPr>
              <a:t>Takk for oss!</a:t>
            </a:r>
            <a:endParaRPr lang="nb-NO"/>
          </a:p>
        </p:txBody>
      </p:sp>
      <p:pic>
        <p:nvPicPr>
          <p:cNvPr id="11" name="Plassholder for innhold 10" descr="Et bilde som inneholder Menneskeansikt, person, smil, klær&#10;&#10;KI-generert innhold kan være feil.">
            <a:extLst>
              <a:ext uri="{FF2B5EF4-FFF2-40B4-BE49-F238E27FC236}">
                <a16:creationId xmlns:a16="http://schemas.microsoft.com/office/drawing/2014/main" id="{5EAC7BBD-1335-4E22-2233-579D8117E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44" y="1903935"/>
            <a:ext cx="2242151" cy="2234963"/>
          </a:xfrm>
          <a:prstGeom prst="rect">
            <a:avLst/>
          </a:prstGeom>
        </p:spPr>
      </p:pic>
      <p:pic>
        <p:nvPicPr>
          <p:cNvPr id="12" name="Bilde 11" descr="Et bilde som inneholder Menneskeansikt, klær, person, mann&#10;&#10;KI-generert innhold kan være feil.">
            <a:extLst>
              <a:ext uri="{FF2B5EF4-FFF2-40B4-BE49-F238E27FC236}">
                <a16:creationId xmlns:a16="http://schemas.microsoft.com/office/drawing/2014/main" id="{DE86BEC8-3ED8-3773-F508-3A1F5026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150" y="1905000"/>
            <a:ext cx="2311162" cy="2307568"/>
          </a:xfrm>
          <a:prstGeom prst="rect">
            <a:avLst/>
          </a:prstGeom>
        </p:spPr>
      </p:pic>
      <p:pic>
        <p:nvPicPr>
          <p:cNvPr id="13" name="Bilde 12" descr="Et bilde som inneholder person, Menneskeansikt, klær, mann&#10;&#10;KI-generert innhold kan være feil.">
            <a:extLst>
              <a:ext uri="{FF2B5EF4-FFF2-40B4-BE49-F238E27FC236}">
                <a16:creationId xmlns:a16="http://schemas.microsoft.com/office/drawing/2014/main" id="{A43EC8E4-E27E-2B2D-705C-EECD1B705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226" y="1869056"/>
            <a:ext cx="2311161" cy="2307567"/>
          </a:xfrm>
          <a:prstGeom prst="rect">
            <a:avLst/>
          </a:prstGeom>
        </p:spPr>
      </p:pic>
      <p:pic>
        <p:nvPicPr>
          <p:cNvPr id="14" name="Bilde 13" descr="Et bilde som inneholder person, Menneskeansikt, klær, portrett&#10;&#10;KI-generert innhold kan være feil.">
            <a:extLst>
              <a:ext uri="{FF2B5EF4-FFF2-40B4-BE49-F238E27FC236}">
                <a16:creationId xmlns:a16="http://schemas.microsoft.com/office/drawing/2014/main" id="{C6E1FEDE-1ED5-F44A-BE76-1BABAD1AC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3293" y="1807952"/>
            <a:ext cx="2458530" cy="2401021"/>
          </a:xfrm>
          <a:prstGeom prst="rect">
            <a:avLst/>
          </a:prstGeom>
        </p:spPr>
      </p:pic>
      <p:pic>
        <p:nvPicPr>
          <p:cNvPr id="15" name="Bilde 14" descr="Et bilde som inneholder Menneskeansikt, person, klær, smil&#10;&#10;KI-generert innhold kan være feil.">
            <a:extLst>
              <a:ext uri="{FF2B5EF4-FFF2-40B4-BE49-F238E27FC236}">
                <a16:creationId xmlns:a16="http://schemas.microsoft.com/office/drawing/2014/main" id="{2227B0C5-98AC-E112-1B31-C2FBE4A6C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7897" y="1825925"/>
            <a:ext cx="2329133" cy="2386642"/>
          </a:xfrm>
          <a:prstGeom prst="rect">
            <a:avLst/>
          </a:prstGeom>
        </p:spPr>
      </p:pic>
      <p:sp>
        <p:nvSpPr>
          <p:cNvPr id="16" name="TekstSylinder 15">
            <a:extLst>
              <a:ext uri="{FF2B5EF4-FFF2-40B4-BE49-F238E27FC236}">
                <a16:creationId xmlns:a16="http://schemas.microsoft.com/office/drawing/2014/main" id="{C68D35D9-A1BF-72FA-37C2-AABAB4D9F15A}"/>
              </a:ext>
            </a:extLst>
          </p:cNvPr>
          <p:cNvSpPr txBox="1"/>
          <p:nvPr/>
        </p:nvSpPr>
        <p:spPr>
          <a:xfrm>
            <a:off x="318051" y="4345588"/>
            <a:ext cx="2129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Kristian Kalleberg</a:t>
            </a:r>
            <a:endParaRPr lang="nb-NO"/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2D6494F6-AB23-832B-9F44-586DAE7B4D00}"/>
              </a:ext>
            </a:extLst>
          </p:cNvPr>
          <p:cNvSpPr txBox="1"/>
          <p:nvPr/>
        </p:nvSpPr>
        <p:spPr>
          <a:xfrm>
            <a:off x="2872221" y="4335242"/>
            <a:ext cx="14564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Vebjørn Kjus</a:t>
            </a:r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90D3A9B-E0DF-2DFB-A684-8221AF0FC11A}"/>
              </a:ext>
            </a:extLst>
          </p:cNvPr>
          <p:cNvSpPr txBox="1"/>
          <p:nvPr/>
        </p:nvSpPr>
        <p:spPr>
          <a:xfrm>
            <a:off x="5167753" y="4334679"/>
            <a:ext cx="146361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Gaute Hoel</a:t>
            </a:r>
            <a:endParaRPr lang="nb-NO"/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CE944EB1-2260-8B40-1F20-72070ACDC7D4}"/>
              </a:ext>
            </a:extLst>
          </p:cNvPr>
          <p:cNvSpPr txBox="1"/>
          <p:nvPr/>
        </p:nvSpPr>
        <p:spPr>
          <a:xfrm>
            <a:off x="7269067" y="4332991"/>
            <a:ext cx="214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Kristoffer Holmsen</a:t>
            </a:r>
            <a:endParaRPr lang="nb-NO"/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CEADD511-9F76-C561-B269-7D10675A4AF3}"/>
              </a:ext>
            </a:extLst>
          </p:cNvPr>
          <p:cNvSpPr txBox="1"/>
          <p:nvPr/>
        </p:nvSpPr>
        <p:spPr>
          <a:xfrm>
            <a:off x="10052086" y="4350150"/>
            <a:ext cx="1542691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Oliver Gyve</a:t>
            </a:r>
            <a:endParaRPr lang="nb-NO"/>
          </a:p>
        </p:txBody>
      </p:sp>
      <p:pic>
        <p:nvPicPr>
          <p:cNvPr id="21" name="Bilde 20" descr="Et bilde som inneholder sort, mørke&#10;&#10;KI-generert innhold kan være feil.">
            <a:extLst>
              <a:ext uri="{FF2B5EF4-FFF2-40B4-BE49-F238E27FC236}">
                <a16:creationId xmlns:a16="http://schemas.microsoft.com/office/drawing/2014/main" id="{DE65AC40-A927-90BE-3ED2-ABAFD668DB9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99126" y="5303000"/>
            <a:ext cx="2768361" cy="1176248"/>
          </a:xfrm>
          <a:prstGeom prst="rect">
            <a:avLst/>
          </a:prstGeom>
        </p:spPr>
      </p:pic>
      <p:pic>
        <p:nvPicPr>
          <p:cNvPr id="22" name="Bilde 21" descr="Et bilde som inneholder Font, Grafikk, logo, grafisk design&#10;&#10;KI-generert innhold kan være feil.">
            <a:extLst>
              <a:ext uri="{FF2B5EF4-FFF2-40B4-BE49-F238E27FC236}">
                <a16:creationId xmlns:a16="http://schemas.microsoft.com/office/drawing/2014/main" id="{096F9844-017C-F2BF-BD56-D3E87B9C9EC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9506130" y="5394655"/>
            <a:ext cx="2381250" cy="1000125"/>
          </a:xfrm>
          <a:prstGeom prst="rect">
            <a:avLst/>
          </a:prstGeom>
        </p:spPr>
      </p:pic>
      <p:sp>
        <p:nvSpPr>
          <p:cNvPr id="24" name="Tittel 1">
            <a:extLst>
              <a:ext uri="{FF2B5EF4-FFF2-40B4-BE49-F238E27FC236}">
                <a16:creationId xmlns:a16="http://schemas.microsoft.com/office/drawing/2014/main" id="{95ED216D-5BF7-D5D2-94C4-2D4F4B4F848A}"/>
              </a:ext>
            </a:extLst>
          </p:cNvPr>
          <p:cNvSpPr txBox="1">
            <a:spLocks/>
          </p:cNvSpPr>
          <p:nvPr/>
        </p:nvSpPr>
        <p:spPr>
          <a:xfrm>
            <a:off x="4110027" y="5003896"/>
            <a:ext cx="3262367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1A2B3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>
                <a:solidFill>
                  <a:srgbClr val="7F7F7F"/>
                </a:solidFill>
                <a:cs typeface="Segoe UI Semibold"/>
              </a:rPr>
              <a:t>Team DELTA</a:t>
            </a:r>
          </a:p>
        </p:txBody>
      </p:sp>
    </p:spTree>
    <p:extLst>
      <p:ext uri="{BB962C8B-B14F-4D97-AF65-F5344CB8AC3E}">
        <p14:creationId xmlns:p14="http://schemas.microsoft.com/office/powerpoint/2010/main" val="563108622"/>
      </p:ext>
    </p:extLst>
  </p:cSld>
  <p:clrMapOvr>
    <a:masterClrMapping/>
  </p:clrMapOvr>
</p:sld>
</file>

<file path=ppt/theme/theme1.xml><?xml version="1.0" encoding="utf-8"?>
<a:theme xmlns:a="http://schemas.openxmlformats.org/drawingml/2006/main" name="View [1778608098952]">
  <a:themeElements>
    <a:clrScheme name="Min Eiendom Lys">
      <a:dk1>
        <a:srgbClr val="1A2B3C"/>
      </a:dk1>
      <a:lt1>
        <a:srgbClr val="FFFFFF"/>
      </a:lt1>
      <a:dk2>
        <a:srgbClr val="2D4356"/>
      </a:dk2>
      <a:lt2>
        <a:srgbClr val="F0F4F7"/>
      </a:lt2>
      <a:accent1>
        <a:srgbClr val="0077B6"/>
      </a:accent1>
      <a:accent2>
        <a:srgbClr val="00A676"/>
      </a:accent2>
      <a:accent3>
        <a:srgbClr val="48CAE4"/>
      </a:accent3>
      <a:accent4>
        <a:srgbClr val="E07A3A"/>
      </a:accent4>
      <a:accent5>
        <a:srgbClr val="5E60CE"/>
      </a:accent5>
      <a:accent6>
        <a:srgbClr val="1A2B3C"/>
      </a:accent6>
      <a:hlink>
        <a:srgbClr val="67AABF"/>
      </a:hlink>
      <a:folHlink>
        <a:srgbClr val="ABAFA5"/>
      </a:folHlink>
    </a:clrScheme>
    <a:fontScheme name="Min Eiendom">
      <a:majorFont>
        <a:latin typeface="Segoe UI Semibold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4A28ED-49A3-464E-A06A-4E9571599FA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78f6753-a7db-48fa-9764-4851d1f73f8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Widescreen</PresentationFormat>
  <Paragraphs>96</Paragraphs>
  <Slides>10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Lysbildetitler</vt:lpstr>
      </vt:variant>
      <vt:variant>
        <vt:i4>10</vt:i4>
      </vt:variant>
    </vt:vector>
  </HeadingPairs>
  <TitlesOfParts>
    <vt:vector size="12" baseType="lpstr">
      <vt:lpstr>View [1778608098952]</vt:lpstr>
      <vt:lpstr>Office-tema</vt:lpstr>
      <vt:lpstr>Min Eiendom</vt:lpstr>
      <vt:lpstr>Oppgaven</vt:lpstr>
      <vt:lpstr>Løsningen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Takk for oss!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Vebjørn Frøyland Kjus</cp:lastModifiedBy>
  <cp:revision>235</cp:revision>
  <dcterms:created xsi:type="dcterms:W3CDTF">2026-05-12T08:11:20Z</dcterms:created>
  <dcterms:modified xsi:type="dcterms:W3CDTF">2026-05-20T21:47:00Z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2026-05-12T08:11:24Z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5d5e47c4-8806-41df-99b5-7e87a7e04337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10, 3, 0, 2</vt:lpwstr>
  </property>
</Properties>
</file>