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7" r:id="rId2"/>
    <p:sldId id="271" r:id="rId3"/>
    <p:sldId id="332" r:id="rId4"/>
    <p:sldId id="334" r:id="rId5"/>
    <p:sldId id="322" r:id="rId6"/>
    <p:sldId id="296" r:id="rId7"/>
    <p:sldId id="304" r:id="rId8"/>
    <p:sldId id="303" r:id="rId9"/>
    <p:sldId id="262" r:id="rId10"/>
    <p:sldId id="263" r:id="rId11"/>
    <p:sldId id="290" r:id="rId12"/>
    <p:sldId id="291" r:id="rId13"/>
    <p:sldId id="292" r:id="rId14"/>
    <p:sldId id="293" r:id="rId15"/>
    <p:sldId id="294" r:id="rId16"/>
    <p:sldId id="295" r:id="rId17"/>
    <p:sldId id="260" r:id="rId18"/>
    <p:sldId id="323" r:id="rId19"/>
    <p:sldId id="325" r:id="rId20"/>
    <p:sldId id="33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CB8436-21DD-7B6B-6678-7BB8510A9992}" name="Kristian Kalleberg" initials="KK" userId="S::kristianka@uia.no::d4da0a23-b4a3-4e5d-b0b0-0b1cced1bc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00"/>
    <a:srgbClr val="C8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A9ED2-10C2-B835-41BC-E4148790F08B}" v="15" dt="2026-05-26T21:59:31.977"/>
    <p1510:client id="{5445AEAB-FC62-4F4C-82B9-0DD97D9F6125}" v="1151" dt="2026-05-27T08:24:09.242"/>
    <p1510:client id="{7035AE23-54B0-4FB4-A76B-F7AED23AD6FE}" v="987" dt="2026-05-26T11:03:27.845"/>
    <p1510:client id="{AC4C3E1E-A2C7-90F9-092D-90FD30456406}" v="32" dt="2026-05-27T09:24:05.972"/>
    <p1510:client id="{EE27F512-ACDA-A040-533A-AC6DFDA2BF3C}" v="20" dt="2026-05-27T09:08:32.978"/>
    <p1510:client id="{F288AC5E-2117-E348-B602-51A1E0D82461}" v="105" dt="2026-05-27T09:17:47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396" autoAdjust="0"/>
  </p:normalViewPr>
  <p:slideViewPr>
    <p:cSldViewPr snapToGrid="0">
      <p:cViewPr varScale="1">
        <p:scale>
          <a:sx n="39" d="100"/>
          <a:sy n="39" d="100"/>
        </p:scale>
        <p:origin x="1684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A4401-8FD6-4A5E-9D52-65EEF2A4B87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D8CE91-56AF-4D0A-909E-8520ADF413E3}">
      <dgm:prSet/>
      <dgm:spPr/>
      <dgm:t>
        <a:bodyPr/>
        <a:lstStyle/>
        <a:p>
          <a:r>
            <a:rPr lang="nb-NO"/>
            <a:t>Oppdrag fra Kristiansand kommune</a:t>
          </a:r>
          <a:endParaRPr lang="en-US"/>
        </a:p>
      </dgm:t>
    </dgm:pt>
    <dgm:pt modelId="{7D782BC0-8A9F-4292-A609-73D0E5762AB8}" type="parTrans" cxnId="{A0B7B843-5624-45D3-B563-C6ED14663B63}">
      <dgm:prSet/>
      <dgm:spPr/>
      <dgm:t>
        <a:bodyPr/>
        <a:lstStyle/>
        <a:p>
          <a:endParaRPr lang="en-US"/>
        </a:p>
      </dgm:t>
    </dgm:pt>
    <dgm:pt modelId="{7323DB70-BD45-4296-8738-5ECCB62B3593}" type="sibTrans" cxnId="{A0B7B843-5624-45D3-B563-C6ED14663B63}">
      <dgm:prSet/>
      <dgm:spPr>
        <a:solidFill>
          <a:schemeClr val="accent1">
            <a:tint val="40000"/>
            <a:hueOff val="0"/>
            <a:satOff val="0"/>
            <a:lumOff val="0"/>
          </a:schemeClr>
        </a:solidFill>
      </dgm:spPr>
      <dgm:t>
        <a:bodyPr/>
        <a:lstStyle/>
        <a:p>
          <a:endParaRPr lang="en-US"/>
        </a:p>
      </dgm:t>
    </dgm:pt>
    <dgm:pt modelId="{B20F9135-8156-454B-8CDA-9CE20DB5DEE4}">
      <dgm:prSet/>
      <dgm:spPr/>
      <dgm:t>
        <a:bodyPr/>
        <a:lstStyle/>
        <a:p>
          <a:r>
            <a:rPr lang="nb-NO" i="1"/>
            <a:t>“Lag en proof-of-concept som utforsker en fremtidig versjon av Min Eiendom”</a:t>
          </a:r>
          <a:endParaRPr lang="en-US"/>
        </a:p>
      </dgm:t>
    </dgm:pt>
    <dgm:pt modelId="{733DC200-1E47-4485-91E3-FF5818F07AEB}" type="parTrans" cxnId="{B431F76C-BA11-4B95-8DEF-AC1B599549D4}">
      <dgm:prSet/>
      <dgm:spPr/>
      <dgm:t>
        <a:bodyPr/>
        <a:lstStyle/>
        <a:p>
          <a:endParaRPr lang="en-US"/>
        </a:p>
      </dgm:t>
    </dgm:pt>
    <dgm:pt modelId="{A7C0D1A5-E69D-4F6D-8C1F-D0405BAB22DA}" type="sibTrans" cxnId="{B431F76C-BA11-4B95-8DEF-AC1B599549D4}">
      <dgm:prSet/>
      <dgm:spPr/>
      <dgm:t>
        <a:bodyPr/>
        <a:lstStyle/>
        <a:p>
          <a:endParaRPr lang="en-US"/>
        </a:p>
      </dgm:t>
    </dgm:pt>
    <dgm:pt modelId="{6AC67603-7F3C-428B-B175-DD11F0C60614}" type="pres">
      <dgm:prSet presAssocID="{01FA4401-8FD6-4A5E-9D52-65EEF2A4B874}" presName="outerComposite" presStyleCnt="0">
        <dgm:presLayoutVars>
          <dgm:chMax val="5"/>
          <dgm:dir/>
          <dgm:resizeHandles val="exact"/>
        </dgm:presLayoutVars>
      </dgm:prSet>
      <dgm:spPr/>
    </dgm:pt>
    <dgm:pt modelId="{8219213B-5B7C-4B54-96E8-7AF67E441627}" type="pres">
      <dgm:prSet presAssocID="{01FA4401-8FD6-4A5E-9D52-65EEF2A4B874}" presName="dummyMaxCanvas" presStyleCnt="0">
        <dgm:presLayoutVars/>
      </dgm:prSet>
      <dgm:spPr/>
    </dgm:pt>
    <dgm:pt modelId="{29FB8200-14C1-4A49-B49D-9E43EEE5B497}" type="pres">
      <dgm:prSet presAssocID="{01FA4401-8FD6-4A5E-9D52-65EEF2A4B874}" presName="TwoNodes_1" presStyleLbl="node1" presStyleIdx="0" presStyleCnt="2">
        <dgm:presLayoutVars>
          <dgm:bulletEnabled val="1"/>
        </dgm:presLayoutVars>
      </dgm:prSet>
      <dgm:spPr/>
    </dgm:pt>
    <dgm:pt modelId="{816C38AE-EB2C-4555-8C22-D68D80516331}" type="pres">
      <dgm:prSet presAssocID="{01FA4401-8FD6-4A5E-9D52-65EEF2A4B874}" presName="TwoNodes_2" presStyleLbl="node1" presStyleIdx="1" presStyleCnt="2">
        <dgm:presLayoutVars>
          <dgm:bulletEnabled val="1"/>
        </dgm:presLayoutVars>
      </dgm:prSet>
      <dgm:spPr/>
    </dgm:pt>
    <dgm:pt modelId="{0C261F70-61B0-4E0A-A360-D6D139043244}" type="pres">
      <dgm:prSet presAssocID="{01FA4401-8FD6-4A5E-9D52-65EEF2A4B874}" presName="TwoConn_1-2" presStyleLbl="fgAccFollowNode1" presStyleIdx="0" presStyleCnt="1">
        <dgm:presLayoutVars>
          <dgm:bulletEnabled val="1"/>
        </dgm:presLayoutVars>
      </dgm:prSet>
      <dgm:spPr/>
    </dgm:pt>
    <dgm:pt modelId="{2AA3E908-0A0C-430C-9E3F-4FD84D5F66C4}" type="pres">
      <dgm:prSet presAssocID="{01FA4401-8FD6-4A5E-9D52-65EEF2A4B874}" presName="TwoNodes_1_text" presStyleLbl="node1" presStyleIdx="1" presStyleCnt="2">
        <dgm:presLayoutVars>
          <dgm:bulletEnabled val="1"/>
        </dgm:presLayoutVars>
      </dgm:prSet>
      <dgm:spPr/>
    </dgm:pt>
    <dgm:pt modelId="{DF200419-9998-48FC-AE9A-4D54F940240D}" type="pres">
      <dgm:prSet presAssocID="{01FA4401-8FD6-4A5E-9D52-65EEF2A4B874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0B7B843-5624-45D3-B563-C6ED14663B63}" srcId="{01FA4401-8FD6-4A5E-9D52-65EEF2A4B874}" destId="{60D8CE91-56AF-4D0A-909E-8520ADF413E3}" srcOrd="0" destOrd="0" parTransId="{7D782BC0-8A9F-4292-A609-73D0E5762AB8}" sibTransId="{7323DB70-BD45-4296-8738-5ECCB62B3593}"/>
    <dgm:cxn modelId="{B431F76C-BA11-4B95-8DEF-AC1B599549D4}" srcId="{01FA4401-8FD6-4A5E-9D52-65EEF2A4B874}" destId="{B20F9135-8156-454B-8CDA-9CE20DB5DEE4}" srcOrd="1" destOrd="0" parTransId="{733DC200-1E47-4485-91E3-FF5818F07AEB}" sibTransId="{A7C0D1A5-E69D-4F6D-8C1F-D0405BAB22DA}"/>
    <dgm:cxn modelId="{28186C75-B5CD-AD4B-9A63-857262AB6CDE}" type="presOf" srcId="{01FA4401-8FD6-4A5E-9D52-65EEF2A4B874}" destId="{6AC67603-7F3C-428B-B175-DD11F0C60614}" srcOrd="0" destOrd="0" presId="urn:microsoft.com/office/officeart/2005/8/layout/vProcess5"/>
    <dgm:cxn modelId="{4BF3537D-21C4-334F-AB81-BDD5EA216CF8}" type="presOf" srcId="{60D8CE91-56AF-4D0A-909E-8520ADF413E3}" destId="{2AA3E908-0A0C-430C-9E3F-4FD84D5F66C4}" srcOrd="1" destOrd="0" presId="urn:microsoft.com/office/officeart/2005/8/layout/vProcess5"/>
    <dgm:cxn modelId="{325BDF8D-1C16-9B48-9278-F0B23170948F}" type="presOf" srcId="{60D8CE91-56AF-4D0A-909E-8520ADF413E3}" destId="{29FB8200-14C1-4A49-B49D-9E43EEE5B497}" srcOrd="0" destOrd="0" presId="urn:microsoft.com/office/officeart/2005/8/layout/vProcess5"/>
    <dgm:cxn modelId="{FC0B8ED4-C809-A24C-B2ED-4F8253201890}" type="presOf" srcId="{B20F9135-8156-454B-8CDA-9CE20DB5DEE4}" destId="{DF200419-9998-48FC-AE9A-4D54F940240D}" srcOrd="1" destOrd="0" presId="urn:microsoft.com/office/officeart/2005/8/layout/vProcess5"/>
    <dgm:cxn modelId="{2A5E08DC-9212-FD4E-9399-825686AF3351}" type="presOf" srcId="{B20F9135-8156-454B-8CDA-9CE20DB5DEE4}" destId="{816C38AE-EB2C-4555-8C22-D68D80516331}" srcOrd="0" destOrd="0" presId="urn:microsoft.com/office/officeart/2005/8/layout/vProcess5"/>
    <dgm:cxn modelId="{2B8511FB-C3E0-7341-8267-6D30300EAAF5}" type="presOf" srcId="{7323DB70-BD45-4296-8738-5ECCB62B3593}" destId="{0C261F70-61B0-4E0A-A360-D6D139043244}" srcOrd="0" destOrd="0" presId="urn:microsoft.com/office/officeart/2005/8/layout/vProcess5"/>
    <dgm:cxn modelId="{442C4D79-EC97-F54A-8B64-B19C2C3CEA04}" type="presParOf" srcId="{6AC67603-7F3C-428B-B175-DD11F0C60614}" destId="{8219213B-5B7C-4B54-96E8-7AF67E441627}" srcOrd="0" destOrd="0" presId="urn:microsoft.com/office/officeart/2005/8/layout/vProcess5"/>
    <dgm:cxn modelId="{44965DFB-D892-5B4A-8BDA-4CDEA7364A54}" type="presParOf" srcId="{6AC67603-7F3C-428B-B175-DD11F0C60614}" destId="{29FB8200-14C1-4A49-B49D-9E43EEE5B497}" srcOrd="1" destOrd="0" presId="urn:microsoft.com/office/officeart/2005/8/layout/vProcess5"/>
    <dgm:cxn modelId="{FD27C84E-2002-8841-9AB4-CF975DC1330C}" type="presParOf" srcId="{6AC67603-7F3C-428B-B175-DD11F0C60614}" destId="{816C38AE-EB2C-4555-8C22-D68D80516331}" srcOrd="2" destOrd="0" presId="urn:microsoft.com/office/officeart/2005/8/layout/vProcess5"/>
    <dgm:cxn modelId="{D9F18EFD-71D0-9849-89D8-C8CC2DB33B6E}" type="presParOf" srcId="{6AC67603-7F3C-428B-B175-DD11F0C60614}" destId="{0C261F70-61B0-4E0A-A360-D6D139043244}" srcOrd="3" destOrd="0" presId="urn:microsoft.com/office/officeart/2005/8/layout/vProcess5"/>
    <dgm:cxn modelId="{654DA9CF-65D7-BE4A-BF82-C86464A4BEF5}" type="presParOf" srcId="{6AC67603-7F3C-428B-B175-DD11F0C60614}" destId="{2AA3E908-0A0C-430C-9E3F-4FD84D5F66C4}" srcOrd="4" destOrd="0" presId="urn:microsoft.com/office/officeart/2005/8/layout/vProcess5"/>
    <dgm:cxn modelId="{FE8B70E5-45F6-BB43-ADC6-39D6F93EC165}" type="presParOf" srcId="{6AC67603-7F3C-428B-B175-DD11F0C60614}" destId="{DF200419-9998-48FC-AE9A-4D54F940240D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B8200-14C1-4A49-B49D-9E43EEE5B497}">
      <dsp:nvSpPr>
        <dsp:cNvPr id="0" name=""/>
        <dsp:cNvSpPr/>
      </dsp:nvSpPr>
      <dsp:spPr>
        <a:xfrm>
          <a:off x="0" y="0"/>
          <a:ext cx="8938260" cy="19581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700" kern="1200"/>
            <a:t>Oppdrag fra Kristiansand kommune</a:t>
          </a:r>
          <a:endParaRPr lang="en-US" sz="3700" kern="1200"/>
        </a:p>
      </dsp:txBody>
      <dsp:txXfrm>
        <a:off x="57351" y="57351"/>
        <a:ext cx="6914408" cy="1843400"/>
      </dsp:txXfrm>
    </dsp:sp>
    <dsp:sp modelId="{816C38AE-EB2C-4555-8C22-D68D80516331}">
      <dsp:nvSpPr>
        <dsp:cNvPr id="0" name=""/>
        <dsp:cNvSpPr/>
      </dsp:nvSpPr>
      <dsp:spPr>
        <a:xfrm>
          <a:off x="1577339" y="2393235"/>
          <a:ext cx="8938260" cy="19581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700" i="1" kern="1200"/>
            <a:t>“Lag en proof-of-concept som utforsker en fremtidig versjon av Min Eiendom”</a:t>
          </a:r>
          <a:endParaRPr lang="en-US" sz="3700" kern="1200"/>
        </a:p>
      </dsp:txBody>
      <dsp:txXfrm>
        <a:off x="1634690" y="2450586"/>
        <a:ext cx="5973451" cy="1843400"/>
      </dsp:txXfrm>
    </dsp:sp>
    <dsp:sp modelId="{0C261F70-61B0-4E0A-A360-D6D139043244}">
      <dsp:nvSpPr>
        <dsp:cNvPr id="0" name=""/>
        <dsp:cNvSpPr/>
      </dsp:nvSpPr>
      <dsp:spPr>
        <a:xfrm>
          <a:off x="7665493" y="1539285"/>
          <a:ext cx="1272766" cy="127276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tint val="40000"/>
            <a:hueOff val="0"/>
            <a:satOff val="0"/>
            <a:lum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51865" y="1539285"/>
        <a:ext cx="700022" cy="957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67C12-581E-4C5B-ACEC-0E9ACFD733F0}" type="datetimeFigureOut">
              <a:t>10.06.2026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2DC1B-5EE6-4E9E-BDA6-98F2B20B46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2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nettopp</a:t>
            </a:r>
            <a:r>
              <a:rPr lang="en-US" dirty="0"/>
              <a:t> </a:t>
            </a:r>
            <a:r>
              <a:rPr lang="en-US" dirty="0" err="1"/>
              <a:t>kjøpt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bolig</a:t>
            </a:r>
            <a:r>
              <a:rPr lang="en-US" dirty="0"/>
              <a:t>. Du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sjekke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søppelet</a:t>
            </a:r>
            <a:r>
              <a:rPr lang="en-US" dirty="0"/>
              <a:t> </a:t>
            </a:r>
            <a:r>
              <a:rPr lang="en-US" dirty="0" err="1"/>
              <a:t>hentes</a:t>
            </a:r>
            <a:r>
              <a:rPr lang="en-US" dirty="0"/>
              <a:t>, om det ligger </a:t>
            </a:r>
            <a:r>
              <a:rPr lang="en-US" dirty="0" err="1"/>
              <a:t>gamle</a:t>
            </a:r>
            <a:r>
              <a:rPr lang="en-US" dirty="0"/>
              <a:t> </a:t>
            </a:r>
            <a:r>
              <a:rPr lang="en-US" dirty="0" err="1"/>
              <a:t>byggesaker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eiendommen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hvem</a:t>
            </a:r>
            <a:r>
              <a:rPr lang="en-US" dirty="0"/>
              <a:t> </a:t>
            </a:r>
            <a:r>
              <a:rPr lang="en-US" dirty="0" err="1"/>
              <a:t>naboene</a:t>
            </a:r>
            <a:r>
              <a:rPr lang="en-US" dirty="0"/>
              <a:t> dine er. Du logger inn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kommunens</a:t>
            </a:r>
            <a:r>
              <a:rPr lang="en-US" dirty="0"/>
              <a:t> </a:t>
            </a:r>
            <a:r>
              <a:rPr lang="en-US" dirty="0" err="1"/>
              <a:t>nettside</a:t>
            </a:r>
            <a:r>
              <a:rPr lang="en-US" dirty="0"/>
              <a:t> –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finner</a:t>
            </a:r>
            <a:r>
              <a:rPr lang="en-US" dirty="0"/>
              <a:t> </a:t>
            </a:r>
            <a:r>
              <a:rPr lang="en-US" dirty="0" err="1"/>
              <a:t>ingenting</a:t>
            </a:r>
            <a:r>
              <a:rPr lang="en-US" dirty="0"/>
              <a:t> samlet. Du ender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fire </a:t>
            </a:r>
            <a:r>
              <a:rPr lang="en-US" dirty="0" err="1"/>
              <a:t>forskjellige</a:t>
            </a:r>
            <a:r>
              <a:rPr lang="en-US" dirty="0"/>
              <a:t> </a:t>
            </a:r>
            <a:r>
              <a:rPr lang="en-US" dirty="0" err="1"/>
              <a:t>nettsider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slutt</a:t>
            </a:r>
            <a:r>
              <a:rPr lang="en-US" dirty="0"/>
              <a:t> ringer du </a:t>
            </a:r>
            <a:r>
              <a:rPr lang="en-US" dirty="0" err="1"/>
              <a:t>kommunen</a:t>
            </a:r>
            <a:r>
              <a:rPr lang="en-US" dirty="0"/>
              <a:t>.</a:t>
            </a:r>
          </a:p>
          <a:p>
            <a:r>
              <a:rPr lang="en-US" dirty="0"/>
              <a:t>Dette er </a:t>
            </a:r>
            <a:r>
              <a:rPr lang="en-US" dirty="0" err="1"/>
              <a:t>hverdagen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norske</a:t>
            </a:r>
            <a:r>
              <a:rPr lang="en-US" dirty="0"/>
              <a:t> </a:t>
            </a:r>
            <a:r>
              <a:rPr lang="en-US" dirty="0" err="1"/>
              <a:t>eiendomseiere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dag</a:t>
            </a:r>
            <a:r>
              <a:rPr lang="en-US" dirty="0"/>
              <a:t>. Vi er </a:t>
            </a:r>
            <a:r>
              <a:rPr lang="en-US" dirty="0" err="1"/>
              <a:t>gruppe</a:t>
            </a:r>
            <a:r>
              <a:rPr lang="en-US" dirty="0"/>
              <a:t> Delta, </a:t>
            </a:r>
            <a:r>
              <a:rPr lang="en-US" dirty="0" err="1"/>
              <a:t>og</a:t>
            </a:r>
            <a:r>
              <a:rPr lang="en-US" dirty="0"/>
              <a:t> vi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jobbet</a:t>
            </a:r>
            <a:r>
              <a:rPr lang="en-US" dirty="0"/>
              <a:t> med å </a:t>
            </a:r>
            <a:r>
              <a:rPr lang="en-US" dirty="0" err="1"/>
              <a:t>løse</a:t>
            </a:r>
            <a:r>
              <a:rPr lang="en-US" dirty="0"/>
              <a:t> </a:t>
            </a:r>
            <a:r>
              <a:rPr lang="en-US" dirty="0" err="1"/>
              <a:t>akkurat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problemet</a:t>
            </a:r>
            <a:r>
              <a:rPr lang="en-US" dirty="0"/>
              <a:t> </a:t>
            </a:r>
            <a:r>
              <a:rPr lang="en-US" dirty="0" err="1"/>
              <a:t>sammen</a:t>
            </a:r>
            <a:r>
              <a:rPr lang="en-US" dirty="0"/>
              <a:t> med Kristiansand </a:t>
            </a:r>
            <a:r>
              <a:rPr lang="en-US" dirty="0" err="1"/>
              <a:t>kommune</a:t>
            </a:r>
            <a:r>
              <a:rPr lang="en-US" dirty="0"/>
              <a:t>.»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69C2C-FD82-4534-AFD0-E63D0F71CF67}" type="slidenum"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894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Brukertestingen</a:t>
            </a:r>
            <a:r>
              <a:rPr lang="en-US"/>
              <a:t> </a:t>
            </a:r>
            <a:r>
              <a:rPr lang="en-US" err="1"/>
              <a:t>ble</a:t>
            </a:r>
            <a:r>
              <a:rPr lang="en-US"/>
              <a:t> </a:t>
            </a:r>
            <a:r>
              <a:rPr lang="en-US" err="1"/>
              <a:t>gjennomført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tre</a:t>
            </a:r>
            <a:r>
              <a:rPr lang="en-US"/>
              <a:t> </a:t>
            </a:r>
            <a:r>
              <a:rPr lang="en-US" err="1"/>
              <a:t>faser</a:t>
            </a:r>
            <a:r>
              <a:rPr lang="en-US"/>
              <a:t>. Først </a:t>
            </a:r>
            <a:r>
              <a:rPr lang="en-US" err="1"/>
              <a:t>testet</a:t>
            </a:r>
            <a:r>
              <a:rPr lang="en-US"/>
              <a:t> vi den </a:t>
            </a:r>
            <a:r>
              <a:rPr lang="en-US" err="1"/>
              <a:t>eksisterende</a:t>
            </a:r>
            <a:r>
              <a:rPr lang="en-US"/>
              <a:t> Min Eiendom-</a:t>
            </a:r>
            <a:r>
              <a:rPr lang="en-US" err="1"/>
              <a:t>løsningen</a:t>
            </a:r>
            <a:r>
              <a:rPr lang="en-US"/>
              <a:t> for å </a:t>
            </a:r>
            <a:r>
              <a:rPr lang="en-US" err="1"/>
              <a:t>kartlegge</a:t>
            </a:r>
            <a:r>
              <a:rPr lang="en-US"/>
              <a:t> </a:t>
            </a:r>
            <a:r>
              <a:rPr lang="en-US" err="1"/>
              <a:t>problemområder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for å </a:t>
            </a:r>
            <a:r>
              <a:rPr lang="en-US" err="1"/>
              <a:t>få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bredere</a:t>
            </a:r>
            <a:r>
              <a:rPr lang="en-US"/>
              <a:t> </a:t>
            </a:r>
            <a:r>
              <a:rPr lang="en-US" err="1"/>
              <a:t>forstårlese</a:t>
            </a:r>
            <a:r>
              <a:rPr lang="en-US"/>
              <a:t> av den </a:t>
            </a:r>
            <a:r>
              <a:rPr lang="en-US" err="1"/>
              <a:t>nåværende</a:t>
            </a:r>
            <a:r>
              <a:rPr lang="en-US"/>
              <a:t> </a:t>
            </a:r>
            <a:r>
              <a:rPr lang="en-US" err="1"/>
              <a:t>løsningen</a:t>
            </a:r>
            <a:r>
              <a:rPr lang="en-US"/>
              <a:t> . </a:t>
            </a:r>
            <a:r>
              <a:rPr lang="en-US" err="1"/>
              <a:t>Deretter</a:t>
            </a:r>
            <a:r>
              <a:rPr lang="en-US"/>
              <a:t> </a:t>
            </a:r>
            <a:r>
              <a:rPr lang="en-US" err="1"/>
              <a:t>testet</a:t>
            </a:r>
            <a:r>
              <a:rPr lang="en-US"/>
              <a:t> vi </a:t>
            </a:r>
            <a:r>
              <a:rPr lang="en-US" err="1"/>
              <a:t>tre</a:t>
            </a:r>
            <a:r>
              <a:rPr lang="en-US"/>
              <a:t> </a:t>
            </a:r>
            <a:r>
              <a:rPr lang="en-US" err="1"/>
              <a:t>prototyper</a:t>
            </a:r>
            <a:r>
              <a:rPr lang="en-US"/>
              <a:t> for å </a:t>
            </a:r>
            <a:r>
              <a:rPr lang="en-US" err="1"/>
              <a:t>finne</a:t>
            </a:r>
            <a:r>
              <a:rPr lang="en-US"/>
              <a:t> </a:t>
            </a:r>
            <a:r>
              <a:rPr lang="en-US" err="1"/>
              <a:t>riktig</a:t>
            </a:r>
            <a:r>
              <a:rPr lang="en-US"/>
              <a:t> </a:t>
            </a:r>
            <a:r>
              <a:rPr lang="en-US" err="1"/>
              <a:t>retning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struktur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design. Til </a:t>
            </a:r>
            <a:r>
              <a:rPr lang="en-US" err="1"/>
              <a:t>slutt</a:t>
            </a:r>
            <a:r>
              <a:rPr lang="en-US"/>
              <a:t> </a:t>
            </a:r>
            <a:r>
              <a:rPr lang="en-US" err="1"/>
              <a:t>evaluerte</a:t>
            </a:r>
            <a:r>
              <a:rPr lang="en-US"/>
              <a:t> vi den </a:t>
            </a:r>
            <a:r>
              <a:rPr lang="en-US" err="1"/>
              <a:t>ferdige</a:t>
            </a:r>
            <a:r>
              <a:rPr lang="en-US"/>
              <a:t> POC-</a:t>
            </a:r>
            <a:r>
              <a:rPr lang="en-US" err="1"/>
              <a:t>en</a:t>
            </a:r>
            <a:r>
              <a:rPr lang="en-US"/>
              <a:t>.</a:t>
            </a:r>
            <a:endParaRPr lang="nb-NO"/>
          </a:p>
          <a:p>
            <a:r>
              <a:rPr lang="en-US"/>
              <a:t>I </a:t>
            </a:r>
            <a:r>
              <a:rPr lang="en-US" err="1"/>
              <a:t>siste</a:t>
            </a:r>
            <a:r>
              <a:rPr lang="en-US"/>
              <a:t> </a:t>
            </a:r>
            <a:r>
              <a:rPr lang="en-US" err="1"/>
              <a:t>fase</a:t>
            </a:r>
            <a:r>
              <a:rPr lang="en-US"/>
              <a:t> </a:t>
            </a:r>
            <a:r>
              <a:rPr lang="en-US" err="1"/>
              <a:t>hadde</a:t>
            </a:r>
            <a:r>
              <a:rPr lang="en-US"/>
              <a:t> vi 12 </a:t>
            </a:r>
            <a:r>
              <a:rPr lang="en-US" err="1"/>
              <a:t>deltakere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alderen</a:t>
            </a:r>
            <a:r>
              <a:rPr lang="en-US"/>
              <a:t> 22 </a:t>
            </a:r>
            <a:r>
              <a:rPr lang="en-US" err="1"/>
              <a:t>til</a:t>
            </a:r>
            <a:r>
              <a:rPr lang="en-US"/>
              <a:t> 62 </a:t>
            </a:r>
            <a:r>
              <a:rPr lang="en-US" err="1"/>
              <a:t>år</a:t>
            </a:r>
            <a:r>
              <a:rPr lang="en-US"/>
              <a:t>,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gikk</a:t>
            </a:r>
            <a:r>
              <a:rPr lang="en-US"/>
              <a:t> </a:t>
            </a:r>
            <a:r>
              <a:rPr lang="en-US" err="1"/>
              <a:t>gjennom</a:t>
            </a:r>
            <a:r>
              <a:rPr lang="en-US"/>
              <a:t> 14 </a:t>
            </a:r>
            <a:r>
              <a:rPr lang="en-US" err="1"/>
              <a:t>definerte</a:t>
            </a:r>
            <a:r>
              <a:rPr lang="en-US"/>
              <a:t> </a:t>
            </a:r>
            <a:r>
              <a:rPr lang="en-US" err="1"/>
              <a:t>oppgaver</a:t>
            </a:r>
            <a:r>
              <a:rPr lang="en-US"/>
              <a:t>.</a:t>
            </a:r>
          </a:p>
          <a:p>
            <a:r>
              <a:rPr lang="en-US"/>
              <a:t>Vi </a:t>
            </a:r>
            <a:r>
              <a:rPr lang="en-US" err="1"/>
              <a:t>valgte</a:t>
            </a:r>
            <a:r>
              <a:rPr lang="en-US"/>
              <a:t> </a:t>
            </a:r>
            <a:r>
              <a:rPr lang="en-US" err="1"/>
              <a:t>tenk-høyt-metoden</a:t>
            </a:r>
            <a:r>
              <a:rPr lang="en-US"/>
              <a:t> </a:t>
            </a:r>
            <a:r>
              <a:rPr lang="en-US" err="1"/>
              <a:t>fordi</a:t>
            </a:r>
            <a:r>
              <a:rPr lang="en-US"/>
              <a:t> den </a:t>
            </a:r>
            <a:r>
              <a:rPr lang="en-US" err="1"/>
              <a:t>gir</a:t>
            </a:r>
            <a:r>
              <a:rPr lang="en-US"/>
              <a:t> </a:t>
            </a:r>
            <a:r>
              <a:rPr lang="en-US" err="1"/>
              <a:t>innsikt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hva</a:t>
            </a:r>
            <a:r>
              <a:rPr lang="en-US"/>
              <a:t> </a:t>
            </a:r>
            <a:r>
              <a:rPr lang="en-US" err="1"/>
              <a:t>brukerne</a:t>
            </a:r>
            <a:r>
              <a:rPr lang="en-US"/>
              <a:t> </a:t>
            </a:r>
            <a:r>
              <a:rPr lang="en-US" err="1"/>
              <a:t>faktisk</a:t>
            </a:r>
            <a:r>
              <a:rPr lang="en-US"/>
              <a:t> </a:t>
            </a:r>
            <a:r>
              <a:rPr lang="en-US" err="1"/>
              <a:t>tenker</a:t>
            </a:r>
            <a:r>
              <a:rPr lang="en-US"/>
              <a:t> </a:t>
            </a:r>
            <a:r>
              <a:rPr lang="en-US" err="1"/>
              <a:t>mens</a:t>
            </a:r>
            <a:r>
              <a:rPr lang="en-US"/>
              <a:t> de </a:t>
            </a:r>
            <a:r>
              <a:rPr lang="en-US" err="1"/>
              <a:t>bruker</a:t>
            </a:r>
            <a:r>
              <a:rPr lang="en-US"/>
              <a:t> </a:t>
            </a:r>
            <a:r>
              <a:rPr lang="en-US" err="1"/>
              <a:t>løsningen</a:t>
            </a:r>
            <a:r>
              <a:rPr lang="en-US"/>
              <a:t> – </a:t>
            </a:r>
            <a:r>
              <a:rPr lang="en-US" err="1"/>
              <a:t>ikke</a:t>
            </a:r>
            <a:r>
              <a:rPr lang="en-US"/>
              <a:t> bare om de </a:t>
            </a:r>
            <a:r>
              <a:rPr lang="en-US" err="1"/>
              <a:t>klarer</a:t>
            </a:r>
            <a:r>
              <a:rPr lang="en-US"/>
              <a:t> </a:t>
            </a:r>
            <a:r>
              <a:rPr lang="en-US" err="1"/>
              <a:t>oppgaven</a:t>
            </a:r>
            <a:r>
              <a:rPr lang="en-US"/>
              <a:t>, men </a:t>
            </a:r>
            <a:r>
              <a:rPr lang="en-US" err="1"/>
              <a:t>hvor</a:t>
            </a:r>
            <a:r>
              <a:rPr lang="en-US"/>
              <a:t> de </a:t>
            </a:r>
            <a:r>
              <a:rPr lang="en-US" err="1"/>
              <a:t>nøler</a:t>
            </a:r>
            <a:r>
              <a:rPr lang="en-US"/>
              <a:t>, </a:t>
            </a:r>
            <a:r>
              <a:rPr lang="en-US" err="1"/>
              <a:t>hva</a:t>
            </a:r>
            <a:r>
              <a:rPr lang="en-US"/>
              <a:t> de </a:t>
            </a:r>
            <a:r>
              <a:rPr lang="en-US" err="1"/>
              <a:t>forventer</a:t>
            </a:r>
            <a:r>
              <a:rPr lang="en-US"/>
              <a:t>,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hvor</a:t>
            </a:r>
            <a:r>
              <a:rPr lang="en-US"/>
              <a:t> det </a:t>
            </a:r>
            <a:r>
              <a:rPr lang="en-US" err="1"/>
              <a:t>oppstår</a:t>
            </a:r>
            <a:r>
              <a:rPr lang="en-US"/>
              <a:t> </a:t>
            </a:r>
            <a:r>
              <a:rPr lang="en-US" err="1"/>
              <a:t>friksjon</a:t>
            </a:r>
            <a:r>
              <a:rPr lang="en-US"/>
              <a:t>. Det </a:t>
            </a:r>
            <a:r>
              <a:rPr lang="en-US" err="1"/>
              <a:t>fanger</a:t>
            </a:r>
            <a:r>
              <a:rPr lang="en-US"/>
              <a:t> </a:t>
            </a:r>
            <a:r>
              <a:rPr lang="en-US" err="1"/>
              <a:t>opp</a:t>
            </a:r>
            <a:r>
              <a:rPr lang="en-US"/>
              <a:t> ting man </a:t>
            </a:r>
            <a:r>
              <a:rPr lang="en-US" err="1"/>
              <a:t>ellers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ville</a:t>
            </a:r>
            <a:r>
              <a:rPr lang="en-US"/>
              <a:t> sett.</a:t>
            </a:r>
          </a:p>
          <a:p>
            <a:r>
              <a:rPr lang="en-US"/>
              <a:t>I </a:t>
            </a:r>
            <a:r>
              <a:rPr lang="en-US" err="1"/>
              <a:t>tillegg</a:t>
            </a:r>
            <a:r>
              <a:rPr lang="en-US"/>
              <a:t> </a:t>
            </a:r>
            <a:r>
              <a:rPr lang="en-US" err="1"/>
              <a:t>brukte</a:t>
            </a:r>
            <a:r>
              <a:rPr lang="en-US"/>
              <a:t> vi SUS-skjema </a:t>
            </a:r>
            <a:r>
              <a:rPr lang="en-US" err="1"/>
              <a:t>fordi</a:t>
            </a:r>
            <a:r>
              <a:rPr lang="en-US"/>
              <a:t> det er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standardisert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bredt</a:t>
            </a:r>
            <a:r>
              <a:rPr lang="en-US"/>
              <a:t> </a:t>
            </a:r>
            <a:r>
              <a:rPr lang="en-US" err="1"/>
              <a:t>anerkjent</a:t>
            </a:r>
            <a:r>
              <a:rPr lang="en-US"/>
              <a:t> </a:t>
            </a:r>
            <a:r>
              <a:rPr lang="en-US" err="1"/>
              <a:t>måte</a:t>
            </a:r>
            <a:r>
              <a:rPr lang="en-US"/>
              <a:t> å </a:t>
            </a:r>
            <a:r>
              <a:rPr lang="en-US" err="1"/>
              <a:t>måle</a:t>
            </a:r>
            <a:r>
              <a:rPr lang="en-US"/>
              <a:t> </a:t>
            </a:r>
            <a:r>
              <a:rPr lang="en-US" err="1"/>
              <a:t>brukervennlighet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. Det </a:t>
            </a:r>
            <a:r>
              <a:rPr lang="en-US" err="1"/>
              <a:t>gir</a:t>
            </a:r>
            <a:r>
              <a:rPr lang="en-US"/>
              <a:t> et </a:t>
            </a:r>
            <a:r>
              <a:rPr lang="en-US" err="1"/>
              <a:t>tallfestet</a:t>
            </a:r>
            <a:r>
              <a:rPr lang="en-US"/>
              <a:t> </a:t>
            </a:r>
            <a:r>
              <a:rPr lang="en-US" err="1"/>
              <a:t>resultat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sammenlignes</a:t>
            </a:r>
            <a:r>
              <a:rPr lang="en-US"/>
              <a:t> mot </a:t>
            </a:r>
            <a:r>
              <a:rPr lang="en-US" err="1"/>
              <a:t>etablerte</a:t>
            </a:r>
            <a:r>
              <a:rPr lang="en-US"/>
              <a:t> </a:t>
            </a:r>
            <a:r>
              <a:rPr lang="en-US" err="1"/>
              <a:t>terskler</a:t>
            </a:r>
            <a:r>
              <a:rPr lang="en-US"/>
              <a:t>,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kombinert</a:t>
            </a:r>
            <a:r>
              <a:rPr lang="en-US"/>
              <a:t> med de </a:t>
            </a:r>
            <a:r>
              <a:rPr lang="en-US" err="1"/>
              <a:t>kvalitative</a:t>
            </a:r>
            <a:r>
              <a:rPr lang="en-US"/>
              <a:t> </a:t>
            </a:r>
            <a:r>
              <a:rPr lang="en-US" err="1"/>
              <a:t>observasjonene</a:t>
            </a:r>
            <a:r>
              <a:rPr lang="en-US"/>
              <a:t> </a:t>
            </a:r>
            <a:r>
              <a:rPr lang="en-US" err="1"/>
              <a:t>får</a:t>
            </a:r>
            <a:r>
              <a:rPr lang="en-US"/>
              <a:t> vi </a:t>
            </a:r>
            <a:r>
              <a:rPr lang="en-US" err="1"/>
              <a:t>både</a:t>
            </a:r>
            <a:r>
              <a:rPr lang="en-US"/>
              <a:t> </a:t>
            </a:r>
            <a:r>
              <a:rPr lang="en-US" err="1"/>
              <a:t>hva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skjer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hvor</a:t>
            </a:r>
            <a:r>
              <a:rPr lang="en-US"/>
              <a:t> </a:t>
            </a:r>
            <a:r>
              <a:rPr lang="en-US" err="1"/>
              <a:t>godt</a:t>
            </a:r>
            <a:r>
              <a:rPr lang="en-US"/>
              <a:t> det </a:t>
            </a:r>
            <a:r>
              <a:rPr lang="en-US" err="1"/>
              <a:t>fungerer</a:t>
            </a:r>
            <a:r>
              <a:rPr lang="en-US"/>
              <a:t>.</a:t>
            </a:r>
          </a:p>
          <a:p>
            <a:r>
              <a:rPr lang="en-US"/>
              <a:t>Vi </a:t>
            </a:r>
            <a:r>
              <a:rPr lang="en-US" err="1"/>
              <a:t>endte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gjennomsnittlig</a:t>
            </a:r>
            <a:r>
              <a:rPr lang="en-US"/>
              <a:t> SUS-score </a:t>
            </a:r>
            <a:r>
              <a:rPr lang="en-US" err="1"/>
              <a:t>på</a:t>
            </a:r>
            <a:r>
              <a:rPr lang="en-US"/>
              <a:t> 85,6, </a:t>
            </a:r>
            <a:r>
              <a:rPr lang="en-US" err="1"/>
              <a:t>godt</a:t>
            </a:r>
            <a:r>
              <a:rPr lang="en-US"/>
              <a:t> over </a:t>
            </a:r>
            <a:r>
              <a:rPr lang="en-US" err="1"/>
              <a:t>grensen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70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regnes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et </a:t>
            </a:r>
            <a:r>
              <a:rPr lang="en-US" err="1"/>
              <a:t>godt</a:t>
            </a:r>
            <a:r>
              <a:rPr lang="en-US"/>
              <a:t> </a:t>
            </a:r>
            <a:r>
              <a:rPr lang="en-US" err="1"/>
              <a:t>utviklet</a:t>
            </a:r>
            <a:r>
              <a:rPr lang="en-US"/>
              <a:t> system. Den iterative </a:t>
            </a:r>
            <a:r>
              <a:rPr lang="en-US" err="1"/>
              <a:t>tilnærmingen</a:t>
            </a:r>
            <a:r>
              <a:rPr lang="en-US"/>
              <a:t> </a:t>
            </a:r>
            <a:r>
              <a:rPr lang="en-US" err="1"/>
              <a:t>gjorde</a:t>
            </a:r>
            <a:r>
              <a:rPr lang="en-US"/>
              <a:t> at </a:t>
            </a:r>
            <a:r>
              <a:rPr lang="en-US" err="1"/>
              <a:t>funn</a:t>
            </a:r>
            <a:r>
              <a:rPr lang="en-US"/>
              <a:t> </a:t>
            </a:r>
            <a:r>
              <a:rPr lang="en-US" err="1"/>
              <a:t>fra</a:t>
            </a:r>
            <a:r>
              <a:rPr lang="en-US"/>
              <a:t> </a:t>
            </a:r>
            <a:r>
              <a:rPr lang="en-US" err="1"/>
              <a:t>hver</a:t>
            </a:r>
            <a:r>
              <a:rPr lang="en-US"/>
              <a:t> </a:t>
            </a:r>
            <a:r>
              <a:rPr lang="en-US" err="1"/>
              <a:t>fase</a:t>
            </a:r>
            <a:r>
              <a:rPr lang="en-US"/>
              <a:t> </a:t>
            </a:r>
            <a:r>
              <a:rPr lang="en-US" err="1"/>
              <a:t>ble</a:t>
            </a:r>
            <a:r>
              <a:rPr lang="en-US"/>
              <a:t> tatt </a:t>
            </a:r>
            <a:r>
              <a:rPr lang="en-US" err="1"/>
              <a:t>direkte</a:t>
            </a:r>
            <a:r>
              <a:rPr lang="en-US"/>
              <a:t> inn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videre</a:t>
            </a:r>
            <a:r>
              <a:rPr lang="en-US"/>
              <a:t> </a:t>
            </a:r>
            <a:r>
              <a:rPr lang="en-US" err="1"/>
              <a:t>utvikling</a:t>
            </a:r>
            <a:r>
              <a:rPr lang="en-US"/>
              <a:t>."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2DC1B-5EE6-4E9E-BDA6-98F2B20B4640}" type="slidenum">
              <a:rPr lang="nb-NO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7396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 </a:t>
            </a:r>
            <a:r>
              <a:rPr lang="en-US" err="1"/>
              <a:t>fleste</a:t>
            </a:r>
            <a:r>
              <a:rPr lang="en-US"/>
              <a:t> </a:t>
            </a:r>
            <a:r>
              <a:rPr lang="en-US" err="1"/>
              <a:t>oppgavene</a:t>
            </a:r>
            <a:r>
              <a:rPr lang="en-US"/>
              <a:t> </a:t>
            </a:r>
            <a:r>
              <a:rPr lang="en-US" err="1"/>
              <a:t>ble</a:t>
            </a:r>
            <a:r>
              <a:rPr lang="en-US"/>
              <a:t> </a:t>
            </a:r>
            <a:r>
              <a:rPr lang="en-US" err="1"/>
              <a:t>løst</a:t>
            </a:r>
            <a:r>
              <a:rPr lang="en-US"/>
              <a:t> </a:t>
            </a:r>
            <a:r>
              <a:rPr lang="en-US" err="1"/>
              <a:t>raskt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uten</a:t>
            </a:r>
            <a:r>
              <a:rPr lang="en-US"/>
              <a:t> </a:t>
            </a:r>
            <a:r>
              <a:rPr lang="en-US" err="1"/>
              <a:t>hjelp</a:t>
            </a:r>
            <a:r>
              <a:rPr lang="en-US"/>
              <a:t>. </a:t>
            </a:r>
            <a:r>
              <a:rPr lang="en-US" err="1"/>
              <a:t>Innlogging</a:t>
            </a:r>
            <a:r>
              <a:rPr lang="en-US"/>
              <a:t>, </a:t>
            </a:r>
            <a:r>
              <a:rPr lang="en-US" err="1"/>
              <a:t>eiendomsinfo</a:t>
            </a:r>
            <a:r>
              <a:rPr lang="en-US"/>
              <a:t>, </a:t>
            </a:r>
            <a:r>
              <a:rPr lang="en-US" err="1"/>
              <a:t>avfall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avgifter</a:t>
            </a:r>
            <a:r>
              <a:rPr lang="en-US"/>
              <a:t> </a:t>
            </a:r>
            <a:r>
              <a:rPr lang="en-US" err="1"/>
              <a:t>fungerte</a:t>
            </a:r>
            <a:r>
              <a:rPr lang="en-US"/>
              <a:t> </a:t>
            </a:r>
            <a:r>
              <a:rPr lang="en-US" err="1"/>
              <a:t>særlig</a:t>
            </a:r>
            <a:r>
              <a:rPr lang="en-US"/>
              <a:t> bra.</a:t>
            </a:r>
            <a:endParaRPr lang="nb-NO"/>
          </a:p>
          <a:p>
            <a:r>
              <a:rPr lang="en-US" err="1"/>
              <a:t>Samtidig</a:t>
            </a:r>
            <a:r>
              <a:rPr lang="en-US"/>
              <a:t> </a:t>
            </a:r>
            <a:r>
              <a:rPr lang="en-US" err="1"/>
              <a:t>avdekket</a:t>
            </a:r>
            <a:r>
              <a:rPr lang="en-US"/>
              <a:t> </a:t>
            </a:r>
            <a:r>
              <a:rPr lang="en-US" err="1"/>
              <a:t>testen</a:t>
            </a:r>
            <a:r>
              <a:rPr lang="en-US"/>
              <a:t> </a:t>
            </a:r>
            <a:r>
              <a:rPr lang="en-US" err="1"/>
              <a:t>konkrete</a:t>
            </a:r>
            <a:r>
              <a:rPr lang="en-US"/>
              <a:t> </a:t>
            </a:r>
            <a:r>
              <a:rPr lang="en-US" err="1"/>
              <a:t>forbedringsområder</a:t>
            </a:r>
            <a:r>
              <a:rPr lang="en-US"/>
              <a:t>. Det </a:t>
            </a:r>
            <a:r>
              <a:rPr lang="en-US" err="1"/>
              <a:t>største</a:t>
            </a:r>
            <a:r>
              <a:rPr lang="en-US"/>
              <a:t> </a:t>
            </a:r>
            <a:r>
              <a:rPr lang="en-US" err="1"/>
              <a:t>problemet</a:t>
            </a:r>
            <a:r>
              <a:rPr lang="en-US"/>
              <a:t> var radius-</a:t>
            </a:r>
            <a:r>
              <a:rPr lang="en-US" err="1"/>
              <a:t>slideren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nabolisten</a:t>
            </a:r>
            <a:r>
              <a:rPr lang="en-US"/>
              <a:t>, </a:t>
            </a:r>
            <a:r>
              <a:rPr lang="en-US" err="1"/>
              <a:t>som</a:t>
            </a:r>
            <a:r>
              <a:rPr lang="en-US"/>
              <a:t> mange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oppdaget</a:t>
            </a:r>
            <a:r>
              <a:rPr lang="en-US"/>
              <a:t> – </a:t>
            </a:r>
            <a:r>
              <a:rPr lang="en-US" err="1"/>
              <a:t>flere</a:t>
            </a:r>
            <a:r>
              <a:rPr lang="en-US"/>
              <a:t> </a:t>
            </a:r>
            <a:r>
              <a:rPr lang="en-US" err="1"/>
              <a:t>prøvde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stedet</a:t>
            </a:r>
            <a:r>
              <a:rPr lang="en-US"/>
              <a:t> å </a:t>
            </a:r>
            <a:r>
              <a:rPr lang="en-US" err="1"/>
              <a:t>skrive</a:t>
            </a:r>
            <a:r>
              <a:rPr lang="en-US"/>
              <a:t> inn radius </a:t>
            </a:r>
            <a:r>
              <a:rPr lang="en-US" err="1"/>
              <a:t>manuelt</a:t>
            </a:r>
            <a:r>
              <a:rPr lang="en-US"/>
              <a:t>. "</a:t>
            </a:r>
            <a:r>
              <a:rPr lang="en-US" err="1"/>
              <a:t>Åpne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e-post"-</a:t>
            </a:r>
            <a:r>
              <a:rPr lang="en-US" err="1"/>
              <a:t>knappen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nabovarselet</a:t>
            </a:r>
            <a:r>
              <a:rPr lang="en-US"/>
              <a:t> </a:t>
            </a:r>
            <a:r>
              <a:rPr lang="en-US" err="1"/>
              <a:t>skapte</a:t>
            </a:r>
            <a:r>
              <a:rPr lang="en-US"/>
              <a:t> </a:t>
            </a:r>
            <a:r>
              <a:rPr lang="en-US" err="1"/>
              <a:t>forvirring</a:t>
            </a:r>
            <a:r>
              <a:rPr lang="en-US"/>
              <a:t>,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informasjonen</a:t>
            </a:r>
            <a:r>
              <a:rPr lang="en-US"/>
              <a:t> om </a:t>
            </a:r>
            <a:r>
              <a:rPr lang="en-US" err="1"/>
              <a:t>vann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avløp</a:t>
            </a:r>
            <a:r>
              <a:rPr lang="en-US"/>
              <a:t> var for </a:t>
            </a:r>
            <a:r>
              <a:rPr lang="en-US" err="1"/>
              <a:t>godt</a:t>
            </a:r>
            <a:r>
              <a:rPr lang="en-US"/>
              <a:t> </a:t>
            </a:r>
            <a:r>
              <a:rPr lang="en-US" err="1"/>
              <a:t>skjult</a:t>
            </a:r>
            <a:r>
              <a:rPr lang="en-US"/>
              <a:t> under Bygninger-</a:t>
            </a:r>
            <a:r>
              <a:rPr lang="en-US" err="1"/>
              <a:t>seksjonen</a:t>
            </a:r>
            <a:r>
              <a:rPr lang="en-US"/>
              <a:t>. </a:t>
            </a:r>
            <a:r>
              <a:rPr lang="en-US" err="1"/>
              <a:t>Flere</a:t>
            </a:r>
            <a:r>
              <a:rPr lang="en-US"/>
              <a:t> av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funnene</a:t>
            </a:r>
            <a:r>
              <a:rPr lang="en-US"/>
              <a:t> </a:t>
            </a:r>
            <a:r>
              <a:rPr lang="en-US" err="1"/>
              <a:t>ble</a:t>
            </a:r>
            <a:r>
              <a:rPr lang="en-US"/>
              <a:t> </a:t>
            </a:r>
            <a:r>
              <a:rPr lang="en-US" err="1"/>
              <a:t>rettet</a:t>
            </a:r>
            <a:r>
              <a:rPr lang="en-US"/>
              <a:t> </a:t>
            </a:r>
            <a:r>
              <a:rPr lang="en-US" err="1"/>
              <a:t>opp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påfølgende</a:t>
            </a:r>
            <a:r>
              <a:rPr lang="en-US"/>
              <a:t> </a:t>
            </a:r>
            <a:r>
              <a:rPr lang="en-US" err="1"/>
              <a:t>iterasjon</a:t>
            </a:r>
            <a:r>
              <a:rPr lang="en-US"/>
              <a:t>.</a:t>
            </a:r>
            <a:endParaRPr lang="nb-NO"/>
          </a:p>
          <a:p>
            <a:r>
              <a:rPr lang="en-US"/>
              <a:t>Det er </a:t>
            </a:r>
            <a:r>
              <a:rPr lang="en-US" err="1"/>
              <a:t>likevel</a:t>
            </a:r>
            <a:r>
              <a:rPr lang="en-US"/>
              <a:t> </a:t>
            </a:r>
            <a:r>
              <a:rPr lang="en-US" err="1"/>
              <a:t>viktig</a:t>
            </a:r>
            <a:r>
              <a:rPr lang="en-US"/>
              <a:t> å </a:t>
            </a:r>
            <a:r>
              <a:rPr lang="en-US" err="1"/>
              <a:t>påpeke</a:t>
            </a:r>
            <a:r>
              <a:rPr lang="en-US"/>
              <a:t> at med </a:t>
            </a:r>
            <a:r>
              <a:rPr lang="en-US" err="1"/>
              <a:t>kun</a:t>
            </a:r>
            <a:r>
              <a:rPr lang="en-US"/>
              <a:t> 12 </a:t>
            </a:r>
            <a:r>
              <a:rPr lang="en-US" err="1"/>
              <a:t>deltakere</a:t>
            </a:r>
            <a:r>
              <a:rPr lang="en-US"/>
              <a:t> er </a:t>
            </a:r>
            <a:r>
              <a:rPr lang="en-US" err="1"/>
              <a:t>utvalget</a:t>
            </a:r>
            <a:r>
              <a:rPr lang="en-US"/>
              <a:t> for lite </a:t>
            </a:r>
            <a:r>
              <a:rPr lang="en-US" err="1"/>
              <a:t>til</a:t>
            </a:r>
            <a:r>
              <a:rPr lang="en-US"/>
              <a:t> å </a:t>
            </a:r>
            <a:r>
              <a:rPr lang="en-US" err="1"/>
              <a:t>trekke</a:t>
            </a:r>
            <a:r>
              <a:rPr lang="en-US"/>
              <a:t> </a:t>
            </a:r>
            <a:r>
              <a:rPr lang="en-US" err="1"/>
              <a:t>konkrete</a:t>
            </a:r>
            <a:r>
              <a:rPr lang="en-US"/>
              <a:t> </a:t>
            </a:r>
            <a:r>
              <a:rPr lang="en-US" err="1"/>
              <a:t>konklusjoner</a:t>
            </a:r>
            <a:r>
              <a:rPr lang="en-US"/>
              <a:t>, men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gitt</a:t>
            </a:r>
            <a:r>
              <a:rPr lang="en-US"/>
              <a:t> </a:t>
            </a:r>
            <a:r>
              <a:rPr lang="en-US" err="1"/>
              <a:t>oss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pekepinne</a:t>
            </a:r>
            <a:r>
              <a:rPr lang="en-US"/>
              <a:t>. </a:t>
            </a:r>
            <a:r>
              <a:rPr lang="en-US" err="1"/>
              <a:t>Funnene</a:t>
            </a:r>
            <a:r>
              <a:rPr lang="en-US"/>
              <a:t> </a:t>
            </a:r>
            <a:r>
              <a:rPr lang="en-US" err="1"/>
              <a:t>reflekterer</a:t>
            </a:r>
            <a:r>
              <a:rPr lang="en-US"/>
              <a:t> </a:t>
            </a:r>
            <a:r>
              <a:rPr lang="en-US" err="1"/>
              <a:t>primært</a:t>
            </a:r>
            <a:r>
              <a:rPr lang="en-US"/>
              <a:t> </a:t>
            </a:r>
            <a:r>
              <a:rPr lang="en-US" err="1"/>
              <a:t>erfaringene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dem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faktisk</a:t>
            </a:r>
            <a:r>
              <a:rPr lang="en-US"/>
              <a:t> deltok.</a:t>
            </a:r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2DC1B-5EE6-4E9E-BDA6-98F2B20B4640}" type="slidenum">
              <a:rPr lang="nb-NO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15094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Vi </a:t>
            </a:r>
            <a:r>
              <a:rPr lang="en-US" dirty="0" err="1"/>
              <a:t>bygget</a:t>
            </a:r>
            <a:r>
              <a:rPr lang="en-US" dirty="0"/>
              <a:t> </a:t>
            </a:r>
            <a:r>
              <a:rPr lang="en-US" dirty="0" err="1"/>
              <a:t>løsningen</a:t>
            </a:r>
            <a:r>
              <a:rPr lang="en-US" dirty="0"/>
              <a:t> </a:t>
            </a:r>
            <a:r>
              <a:rPr lang="en-US" dirty="0" err="1"/>
              <a:t>rundt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UX-</a:t>
            </a:r>
            <a:r>
              <a:rPr lang="en-US" dirty="0" err="1"/>
              <a:t>prinsipper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 Jakob's law - </a:t>
            </a:r>
            <a:r>
              <a:rPr lang="en-US" dirty="0" err="1"/>
              <a:t>løsningen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kjennes</a:t>
            </a:r>
            <a:r>
              <a:rPr lang="en-US" dirty="0"/>
              <a:t> </a:t>
            </a:r>
            <a:r>
              <a:rPr lang="en-US" dirty="0" err="1"/>
              <a:t>igjen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andre</a:t>
            </a:r>
            <a:r>
              <a:rPr lang="en-US" dirty="0"/>
              <a:t> </a:t>
            </a:r>
            <a:r>
              <a:rPr lang="en-US" dirty="0" err="1"/>
              <a:t>nettsider</a:t>
            </a:r>
            <a:r>
              <a:rPr lang="en-US" dirty="0"/>
              <a:t>. I </a:t>
            </a:r>
            <a:r>
              <a:rPr lang="en-US" dirty="0" err="1"/>
              <a:t>praksis</a:t>
            </a:r>
            <a:r>
              <a:rPr lang="en-US" dirty="0"/>
              <a:t> </a:t>
            </a:r>
            <a:r>
              <a:rPr lang="en-US" dirty="0" err="1"/>
              <a:t>betyr</a:t>
            </a:r>
            <a:r>
              <a:rPr lang="en-US" dirty="0"/>
              <a:t> det </a:t>
            </a:r>
            <a:r>
              <a:rPr lang="en-US" dirty="0" err="1"/>
              <a:t>navigasjon</a:t>
            </a:r>
            <a:r>
              <a:rPr lang="en-US" dirty="0"/>
              <a:t> </a:t>
            </a:r>
            <a:r>
              <a:rPr lang="en-US" dirty="0" err="1"/>
              <a:t>øverst</a:t>
            </a:r>
            <a:r>
              <a:rPr lang="en-US" dirty="0"/>
              <a:t>, </a:t>
            </a:r>
            <a:r>
              <a:rPr lang="en-US" dirty="0" err="1"/>
              <a:t>gjenkjennbare</a:t>
            </a:r>
            <a:r>
              <a:rPr lang="en-US" dirty="0"/>
              <a:t> </a:t>
            </a:r>
            <a:r>
              <a:rPr lang="en-US" dirty="0" err="1"/>
              <a:t>ikoner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footer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ligner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kommunens</a:t>
            </a:r>
            <a:r>
              <a:rPr lang="en-US" dirty="0"/>
              <a:t> </a:t>
            </a:r>
            <a:r>
              <a:rPr lang="en-US" dirty="0" err="1"/>
              <a:t>egne</a:t>
            </a:r>
            <a:r>
              <a:rPr lang="en-US" dirty="0"/>
              <a:t> sider. 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Miller's law </a:t>
            </a:r>
            <a:r>
              <a:rPr lang="en-US" dirty="0" err="1"/>
              <a:t>og</a:t>
            </a:r>
            <a:r>
              <a:rPr lang="en-US" dirty="0"/>
              <a:t> chunking – vi </a:t>
            </a:r>
            <a:r>
              <a:rPr lang="en-US" dirty="0" err="1"/>
              <a:t>unngår</a:t>
            </a:r>
            <a:r>
              <a:rPr lang="en-US" dirty="0"/>
              <a:t> å </a:t>
            </a:r>
            <a:r>
              <a:rPr lang="en-US" dirty="0" err="1"/>
              <a:t>overvelde</a:t>
            </a:r>
            <a:r>
              <a:rPr lang="en-US" dirty="0"/>
              <a:t> </a:t>
            </a:r>
            <a:r>
              <a:rPr lang="en-US" dirty="0" err="1"/>
              <a:t>brukere</a:t>
            </a:r>
            <a:r>
              <a:rPr lang="en-US" dirty="0"/>
              <a:t> med for </a:t>
            </a:r>
            <a:r>
              <a:rPr lang="en-US" dirty="0" err="1"/>
              <a:t>mye</a:t>
            </a:r>
            <a:r>
              <a:rPr lang="en-US" dirty="0"/>
              <a:t> </a:t>
            </a:r>
            <a:r>
              <a:rPr lang="en-US" dirty="0" err="1"/>
              <a:t>informasjon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gang,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samler</a:t>
            </a:r>
            <a:r>
              <a:rPr lang="en-US" dirty="0"/>
              <a:t> </a:t>
            </a:r>
            <a:r>
              <a:rPr lang="en-US" dirty="0" err="1"/>
              <a:t>relatert</a:t>
            </a:r>
            <a:r>
              <a:rPr lang="en-US" dirty="0"/>
              <a:t> </a:t>
            </a:r>
            <a:r>
              <a:rPr lang="en-US" dirty="0" err="1"/>
              <a:t>informasjon</a:t>
            </a:r>
            <a:r>
              <a:rPr lang="en-US" dirty="0"/>
              <a:t> I </a:t>
            </a:r>
            <a:r>
              <a:rPr lang="en-US" dirty="0" err="1"/>
              <a:t>tydelige</a:t>
            </a:r>
            <a:r>
              <a:rPr lang="en-US" dirty="0"/>
              <a:t> </a:t>
            </a:r>
            <a:r>
              <a:rPr lang="en-US" dirty="0" err="1"/>
              <a:t>kort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seksjoner</a:t>
            </a:r>
            <a:r>
              <a:rPr lang="en-US" dirty="0"/>
              <a:t>,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vi </a:t>
            </a:r>
            <a:r>
              <a:rPr lang="en-US" dirty="0" err="1"/>
              <a:t>vil</a:t>
            </a:r>
            <a:r>
              <a:rPr lang="en-US" dirty="0"/>
              <a:t> vise I </a:t>
            </a:r>
            <a:r>
              <a:rPr lang="en-US" dirty="0" err="1"/>
              <a:t>gjennomgangen</a:t>
            </a:r>
            <a:r>
              <a:rPr lang="en-US" dirty="0"/>
              <a:t> av </a:t>
            </a:r>
            <a:r>
              <a:rPr lang="en-US" dirty="0" err="1"/>
              <a:t>løsningen</a:t>
            </a:r>
            <a:r>
              <a:rPr lang="en-US" dirty="0"/>
              <a:t> </a:t>
            </a:r>
            <a:r>
              <a:rPr lang="en-US" dirty="0" err="1"/>
              <a:t>etterpå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r>
              <a:rPr lang="en-US" dirty="0"/>
              <a:t>For </a:t>
            </a:r>
            <a:r>
              <a:rPr lang="en-US" dirty="0" err="1"/>
              <a:t>universell</a:t>
            </a:r>
            <a:r>
              <a:rPr lang="en-US" dirty="0"/>
              <a:t> </a:t>
            </a:r>
            <a:r>
              <a:rPr lang="en-US" dirty="0" err="1"/>
              <a:t>utforming</a:t>
            </a:r>
            <a:r>
              <a:rPr lang="en-US" dirty="0"/>
              <a:t> </a:t>
            </a:r>
            <a:r>
              <a:rPr lang="en-US" dirty="0" err="1"/>
              <a:t>fulgte</a:t>
            </a:r>
            <a:r>
              <a:rPr lang="en-US" dirty="0"/>
              <a:t> vi WCAG AA-</a:t>
            </a:r>
            <a:r>
              <a:rPr lang="en-US" dirty="0" err="1"/>
              <a:t>nivå</a:t>
            </a:r>
            <a:r>
              <a:rPr lang="en-US" dirty="0"/>
              <a:t>, </a:t>
            </a:r>
            <a:r>
              <a:rPr lang="en-US" dirty="0" err="1"/>
              <a:t>avgrenset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design, </a:t>
            </a:r>
            <a:r>
              <a:rPr lang="en-US" dirty="0" err="1"/>
              <a:t>kontrast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navigasjon</a:t>
            </a:r>
            <a:r>
              <a:rPr lang="en-US" dirty="0"/>
              <a:t>. Vi </a:t>
            </a:r>
            <a:r>
              <a:rPr lang="en-US" dirty="0" err="1"/>
              <a:t>testet</a:t>
            </a:r>
            <a:r>
              <a:rPr lang="en-US" dirty="0"/>
              <a:t> </a:t>
            </a:r>
            <a:r>
              <a:rPr lang="en-US" dirty="0" err="1"/>
              <a:t>kontrasten</a:t>
            </a:r>
            <a:r>
              <a:rPr lang="en-US" dirty="0"/>
              <a:t> med Lighthouse (</a:t>
            </a:r>
            <a:r>
              <a:rPr lang="en-US" dirty="0" err="1"/>
              <a:t>som</a:t>
            </a:r>
            <a:r>
              <a:rPr lang="en-US" dirty="0"/>
              <a:t> er et </a:t>
            </a:r>
            <a:r>
              <a:rPr lang="en-US" dirty="0" err="1"/>
              <a:t>innebygd</a:t>
            </a:r>
            <a:r>
              <a:rPr lang="en-US" dirty="0"/>
              <a:t> chrome </a:t>
            </a:r>
            <a:r>
              <a:rPr lang="en-US" dirty="0" err="1"/>
              <a:t>verktøy</a:t>
            </a:r>
            <a:r>
              <a:rPr lang="en-US" dirty="0"/>
              <a:t>), </a:t>
            </a:r>
            <a:r>
              <a:rPr lang="en-US" dirty="0" err="1"/>
              <a:t>avdekket</a:t>
            </a:r>
            <a:r>
              <a:rPr lang="en-US" dirty="0"/>
              <a:t> </a:t>
            </a:r>
            <a:r>
              <a:rPr lang="en-US" dirty="0" err="1"/>
              <a:t>svakheter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rettet</a:t>
            </a:r>
            <a:r>
              <a:rPr lang="en-US" dirty="0"/>
              <a:t> dem. Siden </a:t>
            </a:r>
            <a:r>
              <a:rPr lang="en-US" dirty="0" err="1"/>
              <a:t>dette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POC er </a:t>
            </a:r>
            <a:r>
              <a:rPr lang="en-US" dirty="0" err="1"/>
              <a:t>skjermleserstøtte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implementert</a:t>
            </a:r>
            <a:r>
              <a:rPr lang="en-US" dirty="0"/>
              <a:t>,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ville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nødvendig</a:t>
            </a:r>
            <a:r>
              <a:rPr lang="en-US" dirty="0"/>
              <a:t> I </a:t>
            </a:r>
            <a:r>
              <a:rPr lang="en-US" dirty="0" err="1"/>
              <a:t>produksjon</a:t>
            </a:r>
            <a:r>
              <a:rPr lang="en-US" dirty="0"/>
              <a:t>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/>
          </a:p>
          <a:p>
            <a:r>
              <a:rPr lang="en-US" dirty="0"/>
              <a:t>Som </a:t>
            </a:r>
            <a:r>
              <a:rPr lang="en-US" dirty="0" err="1"/>
              <a:t>nevnt</a:t>
            </a:r>
            <a:r>
              <a:rPr lang="en-US" dirty="0"/>
              <a:t> </a:t>
            </a:r>
            <a:r>
              <a:rPr lang="en-US" dirty="0" err="1"/>
              <a:t>tidligere</a:t>
            </a:r>
            <a:r>
              <a:rPr lang="en-US" dirty="0"/>
              <a:t> </a:t>
            </a:r>
            <a:r>
              <a:rPr lang="en-US" dirty="0" err="1"/>
              <a:t>fikk</a:t>
            </a:r>
            <a:r>
              <a:rPr lang="en-US" dirty="0"/>
              <a:t> </a:t>
            </a:r>
            <a:r>
              <a:rPr lang="en-US" dirty="0" err="1"/>
              <a:t>løsningen</a:t>
            </a:r>
            <a:r>
              <a:rPr lang="en-US" dirty="0"/>
              <a:t> </a:t>
            </a:r>
            <a:r>
              <a:rPr lang="en-US" dirty="0" err="1"/>
              <a:t>vår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SUS score </a:t>
            </a:r>
            <a:r>
              <a:rPr lang="en-US" dirty="0" err="1"/>
              <a:t>på</a:t>
            </a:r>
            <a:r>
              <a:rPr lang="en-US" dirty="0"/>
              <a:t> 85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fungerer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pekepinne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at de </a:t>
            </a:r>
            <a:r>
              <a:rPr lang="en-US" dirty="0" err="1"/>
              <a:t>bevisste</a:t>
            </a:r>
            <a:r>
              <a:rPr lang="en-US" dirty="0"/>
              <a:t> </a:t>
            </a:r>
            <a:r>
              <a:rPr lang="en-US" dirty="0" err="1"/>
              <a:t>ux-valgene</a:t>
            </a:r>
            <a:r>
              <a:rPr lang="en-US" dirty="0"/>
              <a:t> </a:t>
            </a:r>
            <a:r>
              <a:rPr lang="en-US" dirty="0" err="1"/>
              <a:t>bidrar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løsningen</a:t>
            </a:r>
            <a:r>
              <a:rPr lang="en-US" dirty="0"/>
              <a:t>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tas</a:t>
            </a:r>
            <a:r>
              <a:rPr lang="en-US" dirty="0"/>
              <a:t> I bruk av et </a:t>
            </a:r>
            <a:r>
              <a:rPr lang="en-US" dirty="0" err="1"/>
              <a:t>bredt</a:t>
            </a:r>
            <a:r>
              <a:rPr lang="en-US" dirty="0"/>
              <a:t> </a:t>
            </a:r>
            <a:r>
              <a:rPr lang="en-US" dirty="0" err="1"/>
              <a:t>brukerspekter</a:t>
            </a:r>
            <a:r>
              <a:rPr lang="en-US" dirty="0"/>
              <a:t>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særlig</a:t>
            </a:r>
            <a:r>
              <a:rPr lang="en-US" dirty="0"/>
              <a:t> </a:t>
            </a:r>
            <a:r>
              <a:rPr lang="en-US" dirty="0" err="1"/>
              <a:t>opplæring</a:t>
            </a:r>
            <a:r>
              <a:rPr lang="en-US" dirty="0"/>
              <a:t>,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er </a:t>
            </a:r>
            <a:r>
              <a:rPr lang="en-US" dirty="0" err="1"/>
              <a:t>avgjørende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målet</a:t>
            </a:r>
            <a:r>
              <a:rPr lang="en-US" dirty="0"/>
              <a:t> er at </a:t>
            </a:r>
            <a:r>
              <a:rPr lang="en-US" dirty="0" err="1"/>
              <a:t>løsningen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fungere</a:t>
            </a:r>
            <a:r>
              <a:rPr lang="en-US" dirty="0"/>
              <a:t> for </a:t>
            </a:r>
            <a:r>
              <a:rPr lang="en-US" dirty="0" err="1"/>
              <a:t>innbyggere</a:t>
            </a:r>
            <a:r>
              <a:rPr lang="en-US" dirty="0"/>
              <a:t> I hele Norge.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2DC1B-5EE6-4E9E-BDA6-98F2B20B4640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54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Nevne </a:t>
            </a:r>
            <a:r>
              <a:rPr lang="nb-NO" dirty="0" err="1"/>
              <a:t>endreinger</a:t>
            </a:r>
            <a:r>
              <a:rPr lang="nb-NO" dirty="0"/>
              <a:t> gjort etter brukertester. Bygninger knapp istedenfor nedtrykk meny. Naboliste redesignet for bedre flyt</a:t>
            </a:r>
          </a:p>
          <a:p>
            <a:endParaRPr lang="nb-NO" dirty="0"/>
          </a:p>
          <a:p>
            <a:r>
              <a:rPr lang="nb-NO" dirty="0"/>
              <a:t>Nevne endringer gjort etter levering av rapport. Fikset lenke til </a:t>
            </a:r>
            <a:r>
              <a:rPr lang="nb-NO" dirty="0" err="1"/>
              <a:t>DiBK</a:t>
            </a:r>
            <a:r>
              <a:rPr lang="nb-NO" dirty="0"/>
              <a:t> veiviser så det kobles til en annens gruppe løsning.  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2DC1B-5EE6-4E9E-BDA6-98F2B20B4640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85992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F25BE-96A4-724D-83F6-175F93B46C26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669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9475-A655-B5C2-0F72-F9B2CB4D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5F4405EF-A84B-CA7F-C8C4-48589E3A6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B53D7ED4-635D-F2A2-80BB-04B0785D4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ABCA5DE-E9FF-C443-C0BB-69C717296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F25BE-96A4-724D-83F6-175F93B46C26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245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44A8-220F-B3AC-6057-48199B00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1EB0C1C-34A1-9D48-CB8B-A108027A8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CC7942FC-BD58-4CF5-756B-E80AF6DF4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FD77F82-BEC8-DA36-3ED0-C5259F8F2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F25BE-96A4-724D-83F6-175F93B46C26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06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2DC1B-5EE6-4E9E-BDA6-98F2B20B4640}" type="slidenum">
              <a:rPr lang="nb-NO" smtClean="0"/>
              <a:t>20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266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6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8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1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8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3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43BDC-0553-40FA-A4DB-EDAAA606CFF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team-delta.geokrs.no/#min-eiend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dmin.team-delta.geokrs.no/admin/snippets/cms_app/kommuneconfi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15.svg"/><Relationship Id="rId10" Type="http://schemas.openxmlformats.org/officeDocument/2006/relationships/image" Target="../media/image14.svg"/><Relationship Id="rId4" Type="http://schemas.openxmlformats.org/officeDocument/2006/relationships/image" Target="../media/image9.svg"/><Relationship Id="rId9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15.svg"/><Relationship Id="rId10" Type="http://schemas.openxmlformats.org/officeDocument/2006/relationships/image" Target="../media/image14.svg"/><Relationship Id="rId4" Type="http://schemas.openxmlformats.org/officeDocument/2006/relationships/image" Target="../media/image9.svg"/><Relationship Id="rId9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dieforskerkonferansen 2026 - Universitetet i Agder">
            <a:extLst>
              <a:ext uri="{FF2B5EF4-FFF2-40B4-BE49-F238E27FC236}">
                <a16:creationId xmlns:a16="http://schemas.microsoft.com/office/drawing/2014/main" id="{6D0902C2-6D57-ECA7-34D1-B3A6C5E2B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rkOverlay">
            <a:extLst>
              <a:ext uri="{FF2B5EF4-FFF2-40B4-BE49-F238E27FC236}">
                <a16:creationId xmlns:a16="http://schemas.microsoft.com/office/drawing/2014/main" id="{3D75241B-3581-A649-9CA1-EF00BB629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>
              <a:alpha val="50000"/>
            </a:srgbClr>
          </a:solidFill>
          <a:ln w="1397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nb-NO" sz="5400" b="1">
                <a:solidFill>
                  <a:srgbClr val="FFFFFF"/>
                </a:solidFill>
              </a:rPr>
              <a:t>Min Eiendom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nb-NO" sz="2000">
                <a:solidFill>
                  <a:srgbClr val="90E0EF"/>
                </a:solidFill>
              </a:rPr>
              <a:t>Fremtidens nasjonale eiendomsplattform</a:t>
            </a:r>
          </a:p>
          <a:p>
            <a:r>
              <a:rPr lang="nb-NO" sz="1400">
                <a:solidFill>
                  <a:srgbClr val="C8D8E4"/>
                </a:solidFill>
              </a:rPr>
              <a:t>Gruppe 11 |  Bachelorprosjekt 2026  |  UiA</a:t>
            </a:r>
            <a:endParaRPr lang="nb-NO" sz="1400">
              <a:solidFill>
                <a:srgbClr val="C8D8E4"/>
              </a:solidFill>
              <a:cs typeface="Segoe UI"/>
            </a:endParaRPr>
          </a:p>
        </p:txBody>
      </p:sp>
      <p:sp>
        <p:nvSpPr>
          <p:cNvPr id="50" name="TitleAccent"/>
          <p:cNvSpPr/>
          <p:nvPr/>
        </p:nvSpPr>
        <p:spPr>
          <a:xfrm>
            <a:off x="3810000" y="4800600"/>
            <a:ext cx="4572000" cy="45720"/>
          </a:xfrm>
          <a:prstGeom prst="rect">
            <a:avLst/>
          </a:prstGeom>
          <a:gradFill>
            <a:gsLst>
              <a:gs pos="0">
                <a:srgbClr val="00B4D8">
                  <a:alpha val="0"/>
                </a:srgbClr>
              </a:gs>
              <a:gs pos="50000">
                <a:srgbClr val="00B4D8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637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922 -0.13054" pathEditMode="relative" ptsTypes="AA">
                                      <p:cBhvr>
                                        <p:cTn id="6" dur="30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22 -0.13054 L 0 0" pathEditMode="relative" ptsTypes="AA">
                                      <p:cBhvr>
                                        <p:cTn id="11" dur="30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3" dur="30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A263-49F6-EA92-3FE9-1C5654651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nb-NO" sz="3200" b="1">
                <a:solidFill>
                  <a:srgbClr val="1A2B3C"/>
                </a:solidFill>
              </a:rPr>
              <a:t>Oppgaven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3117DE79-C91B-060C-7D54-6DEDB3039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0299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6667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9D5DB-B018-60CD-078E-06178296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2134CB-6465-AFED-20BE-BC33F01E1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8BEB8E9-8B3D-B90F-2CC7-F59E25FC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Dagens </a:t>
            </a:r>
            <a:r>
              <a:rPr lang="en-US" sz="3600" err="1"/>
              <a:t>løsning</a:t>
            </a:r>
            <a:endParaRPr lang="nb-NO" err="1"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CA520-49F5-EB2E-5D47-67DEF91D5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AB9D7-69B1-D293-DF82-77D8C7CA3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9094C-F864-7A81-7F5C-D3896C66D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EDA4F3AC-EC47-07DB-2AA7-89DDEDD60B17}"/>
              </a:ext>
            </a:extLst>
          </p:cNvPr>
          <p:cNvSpPr txBox="1"/>
          <p:nvPr/>
        </p:nvSpPr>
        <p:spPr>
          <a:xfrm>
            <a:off x="7254777" y="2209777"/>
            <a:ext cx="4267219" cy="382199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Mye "scrolling"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ea typeface="+mn-lt"/>
                <a:cs typeface="+mn-lt"/>
              </a:rPr>
              <a:t>Uoversiktlig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Spredt informasjon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5E94AB-0BB9-26EB-CA5C-B0D4AA38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Bilde 16" descr="Et bilde som inneholder tekst, skjermbilde, Parallell, nummer&#10;&#10;KI-generert innhold kan være feil.">
            <a:extLst>
              <a:ext uri="{FF2B5EF4-FFF2-40B4-BE49-F238E27FC236}">
                <a16:creationId xmlns:a16="http://schemas.microsoft.com/office/drawing/2014/main" id="{EB1496DB-425E-585A-5173-29FE68826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80" y="357352"/>
            <a:ext cx="5091377" cy="2618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2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0EAFE-BB14-BB13-7751-08499E7B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F9F4D3-85EF-E296-A48F-7851FF4B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EDA33AF-937B-0EF6-AE50-22E1B4F2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Dagens </a:t>
            </a:r>
            <a:r>
              <a:rPr lang="en-US" sz="3600" err="1"/>
              <a:t>løsning</a:t>
            </a:r>
            <a:endParaRPr lang="nb-NO" err="1"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A5194-A650-F6CD-8C13-C096E68A8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FD09A7-8A28-26D7-55E7-BE5525F8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74E79-C691-3B58-04EA-76F244CC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C174EF54-BAFB-C61C-20A4-31FBB7685C7E}"/>
              </a:ext>
            </a:extLst>
          </p:cNvPr>
          <p:cNvSpPr txBox="1"/>
          <p:nvPr/>
        </p:nvSpPr>
        <p:spPr>
          <a:xfrm>
            <a:off x="7254777" y="2209777"/>
            <a:ext cx="4267219" cy="382199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Mye "scrolling"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ea typeface="+mn-lt"/>
                <a:cs typeface="+mn-lt"/>
              </a:rPr>
              <a:t>Uoversiktlig</a:t>
            </a:r>
            <a:endParaRPr lang="en-US" sz="2000" err="1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Spredt</a:t>
            </a:r>
            <a:r>
              <a:rPr lang="en-US" sz="2000"/>
              <a:t> </a:t>
            </a:r>
            <a:r>
              <a:rPr lang="en-US" sz="2000" err="1"/>
              <a:t>informasjon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426E0A-7F4A-4B50-6695-61F17FE01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Bilde 2" descr="Et bilde som inneholder tekst, skjermbilde, Parallell, nummer&#10;&#10;KI-generert innhold kan være feil.">
            <a:extLst>
              <a:ext uri="{FF2B5EF4-FFF2-40B4-BE49-F238E27FC236}">
                <a16:creationId xmlns:a16="http://schemas.microsoft.com/office/drawing/2014/main" id="{5AB4B790-3B86-FFD7-9160-2052844B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62" y="-18920309"/>
            <a:ext cx="5091377" cy="2618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53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83A51FC-B06F-06F2-B32A-0C15ACBE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Vår </a:t>
            </a:r>
            <a:r>
              <a:rPr lang="en-US" sz="36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løsning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lassholder for innhold 3" descr="Et bilde som inneholder tekst, skjermbilde, Font, nummer&#10;&#10;KI-generert innhold kan være feil.">
            <a:extLst>
              <a:ext uri="{FF2B5EF4-FFF2-40B4-BE49-F238E27FC236}">
                <a16:creationId xmlns:a16="http://schemas.microsoft.com/office/drawing/2014/main" id="{A2B4B7F0-EB05-E384-2DCC-B1C4B3400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96" b="123"/>
          <a:stretch>
            <a:fillRect/>
          </a:stretch>
        </p:blipFill>
        <p:spPr>
          <a:xfrm>
            <a:off x="576244" y="1129460"/>
            <a:ext cx="5628018" cy="43662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B10808A6-DB57-1E13-4E8C-3C3A23EC04AE}"/>
              </a:ext>
            </a:extLst>
          </p:cNvPr>
          <p:cNvSpPr txBox="1"/>
          <p:nvPr/>
        </p:nvSpPr>
        <p:spPr>
          <a:xfrm>
            <a:off x="7239012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Overskikkelig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Samlet </a:t>
            </a:r>
            <a:r>
              <a:rPr lang="en-US" err="1"/>
              <a:t>informasjon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Brukervennlig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49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3A2B058-9272-E6D1-DB68-2BEEAE12E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nb-NO" sz="3700"/>
              <a:t>Testmetode og resultat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49BF9D7-41B7-8742-FF73-DFA91FEAA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682" y="2401447"/>
            <a:ext cx="4983434" cy="4204976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nb-NO" sz="2000">
                <a:ea typeface="+mn-lt"/>
                <a:cs typeface="+mn-lt"/>
              </a:rPr>
              <a:t>3 faser</a:t>
            </a:r>
            <a:endParaRPr lang="nb-NO" sz="2000"/>
          </a:p>
          <a:p>
            <a:endParaRPr lang="nb-NO" sz="2000">
              <a:ea typeface="+mn-lt"/>
              <a:cs typeface="+mn-lt"/>
            </a:endParaRPr>
          </a:p>
          <a:p>
            <a:r>
              <a:rPr lang="nb-NO" sz="2000">
                <a:ea typeface="+mn-lt"/>
                <a:cs typeface="+mn-lt"/>
              </a:rPr>
              <a:t>3 protyper</a:t>
            </a:r>
          </a:p>
          <a:p>
            <a:pPr marL="0" indent="0">
              <a:buNone/>
            </a:pPr>
            <a:endParaRPr lang="nb-NO" sz="2000">
              <a:ea typeface="+mn-lt"/>
              <a:cs typeface="+mn-lt"/>
            </a:endParaRPr>
          </a:p>
          <a:p>
            <a:r>
              <a:rPr lang="nb-NO" sz="2000">
                <a:ea typeface="+mn-lt"/>
                <a:cs typeface="+mn-lt"/>
              </a:rPr>
              <a:t>14 definerte oppgaver.</a:t>
            </a:r>
          </a:p>
          <a:p>
            <a:pPr marL="0" indent="0">
              <a:buNone/>
            </a:pPr>
            <a:endParaRPr lang="nb-NO" sz="2000">
              <a:ea typeface="+mn-lt"/>
              <a:cs typeface="+mn-lt"/>
            </a:endParaRPr>
          </a:p>
          <a:p>
            <a:r>
              <a:rPr lang="nb-NO" sz="2000">
                <a:ea typeface="+mn-lt"/>
                <a:cs typeface="+mn-lt"/>
              </a:rPr>
              <a:t>Tenk-høyt: avdekker friksjon i sanntid</a:t>
            </a:r>
            <a:endParaRPr lang="nb-NO" sz="2000"/>
          </a:p>
          <a:p>
            <a:pPr marL="0" indent="0">
              <a:buNone/>
            </a:pPr>
            <a:endParaRPr lang="nb-NO" sz="2000">
              <a:ea typeface="+mn-lt"/>
              <a:cs typeface="+mn-lt"/>
            </a:endParaRPr>
          </a:p>
          <a:p>
            <a:r>
              <a:rPr lang="nb-NO" sz="2000">
                <a:ea typeface="+mn-lt"/>
                <a:cs typeface="+mn-lt"/>
              </a:rPr>
              <a:t>SUS: standardisert, sammenlignbart mål</a:t>
            </a:r>
            <a:endParaRPr lang="nb-NO" sz="2000"/>
          </a:p>
          <a:p>
            <a:pPr marL="0" indent="0">
              <a:buNone/>
            </a:pPr>
            <a:endParaRPr lang="nb-NO" sz="2000">
              <a:ea typeface="+mn-lt"/>
              <a:cs typeface="+mn-lt"/>
            </a:endParaRPr>
          </a:p>
          <a:p>
            <a:r>
              <a:rPr lang="nb-NO" sz="2000">
                <a:ea typeface="+mn-lt"/>
                <a:cs typeface="+mn-lt"/>
              </a:rPr>
              <a:t>Iterativ tilnærming – funn brukt videre</a:t>
            </a:r>
            <a:endParaRPr lang="nb-NO" sz="2000"/>
          </a:p>
          <a:p>
            <a:endParaRPr lang="nb-NO" sz="200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251129AA-59FA-66BB-C277-D6C2B1040ACE}"/>
              </a:ext>
            </a:extLst>
          </p:cNvPr>
          <p:cNvSpPr/>
          <p:nvPr/>
        </p:nvSpPr>
        <p:spPr>
          <a:xfrm>
            <a:off x="5905417" y="1247832"/>
            <a:ext cx="1811918" cy="8668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/>
              <a:t>Fase 1</a:t>
            </a:r>
          </a:p>
          <a:p>
            <a:pPr algn="ctr"/>
            <a:r>
              <a:rPr lang="nb-NO"/>
              <a:t>Dagens løsning</a:t>
            </a:r>
          </a:p>
        </p:txBody>
      </p:sp>
      <p:sp>
        <p:nvSpPr>
          <p:cNvPr id="29" name="Rektangel: avrundede hjørner 28">
            <a:extLst>
              <a:ext uri="{FF2B5EF4-FFF2-40B4-BE49-F238E27FC236}">
                <a16:creationId xmlns:a16="http://schemas.microsoft.com/office/drawing/2014/main" id="{89FF2D02-781C-7614-B950-484375BED731}"/>
              </a:ext>
            </a:extLst>
          </p:cNvPr>
          <p:cNvSpPr/>
          <p:nvPr/>
        </p:nvSpPr>
        <p:spPr>
          <a:xfrm>
            <a:off x="7867827" y="1247831"/>
            <a:ext cx="1770166" cy="8773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b-NO"/>
              <a:t>Fase 2</a:t>
            </a:r>
          </a:p>
          <a:p>
            <a:pPr algn="ctr"/>
            <a:r>
              <a:rPr lang="nb-NO"/>
              <a:t>Prototyping</a:t>
            </a:r>
          </a:p>
        </p:txBody>
      </p:sp>
      <p:sp>
        <p:nvSpPr>
          <p:cNvPr id="30" name="Rektangel: avrundede hjørner 29">
            <a:extLst>
              <a:ext uri="{FF2B5EF4-FFF2-40B4-BE49-F238E27FC236}">
                <a16:creationId xmlns:a16="http://schemas.microsoft.com/office/drawing/2014/main" id="{B71CDF71-6E45-71C9-8B34-7493474871E6}"/>
              </a:ext>
            </a:extLst>
          </p:cNvPr>
          <p:cNvSpPr/>
          <p:nvPr/>
        </p:nvSpPr>
        <p:spPr>
          <a:xfrm>
            <a:off x="9809361" y="1247831"/>
            <a:ext cx="1697097" cy="87730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b-NO"/>
              <a:t>Fase 3</a:t>
            </a:r>
          </a:p>
          <a:p>
            <a:pPr algn="ctr"/>
            <a:r>
              <a:rPr lang="nb-NO"/>
              <a:t>POC</a:t>
            </a:r>
          </a:p>
        </p:txBody>
      </p:sp>
      <p:sp>
        <p:nvSpPr>
          <p:cNvPr id="31" name="Pil: bøyd nedover 30">
            <a:extLst>
              <a:ext uri="{FF2B5EF4-FFF2-40B4-BE49-F238E27FC236}">
                <a16:creationId xmlns:a16="http://schemas.microsoft.com/office/drawing/2014/main" id="{23A4E2EB-697A-BE98-D28C-548B4B93B95A}"/>
              </a:ext>
            </a:extLst>
          </p:cNvPr>
          <p:cNvSpPr/>
          <p:nvPr/>
        </p:nvSpPr>
        <p:spPr>
          <a:xfrm>
            <a:off x="6547624" y="673374"/>
            <a:ext cx="1879667" cy="57436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33" name="Pil: bøyd oppover 32">
            <a:extLst>
              <a:ext uri="{FF2B5EF4-FFF2-40B4-BE49-F238E27FC236}">
                <a16:creationId xmlns:a16="http://schemas.microsoft.com/office/drawing/2014/main" id="{0A8D2AD5-3E64-E1EC-1391-8A9D6004610D}"/>
              </a:ext>
            </a:extLst>
          </p:cNvPr>
          <p:cNvSpPr/>
          <p:nvPr/>
        </p:nvSpPr>
        <p:spPr>
          <a:xfrm>
            <a:off x="8907684" y="2125190"/>
            <a:ext cx="1790949" cy="58481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34" name="TekstSylinder 33">
            <a:extLst>
              <a:ext uri="{FF2B5EF4-FFF2-40B4-BE49-F238E27FC236}">
                <a16:creationId xmlns:a16="http://schemas.microsoft.com/office/drawing/2014/main" id="{D81ECD63-58CA-FC21-3D50-BB631ABC5B01}"/>
              </a:ext>
            </a:extLst>
          </p:cNvPr>
          <p:cNvSpPr txBox="1"/>
          <p:nvPr/>
        </p:nvSpPr>
        <p:spPr>
          <a:xfrm>
            <a:off x="6662351" y="3048000"/>
            <a:ext cx="457199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sz="3600" b="1">
                <a:solidFill>
                  <a:schemeClr val="tx2">
                    <a:lumMod val="76000"/>
                    <a:lumOff val="24000"/>
                  </a:schemeClr>
                </a:solidFill>
              </a:rPr>
              <a:t>Resultat brukertesting</a:t>
            </a:r>
            <a:endParaRPr lang="nb-NO" sz="3600">
              <a:solidFill>
                <a:schemeClr val="tx2">
                  <a:lumMod val="76000"/>
                  <a:lumOff val="24000"/>
                </a:schemeClr>
              </a:solidFill>
            </a:endParaRPr>
          </a:p>
          <a:p>
            <a:pPr algn="ctr"/>
            <a:r>
              <a:rPr lang="nb-NO" sz="7200" b="1"/>
              <a:t>85,6</a:t>
            </a:r>
          </a:p>
          <a:p>
            <a:pPr algn="ctr"/>
            <a:r>
              <a:rPr lang="nb-NO" sz="2800" b="1">
                <a:solidFill>
                  <a:schemeClr val="tx2">
                    <a:lumMod val="76000"/>
                    <a:lumOff val="24000"/>
                  </a:schemeClr>
                </a:solidFill>
              </a:rPr>
              <a:t>SUS-score</a:t>
            </a:r>
          </a:p>
          <a:p>
            <a:pPr algn="ctr"/>
            <a:r>
              <a:rPr lang="nb-NO" sz="2000"/>
              <a:t>12 deltakere, 22-62år</a:t>
            </a:r>
          </a:p>
        </p:txBody>
      </p:sp>
    </p:spTree>
    <p:extLst>
      <p:ext uri="{BB962C8B-B14F-4D97-AF65-F5344CB8AC3E}">
        <p14:creationId xmlns:p14="http://schemas.microsoft.com/office/powerpoint/2010/main" val="1195778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C4E5318-08CE-C1D2-B0B7-89C04782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nb-NO" sz="4800"/>
              <a:t>Funn og forbedringer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AC0CC3-1BF3-8EF8-5B60-F8E2C141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48" y="2659040"/>
            <a:ext cx="5304804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sz="1900">
                <a:ea typeface="+mn-lt"/>
                <a:cs typeface="+mn-lt"/>
              </a:rPr>
              <a:t>Fungerte godt: innlogging, eiendomsinfo, avfall, avgifter</a:t>
            </a:r>
            <a:endParaRPr lang="nb-NO" sz="1900"/>
          </a:p>
          <a:p>
            <a:endParaRPr lang="nb-NO" sz="1900">
              <a:ea typeface="+mn-lt"/>
              <a:cs typeface="+mn-lt"/>
            </a:endParaRPr>
          </a:p>
          <a:p>
            <a:r>
              <a:rPr lang="nb-NO" sz="1900" b="1">
                <a:ea typeface="+mn-lt"/>
                <a:cs typeface="+mn-lt"/>
              </a:rPr>
              <a:t>Friksjonspunkter: </a:t>
            </a:r>
            <a:endParaRPr lang="nb-NO" sz="1900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nb-NO" sz="1800">
                <a:ea typeface="+mn-lt"/>
                <a:cs typeface="+mn-lt"/>
              </a:rPr>
              <a:t>Radius-slider i nabolisten – ble ikke oppdaget</a:t>
            </a:r>
            <a:endParaRPr lang="nb-NO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nb-NO" sz="1800">
                <a:ea typeface="+mn-lt"/>
                <a:cs typeface="+mn-lt"/>
              </a:rPr>
              <a:t>"Åpne i e-post"-knappen i nabovarsel</a:t>
            </a:r>
            <a:endParaRPr lang="nb-NO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nb-NO" sz="1800">
                <a:ea typeface="+mn-lt"/>
                <a:cs typeface="+mn-lt"/>
              </a:rPr>
              <a:t>Vann og Avløp-info skjult under Bygninger</a:t>
            </a:r>
            <a:endParaRPr lang="nb-NO" sz="1800"/>
          </a:p>
          <a:p>
            <a:pPr marL="457200" lvl="1" indent="0">
              <a:buNone/>
            </a:pPr>
            <a:endParaRPr lang="nb-NO" sz="1800">
              <a:ea typeface="+mn-lt"/>
              <a:cs typeface="+mn-lt"/>
            </a:endParaRPr>
          </a:p>
          <a:p>
            <a:r>
              <a:rPr lang="nb-NO" sz="1900">
                <a:ea typeface="+mn-lt"/>
                <a:cs typeface="+mn-lt"/>
              </a:rPr>
              <a:t>Flere funn rettet i påfølgende iterasjon</a:t>
            </a:r>
            <a:endParaRPr lang="nb-NO" sz="1900"/>
          </a:p>
          <a:p>
            <a:r>
              <a:rPr lang="nb-NO" sz="1900">
                <a:ea typeface="+mn-lt"/>
                <a:cs typeface="+mn-lt"/>
              </a:rPr>
              <a:t>Begrensning: 12 deltakere </a:t>
            </a:r>
            <a:endParaRPr lang="nb-NO" sz="1900"/>
          </a:p>
          <a:p>
            <a:endParaRPr lang="nb-NO" sz="1900"/>
          </a:p>
        </p:txBody>
      </p:sp>
      <p:pic>
        <p:nvPicPr>
          <p:cNvPr id="4" name="Bilde 3" descr="Et bilde som inneholder tekst, line, diagram, Plottdiagram&#10;&#10;KI-generert innhold kan være feil.">
            <a:extLst>
              <a:ext uri="{FF2B5EF4-FFF2-40B4-BE49-F238E27FC236}">
                <a16:creationId xmlns:a16="http://schemas.microsoft.com/office/drawing/2014/main" id="{FE8937E0-5B98-B4CB-2D7A-090B1066A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538"/>
          <a:stretch>
            <a:fillRect/>
          </a:stretch>
        </p:blipFill>
        <p:spPr>
          <a:xfrm>
            <a:off x="5911532" y="3176331"/>
            <a:ext cx="5150277" cy="2330092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ilde 5" descr="Et bilde som inneholder tekst, kart, skjermbilde&#10;&#10;KI-generert innhold kan være feil.">
            <a:extLst>
              <a:ext uri="{FF2B5EF4-FFF2-40B4-BE49-F238E27FC236}">
                <a16:creationId xmlns:a16="http://schemas.microsoft.com/office/drawing/2014/main" id="{4FC0EFBF-3911-1CCD-6746-AD1A4E49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44" y="2657916"/>
            <a:ext cx="6307357" cy="3287013"/>
          </a:xfrm>
          <a:prstGeom prst="rect">
            <a:avLst/>
          </a:prstGeom>
        </p:spPr>
      </p:pic>
      <p:pic>
        <p:nvPicPr>
          <p:cNvPr id="8" name="Bilde 7" descr="Et bilde som inneholder tekst, skjermbilde, nummer, Font&#10;&#10;KI-generert innhold kan være feil.">
            <a:extLst>
              <a:ext uri="{FF2B5EF4-FFF2-40B4-BE49-F238E27FC236}">
                <a16:creationId xmlns:a16="http://schemas.microsoft.com/office/drawing/2014/main" id="{CF5FBEF4-F59D-CE3E-BBD8-3F0E8969A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19" y="2362842"/>
            <a:ext cx="5288369" cy="3882075"/>
          </a:xfrm>
          <a:prstGeom prst="rect">
            <a:avLst/>
          </a:prstGeom>
        </p:spPr>
      </p:pic>
      <p:pic>
        <p:nvPicPr>
          <p:cNvPr id="10" name="Bilde 9" descr="Et bilde som inneholder tekst, skjermbilde, Font, line&#10;&#10;KI-generert innhold kan være feil.">
            <a:extLst>
              <a:ext uri="{FF2B5EF4-FFF2-40B4-BE49-F238E27FC236}">
                <a16:creationId xmlns:a16="http://schemas.microsoft.com/office/drawing/2014/main" id="{E4ACAA4E-60F0-94BD-92C0-3621D3D91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0766" y="3631925"/>
            <a:ext cx="5253771" cy="8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8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8C4D-94F7-0F08-EF65-167C86B6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06400"/>
            <a:ext cx="11176000" cy="711200"/>
          </a:xfrm>
        </p:spPr>
        <p:txBody>
          <a:bodyPr/>
          <a:lstStyle/>
          <a:p>
            <a:pPr>
              <a:buNone/>
            </a:pPr>
            <a:r>
              <a:rPr lang="nb-NO" sz="3200" b="1" dirty="0">
                <a:solidFill>
                  <a:srgbClr val="156082"/>
                </a:solidFill>
              </a:rPr>
              <a:t>UX og brukeropplevelse</a:t>
            </a:r>
          </a:p>
        </p:txBody>
      </p:sp>
      <p:sp>
        <p:nvSpPr>
          <p:cNvPr id="1005" name="Accent Bar"/>
          <p:cNvSpPr/>
          <p:nvPr/>
        </p:nvSpPr>
        <p:spPr>
          <a:xfrm>
            <a:off x="8128000" y="2413000"/>
            <a:ext cx="3556000" cy="635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4" name="Card BG"/>
          <p:cNvSpPr/>
          <p:nvPr/>
        </p:nvSpPr>
        <p:spPr>
          <a:xfrm>
            <a:off x="8128000" y="2476500"/>
            <a:ext cx="3556000" cy="29845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6350">
            <a:solidFill>
              <a:srgbClr val="E0E6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3" name="Accent Bar"/>
          <p:cNvSpPr/>
          <p:nvPr/>
        </p:nvSpPr>
        <p:spPr>
          <a:xfrm>
            <a:off x="4318000" y="2413000"/>
            <a:ext cx="3556000" cy="635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Card BG"/>
          <p:cNvSpPr/>
          <p:nvPr/>
        </p:nvSpPr>
        <p:spPr>
          <a:xfrm>
            <a:off x="4318000" y="2476500"/>
            <a:ext cx="3556000" cy="29845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6350">
            <a:solidFill>
              <a:srgbClr val="E0E6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1" name="Accent Bar"/>
          <p:cNvSpPr/>
          <p:nvPr/>
        </p:nvSpPr>
        <p:spPr>
          <a:xfrm>
            <a:off x="508000" y="2413000"/>
            <a:ext cx="3556000" cy="635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0" name="Card BG"/>
          <p:cNvSpPr/>
          <p:nvPr/>
        </p:nvSpPr>
        <p:spPr>
          <a:xfrm>
            <a:off x="508000" y="2476500"/>
            <a:ext cx="3556000" cy="298450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6350">
            <a:solidFill>
              <a:srgbClr val="E0E6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450A-BAA0-D190-6DC9-C5BF8E52D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41600"/>
            <a:ext cx="3200400" cy="2667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>
                <a:solidFill>
                  <a:srgbClr val="156082"/>
                </a:solidFill>
              </a:rPr>
              <a:t>Jakob's Law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nb-NO" sz="1800" b="1">
                <a:solidFill>
                  <a:srgbClr val="1A2A3A"/>
                </a:solidFill>
              </a:rPr>
              <a:t>Kjente designmønstre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Navigasjon øverst på siden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Gjenkjennbare ikoner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Footer lik kommunens sider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363E3-BD9F-797D-469B-030F0D3897DC}"/>
              </a:ext>
            </a:extLst>
          </p:cNvPr>
          <p:cNvSpPr txBox="1"/>
          <p:nvPr/>
        </p:nvSpPr>
        <p:spPr>
          <a:xfrm>
            <a:off x="8305800" y="2641600"/>
            <a:ext cx="3200400" cy="2667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>
                <a:solidFill>
                  <a:srgbClr val="156082"/>
                </a:solidFill>
              </a:rPr>
              <a:t>Universell utforming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nb-NO" sz="1800" b="1">
                <a:solidFill>
                  <a:srgbClr val="1A2A3A"/>
                </a:solidFill>
              </a:rPr>
              <a:t>WCAG AA-nivå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Design, kontrast og navigasjon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Testet med Lighthouse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Svakheter avdekket og rettet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8DD14-423F-347C-083C-E3273E623BCE}"/>
              </a:ext>
            </a:extLst>
          </p:cNvPr>
          <p:cNvSpPr txBox="1"/>
          <p:nvPr/>
        </p:nvSpPr>
        <p:spPr>
          <a:xfrm>
            <a:off x="4495800" y="2641600"/>
            <a:ext cx="3200400" cy="20261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 dirty="0" err="1">
                <a:solidFill>
                  <a:srgbClr val="156082"/>
                </a:solidFill>
              </a:rPr>
              <a:t>Miller's</a:t>
            </a:r>
            <a:r>
              <a:rPr lang="nb-NO" sz="2400" b="1" dirty="0">
                <a:solidFill>
                  <a:srgbClr val="156082"/>
                </a:solidFill>
              </a:rPr>
              <a:t> Law og </a:t>
            </a:r>
            <a:r>
              <a:rPr lang="nb-NO" sz="2400" b="1" dirty="0" err="1">
                <a:solidFill>
                  <a:srgbClr val="156082"/>
                </a:solidFill>
              </a:rPr>
              <a:t>chunking</a:t>
            </a:r>
            <a:endParaRPr lang="nb-NO" sz="2400" b="1" dirty="0">
              <a:solidFill>
                <a:srgbClr val="156082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nb-NO" sz="1800" b="1" dirty="0">
                <a:solidFill>
                  <a:srgbClr val="1A2A3A"/>
                </a:solidFill>
              </a:rPr>
              <a:t>Ikke overveld brukeren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 dirty="0">
                <a:solidFill>
                  <a:srgbClr val="333333"/>
                </a:solidFill>
              </a:rPr>
              <a:t>Maks 7 ± 2 elementer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 dirty="0">
                <a:solidFill>
                  <a:srgbClr val="333333"/>
                </a:solidFill>
              </a:rPr>
              <a:t>Informasjon i tydelige "kort"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 dirty="0">
                <a:solidFill>
                  <a:srgbClr val="333333"/>
                </a:solidFill>
              </a:rPr>
              <a:t>Relatert innhold samlet</a:t>
            </a:r>
          </a:p>
        </p:txBody>
      </p:sp>
      <p:sp>
        <p:nvSpPr>
          <p:cNvPr id="2000" name="Title Accent"/>
          <p:cNvSpPr/>
          <p:nvPr/>
        </p:nvSpPr>
        <p:spPr>
          <a:xfrm>
            <a:off x="508000" y="1016000"/>
            <a:ext cx="762000" cy="50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276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9FC3E01-21C5-D28D-AC95-BF7F48A2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nb-NO" sz="4800"/>
              <a:t>Demo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0E9AA88-7DC7-B3BB-D799-8AFEB2C2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5890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sz="2400">
                <a:ea typeface="+mn-lt"/>
                <a:cs typeface="+mn-lt"/>
              </a:rPr>
              <a:t>Nettside:</a:t>
            </a:r>
          </a:p>
          <a:p>
            <a:pPr marL="0" indent="0">
              <a:buNone/>
            </a:pPr>
            <a:r>
              <a:rPr lang="nb-NO" sz="2400">
                <a:ea typeface="+mn-lt"/>
                <a:cs typeface="+mn-lt"/>
                <a:hlinkClick r:id="rId3"/>
              </a:rPr>
              <a:t>http://team-delta.geokrs.no/#min-eiendom</a:t>
            </a:r>
            <a:endParaRPr lang="nb-NO" sz="2400">
              <a:hlinkClick r:id="" action="ppaction://noaction"/>
            </a:endParaRPr>
          </a:p>
          <a:p>
            <a:pPr marL="0" indent="0">
              <a:buNone/>
            </a:pPr>
            <a:endParaRPr lang="nb-NO" sz="2400"/>
          </a:p>
          <a:p>
            <a:pPr>
              <a:buFont typeface="Arial"/>
              <a:buChar char="•"/>
            </a:pPr>
            <a:r>
              <a:rPr lang="nb-NO" sz="2400"/>
              <a:t>Wagtail CMS:</a:t>
            </a:r>
            <a:endParaRPr lang="en-US" sz="2400"/>
          </a:p>
          <a:p>
            <a:pPr marL="0" indent="0">
              <a:buNone/>
            </a:pPr>
            <a:r>
              <a:rPr lang="nb-NO" sz="2400">
                <a:ea typeface="+mn-lt"/>
                <a:cs typeface="+mn-lt"/>
                <a:hlinkClick r:id="rId4"/>
              </a:rPr>
              <a:t>http://admin.team-delta.geokrs.no/admin/snippets/cms_app/kommuneconfig/</a:t>
            </a:r>
            <a:endParaRPr lang="nb-NO" sz="2400"/>
          </a:p>
          <a:p>
            <a:pPr marL="0" indent="0">
              <a:buNone/>
            </a:pPr>
            <a:endParaRPr lang="nb-NO" sz="2400"/>
          </a:p>
          <a:p>
            <a:endParaRPr lang="nb-NO" sz="2400"/>
          </a:p>
          <a:p>
            <a:pPr marL="0" indent="0">
              <a:buNone/>
            </a:pPr>
            <a:endParaRPr lang="nb-NO" sz="2400"/>
          </a:p>
          <a:p>
            <a:endParaRPr lang="nb-NO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694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B5DEB-C005-5863-8366-CF949897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Problemstilling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41C4-07E8-46C2-CB6C-A84E5CC81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417" y="2199078"/>
            <a:ext cx="9941319" cy="312465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endParaRPr lang="nb-NO" sz="2400"/>
          </a:p>
          <a:p>
            <a:endParaRPr lang="en-US" sz="2400"/>
          </a:p>
          <a:p>
            <a:pPr marL="0" indent="0">
              <a:buNone/>
            </a:pPr>
            <a:endParaRPr lang="nb-NO" sz="2400"/>
          </a:p>
          <a:p>
            <a:pPr marL="0" indent="0">
              <a:buNone/>
            </a:pPr>
            <a:r>
              <a:rPr lang="nb-NO" sz="3200" i="1"/>
              <a:t>“ </a:t>
            </a:r>
            <a:r>
              <a:rPr lang="nb-NO" sz="3200"/>
              <a:t>Hvordan kan en brukersentrert og teknisk skalerbar arkitektur synliggjøre forutsetningene for nasjonal utbredelse av en samlet eiendomsinformasjonsløsning?</a:t>
            </a:r>
            <a:r>
              <a:rPr lang="nb-NO" sz="3200" i="1"/>
              <a:t> ”</a:t>
            </a:r>
            <a:endParaRPr lang="en-US" sz="3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2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176C-1FBF-3B26-5429-89DFE8DC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778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077B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10" name="Avrundet rektangel 9">
            <a:extLst>
              <a:ext uri="{FF2B5EF4-FFF2-40B4-BE49-F238E27FC236}">
                <a16:creationId xmlns:a16="http://schemas.microsoft.com/office/drawing/2014/main" id="{EB5B552A-68F2-9E45-2CFF-E36AAC17450C}"/>
              </a:ext>
            </a:extLst>
          </p:cNvPr>
          <p:cNvSpPr/>
          <p:nvPr/>
        </p:nvSpPr>
        <p:spPr>
          <a:xfrm>
            <a:off x="5191136" y="869188"/>
            <a:ext cx="1796527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11" name="Avrundet rektangel 10">
            <a:extLst>
              <a:ext uri="{FF2B5EF4-FFF2-40B4-BE49-F238E27FC236}">
                <a16:creationId xmlns:a16="http://schemas.microsoft.com/office/drawing/2014/main" id="{867E9394-2EB4-46E9-38DA-F957615A6876}"/>
              </a:ext>
            </a:extLst>
          </p:cNvPr>
          <p:cNvSpPr/>
          <p:nvPr/>
        </p:nvSpPr>
        <p:spPr>
          <a:xfrm>
            <a:off x="5191135" y="2260600"/>
            <a:ext cx="1796527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12" name="Avrundet rektangel 11">
            <a:extLst>
              <a:ext uri="{FF2B5EF4-FFF2-40B4-BE49-F238E27FC236}">
                <a16:creationId xmlns:a16="http://schemas.microsoft.com/office/drawing/2014/main" id="{EEAAAEA2-B29D-EB09-4FC4-0D7E793F8378}"/>
              </a:ext>
            </a:extLst>
          </p:cNvPr>
          <p:cNvSpPr/>
          <p:nvPr/>
        </p:nvSpPr>
        <p:spPr>
          <a:xfrm>
            <a:off x="4964398" y="4118998"/>
            <a:ext cx="2250000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Vinkel 15">
            <a:extLst>
              <a:ext uri="{FF2B5EF4-FFF2-40B4-BE49-F238E27FC236}">
                <a16:creationId xmlns:a16="http://schemas.microsoft.com/office/drawing/2014/main" id="{F6041789-58F3-FDFA-851C-08BC2CEB3F0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5472172" y="3501771"/>
            <a:ext cx="1234454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Vinkel 16">
            <a:extLst>
              <a:ext uri="{FF2B5EF4-FFF2-40B4-BE49-F238E27FC236}">
                <a16:creationId xmlns:a16="http://schemas.microsoft.com/office/drawing/2014/main" id="{D4B14E5C-EA52-BCE0-D369-8DCA0A964D4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5705666" y="1876866"/>
            <a:ext cx="767468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tel 1">
            <a:extLst>
              <a:ext uri="{FF2B5EF4-FFF2-40B4-BE49-F238E27FC236}">
                <a16:creationId xmlns:a16="http://schemas.microsoft.com/office/drawing/2014/main" id="{93E795A7-EF62-79C0-5AD5-4E79D5769B96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879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3530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2416885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96BC-6F6E-07FD-5237-DFCB940D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2032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5016500"/>
            <a:ext cx="12192000" cy="1841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4" name="Avrundet rektangel 3">
            <a:extLst>
              <a:ext uri="{FF2B5EF4-FFF2-40B4-BE49-F238E27FC236}">
                <a16:creationId xmlns:a16="http://schemas.microsoft.com/office/drawing/2014/main" id="{FA2BCE51-C013-41DB-773D-7B6CE037CF5B}"/>
              </a:ext>
            </a:extLst>
          </p:cNvPr>
          <p:cNvSpPr/>
          <p:nvPr/>
        </p:nvSpPr>
        <p:spPr>
          <a:xfrm>
            <a:off x="5191136" y="869188"/>
            <a:ext cx="1796527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" name="Avrundet rektangel 4">
            <a:extLst>
              <a:ext uri="{FF2B5EF4-FFF2-40B4-BE49-F238E27FC236}">
                <a16:creationId xmlns:a16="http://schemas.microsoft.com/office/drawing/2014/main" id="{8BBDD92B-C89A-3FB0-F3BF-726B142BE28F}"/>
              </a:ext>
            </a:extLst>
          </p:cNvPr>
          <p:cNvSpPr/>
          <p:nvPr/>
        </p:nvSpPr>
        <p:spPr>
          <a:xfrm>
            <a:off x="5191135" y="2260600"/>
            <a:ext cx="1796527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A2ACC9A8-1C1F-9A67-4622-FD6719A3B925}"/>
              </a:ext>
            </a:extLst>
          </p:cNvPr>
          <p:cNvSpPr/>
          <p:nvPr/>
        </p:nvSpPr>
        <p:spPr>
          <a:xfrm>
            <a:off x="4964400" y="5364868"/>
            <a:ext cx="2250000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DA7CE680-DEB3-4DF0-1BF5-792A317F158E}"/>
              </a:ext>
            </a:extLst>
          </p:cNvPr>
          <p:cNvSpPr>
            <a:spLocks noGrp="1"/>
          </p:cNvSpPr>
          <p:nvPr/>
        </p:nvSpPr>
        <p:spPr>
          <a:xfrm>
            <a:off x="4686300" y="3975100"/>
            <a:ext cx="2806700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14" name="Vinkel 13">
            <a:extLst>
              <a:ext uri="{FF2B5EF4-FFF2-40B4-BE49-F238E27FC236}">
                <a16:creationId xmlns:a16="http://schemas.microsoft.com/office/drawing/2014/main" id="{AA0B50CF-E5E3-45A3-DDF5-D6659D0B37AE}"/>
              </a:ext>
            </a:extLst>
          </p:cNvPr>
          <p:cNvCxnSpPr>
            <a:cxnSpLocks/>
            <a:stCxn id="100" idx="2"/>
            <a:endCxn id="6" idx="0"/>
          </p:cNvCxnSpPr>
          <p:nvPr/>
        </p:nvCxnSpPr>
        <p:spPr>
          <a:xfrm rot="5400000">
            <a:off x="5705791" y="4981009"/>
            <a:ext cx="767468" cy="25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inkel 28">
            <a:extLst>
              <a:ext uri="{FF2B5EF4-FFF2-40B4-BE49-F238E27FC236}">
                <a16:creationId xmlns:a16="http://schemas.microsoft.com/office/drawing/2014/main" id="{3252934A-04BD-A631-B168-932BB3CFCEA8}"/>
              </a:ext>
            </a:extLst>
          </p:cNvPr>
          <p:cNvCxnSpPr>
            <a:cxnSpLocks/>
            <a:stCxn id="5" idx="2"/>
            <a:endCxn id="100" idx="0"/>
          </p:cNvCxnSpPr>
          <p:nvPr/>
        </p:nvCxnSpPr>
        <p:spPr>
          <a:xfrm rot="16200000" flipH="1">
            <a:off x="5544246" y="3429696"/>
            <a:ext cx="1090556" cy="2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inkel 31">
            <a:extLst>
              <a:ext uri="{FF2B5EF4-FFF2-40B4-BE49-F238E27FC236}">
                <a16:creationId xmlns:a16="http://schemas.microsoft.com/office/drawing/2014/main" id="{421B35DA-DBE5-0A07-47E9-AAB3D58C2D9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5705666" y="1876866"/>
            <a:ext cx="767468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tel 1">
            <a:extLst>
              <a:ext uri="{FF2B5EF4-FFF2-40B4-BE49-F238E27FC236}">
                <a16:creationId xmlns:a16="http://schemas.microsoft.com/office/drawing/2014/main" id="{C810D0CD-F5FE-F2F7-897A-D07795693727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118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4135189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EA05B-334E-F723-3872-6B995E02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1778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50" name="Avrundet rektangel 49">
            <a:extLst>
              <a:ext uri="{FF2B5EF4-FFF2-40B4-BE49-F238E27FC236}">
                <a16:creationId xmlns:a16="http://schemas.microsoft.com/office/drawing/2014/main" id="{B5EC5CF6-DF7E-FFEA-A9E9-74A32EC88DC0}"/>
              </a:ext>
            </a:extLst>
          </p:cNvPr>
          <p:cNvSpPr/>
          <p:nvPr/>
        </p:nvSpPr>
        <p:spPr>
          <a:xfrm>
            <a:off x="5286748" y="298583"/>
            <a:ext cx="1618502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1" name="Avrundet rektangel 50">
            <a:extLst>
              <a:ext uri="{FF2B5EF4-FFF2-40B4-BE49-F238E27FC236}">
                <a16:creationId xmlns:a16="http://schemas.microsoft.com/office/drawing/2014/main" id="{FCAD52B7-D69B-D707-4197-6F0D73C99366}"/>
              </a:ext>
            </a:extLst>
          </p:cNvPr>
          <p:cNvSpPr/>
          <p:nvPr/>
        </p:nvSpPr>
        <p:spPr>
          <a:xfrm>
            <a:off x="5375761" y="1730579"/>
            <a:ext cx="1440475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52" name="Avrundet rektangel 51">
            <a:extLst>
              <a:ext uri="{FF2B5EF4-FFF2-40B4-BE49-F238E27FC236}">
                <a16:creationId xmlns:a16="http://schemas.microsoft.com/office/drawing/2014/main" id="{9D3C1575-681F-9518-ECC9-01A0CDF184AB}"/>
              </a:ext>
            </a:extLst>
          </p:cNvPr>
          <p:cNvSpPr/>
          <p:nvPr/>
        </p:nvSpPr>
        <p:spPr>
          <a:xfrm>
            <a:off x="5086800" y="5091386"/>
            <a:ext cx="2023447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53" name="Rett linje 52">
            <a:extLst>
              <a:ext uri="{FF2B5EF4-FFF2-40B4-BE49-F238E27FC236}">
                <a16:creationId xmlns:a16="http://schemas.microsoft.com/office/drawing/2014/main" id="{3185091F-B0EC-7D6F-E721-A8C40403177B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6095999" y="922527"/>
            <a:ext cx="0" cy="808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Matrikkel">
            <a:extLst>
              <a:ext uri="{FF2B5EF4-FFF2-40B4-BE49-F238E27FC236}">
                <a16:creationId xmlns:a16="http://schemas.microsoft.com/office/drawing/2014/main" id="{EED22D2F-80D9-11B9-42B9-8D72EC162689}"/>
              </a:ext>
            </a:extLst>
          </p:cNvPr>
          <p:cNvSpPr>
            <a:spLocks noGrp="1"/>
          </p:cNvSpPr>
          <p:nvPr/>
        </p:nvSpPr>
        <p:spPr>
          <a:xfrm>
            <a:off x="4916292" y="3310499"/>
            <a:ext cx="2359412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55" name="Vinkel 54">
            <a:extLst>
              <a:ext uri="{FF2B5EF4-FFF2-40B4-BE49-F238E27FC236}">
                <a16:creationId xmlns:a16="http://schemas.microsoft.com/office/drawing/2014/main" id="{AEA9187E-3F42-3BB3-ECE5-42F995BD3D2F}"/>
              </a:ext>
            </a:extLst>
          </p:cNvPr>
          <p:cNvCxnSpPr>
            <a:cxnSpLocks/>
            <a:stCxn id="54" idx="2"/>
            <a:endCxn id="52" idx="0"/>
          </p:cNvCxnSpPr>
          <p:nvPr/>
        </p:nvCxnSpPr>
        <p:spPr>
          <a:xfrm rot="16200000" flipH="1">
            <a:off x="5517968" y="4510829"/>
            <a:ext cx="1158587" cy="252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Matrikkel">
            <a:extLst>
              <a:ext uri="{FF2B5EF4-FFF2-40B4-BE49-F238E27FC236}">
                <a16:creationId xmlns:a16="http://schemas.microsoft.com/office/drawing/2014/main" id="{E58F829E-271A-9B48-61EE-51E538B1CC53}"/>
              </a:ext>
            </a:extLst>
          </p:cNvPr>
          <p:cNvSpPr>
            <a:spLocks noGrp="1"/>
          </p:cNvSpPr>
          <p:nvPr/>
        </p:nvSpPr>
        <p:spPr>
          <a:xfrm>
            <a:off x="9010575" y="3310500"/>
            <a:ext cx="2737288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Renovasjonstjeneste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7" name="Vinkel 56">
            <a:extLst>
              <a:ext uri="{FF2B5EF4-FFF2-40B4-BE49-F238E27FC236}">
                <a16:creationId xmlns:a16="http://schemas.microsoft.com/office/drawing/2014/main" id="{BFD34C07-C37E-8842-D292-46536E1ED52B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rot="16200000" flipH="1">
            <a:off x="7759621" y="690901"/>
            <a:ext cx="955977" cy="42832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Matrikkel">
            <a:extLst>
              <a:ext uri="{FF2B5EF4-FFF2-40B4-BE49-F238E27FC236}">
                <a16:creationId xmlns:a16="http://schemas.microsoft.com/office/drawing/2014/main" id="{CBB44926-238A-D100-D3D4-8CDE0328C631}"/>
              </a:ext>
            </a:extLst>
          </p:cNvPr>
          <p:cNvSpPr>
            <a:spLocks noGrp="1"/>
          </p:cNvSpPr>
          <p:nvPr/>
        </p:nvSpPr>
        <p:spPr>
          <a:xfrm>
            <a:off x="1237845" y="3310498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CMS-tjeneste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9" name="Vinkel 58">
            <a:extLst>
              <a:ext uri="{FF2B5EF4-FFF2-40B4-BE49-F238E27FC236}">
                <a16:creationId xmlns:a16="http://schemas.microsoft.com/office/drawing/2014/main" id="{E392ADBF-7D5E-311A-38D0-F46D4E529D55}"/>
              </a:ext>
            </a:extLst>
          </p:cNvPr>
          <p:cNvCxnSpPr>
            <a:cxnSpLocks/>
            <a:stCxn id="51" idx="2"/>
            <a:endCxn id="58" idx="0"/>
          </p:cNvCxnSpPr>
          <p:nvPr/>
        </p:nvCxnSpPr>
        <p:spPr>
          <a:xfrm rot="5400000">
            <a:off x="3674831" y="889329"/>
            <a:ext cx="955975" cy="38863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Matrikkel">
            <a:extLst>
              <a:ext uri="{FF2B5EF4-FFF2-40B4-BE49-F238E27FC236}">
                <a16:creationId xmlns:a16="http://schemas.microsoft.com/office/drawing/2014/main" id="{7408AB22-9AE9-EB83-49D8-3600F0102830}"/>
              </a:ext>
            </a:extLst>
          </p:cNvPr>
          <p:cNvSpPr>
            <a:spLocks noGrp="1"/>
          </p:cNvSpPr>
          <p:nvPr/>
        </p:nvSpPr>
        <p:spPr>
          <a:xfrm>
            <a:off x="1531088" y="5183997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Wagtail-CMS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61" name="Vinkel 60">
            <a:extLst>
              <a:ext uri="{FF2B5EF4-FFF2-40B4-BE49-F238E27FC236}">
                <a16:creationId xmlns:a16="http://schemas.microsoft.com/office/drawing/2014/main" id="{3F639584-14F7-D19F-4A4B-F6938BE7695B}"/>
              </a:ext>
            </a:extLst>
          </p:cNvPr>
          <p:cNvCxnSpPr>
            <a:cxnSpLocks/>
            <a:stCxn id="52" idx="1"/>
            <a:endCxn id="60" idx="3"/>
          </p:cNvCxnSpPr>
          <p:nvPr/>
        </p:nvCxnSpPr>
        <p:spPr>
          <a:xfrm rot="10800000" flipV="1">
            <a:off x="3474670" y="5480185"/>
            <a:ext cx="1612131" cy="1496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Vinkel 61">
            <a:extLst>
              <a:ext uri="{FF2B5EF4-FFF2-40B4-BE49-F238E27FC236}">
                <a16:creationId xmlns:a16="http://schemas.microsoft.com/office/drawing/2014/main" id="{3A57AC1A-D196-DD3F-6DAF-AB4BE79BA525}"/>
              </a:ext>
            </a:extLst>
          </p:cNvPr>
          <p:cNvCxnSpPr>
            <a:cxnSpLocks/>
            <a:stCxn id="60" idx="0"/>
            <a:endCxn id="58" idx="2"/>
          </p:cNvCxnSpPr>
          <p:nvPr/>
        </p:nvCxnSpPr>
        <p:spPr>
          <a:xfrm rot="16200000" flipV="1">
            <a:off x="1730659" y="4411776"/>
            <a:ext cx="1251199" cy="2932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Vinkel 62">
            <a:extLst>
              <a:ext uri="{FF2B5EF4-FFF2-40B4-BE49-F238E27FC236}">
                <a16:creationId xmlns:a16="http://schemas.microsoft.com/office/drawing/2014/main" id="{23FF3BAB-A926-B86A-0638-6A78C314F766}"/>
              </a:ext>
            </a:extLst>
          </p:cNvPr>
          <p:cNvCxnSpPr>
            <a:cxnSpLocks/>
            <a:stCxn id="51" idx="2"/>
            <a:endCxn id="54" idx="0"/>
          </p:cNvCxnSpPr>
          <p:nvPr/>
        </p:nvCxnSpPr>
        <p:spPr>
          <a:xfrm rot="5400000">
            <a:off x="5618011" y="2832511"/>
            <a:ext cx="955976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label_frontend">
            <a:extLst>
              <a:ext uri="{FF2B5EF4-FFF2-40B4-BE49-F238E27FC236}">
                <a16:creationId xmlns:a16="http://schemas.microsoft.com/office/drawing/2014/main" id="{75D81B0E-EF0E-9113-9A84-27C78F1C0CEC}"/>
              </a:ext>
            </a:extLst>
          </p:cNvPr>
          <p:cNvSpPr txBox="1"/>
          <p:nvPr/>
        </p:nvSpPr>
        <p:spPr>
          <a:xfrm>
            <a:off x="5131031" y="953738"/>
            <a:ext cx="2298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React   Vite | nginx</a:t>
            </a:r>
          </a:p>
        </p:txBody>
      </p:sp>
      <p:sp>
        <p:nvSpPr>
          <p:cNvPr id="68" name="label_cms_service">
            <a:extLst>
              <a:ext uri="{FF2B5EF4-FFF2-40B4-BE49-F238E27FC236}">
                <a16:creationId xmlns:a16="http://schemas.microsoft.com/office/drawing/2014/main" id="{BBEE8503-CF06-85B0-4648-AFF0F3C3F9C0}"/>
              </a:ext>
            </a:extLst>
          </p:cNvPr>
          <p:cNvSpPr txBox="1"/>
          <p:nvPr/>
        </p:nvSpPr>
        <p:spPr>
          <a:xfrm>
            <a:off x="1940017" y="3989948"/>
            <a:ext cx="144841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69" name="label_matrikkel">
            <a:extLst>
              <a:ext uri="{FF2B5EF4-FFF2-40B4-BE49-F238E27FC236}">
                <a16:creationId xmlns:a16="http://schemas.microsoft.com/office/drawing/2014/main" id="{6182A790-3458-9959-FF7F-85CF6E11F576}"/>
              </a:ext>
            </a:extLst>
          </p:cNvPr>
          <p:cNvSpPr txBox="1"/>
          <p:nvPr/>
        </p:nvSpPr>
        <p:spPr>
          <a:xfrm>
            <a:off x="4840176" y="3962357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70" name="label_renovasjon">
            <a:extLst>
              <a:ext uri="{FF2B5EF4-FFF2-40B4-BE49-F238E27FC236}">
                <a16:creationId xmlns:a16="http://schemas.microsoft.com/office/drawing/2014/main" id="{C27246AD-8D19-ACA5-E2BB-976DA50DC18B}"/>
              </a:ext>
            </a:extLst>
          </p:cNvPr>
          <p:cNvSpPr txBox="1"/>
          <p:nvPr/>
        </p:nvSpPr>
        <p:spPr>
          <a:xfrm>
            <a:off x="8756294" y="3980038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71" name="label_wagtail">
            <a:extLst>
              <a:ext uri="{FF2B5EF4-FFF2-40B4-BE49-F238E27FC236}">
                <a16:creationId xmlns:a16="http://schemas.microsoft.com/office/drawing/2014/main" id="{1A2A0F72-B713-63A4-4BDF-78348F4A4B84}"/>
              </a:ext>
            </a:extLst>
          </p:cNvPr>
          <p:cNvSpPr txBox="1"/>
          <p:nvPr/>
        </p:nvSpPr>
        <p:spPr>
          <a:xfrm>
            <a:off x="1162267" y="5868986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Django | Wagtail</a:t>
            </a:r>
          </a:p>
        </p:txBody>
      </p:sp>
      <p:sp>
        <p:nvSpPr>
          <p:cNvPr id="72" name="label_database">
            <a:extLst>
              <a:ext uri="{FF2B5EF4-FFF2-40B4-BE49-F238E27FC236}">
                <a16:creationId xmlns:a16="http://schemas.microsoft.com/office/drawing/2014/main" id="{A2110D00-1453-6212-082D-F9C588E81807}"/>
              </a:ext>
            </a:extLst>
          </p:cNvPr>
          <p:cNvSpPr txBox="1"/>
          <p:nvPr/>
        </p:nvSpPr>
        <p:spPr>
          <a:xfrm>
            <a:off x="4687140" y="5939522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PostgreSQL | PostGIS </a:t>
            </a:r>
          </a:p>
        </p:txBody>
      </p:sp>
      <p:sp>
        <p:nvSpPr>
          <p:cNvPr id="74" name="label_matrikkel">
            <a:extLst>
              <a:ext uri="{FF2B5EF4-FFF2-40B4-BE49-F238E27FC236}">
                <a16:creationId xmlns:a16="http://schemas.microsoft.com/office/drawing/2014/main" id="{8013B222-8BF2-2599-91D2-381E86970242}"/>
              </a:ext>
            </a:extLst>
          </p:cNvPr>
          <p:cNvSpPr txBox="1"/>
          <p:nvPr/>
        </p:nvSpPr>
        <p:spPr>
          <a:xfrm>
            <a:off x="4866556" y="2412494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pic>
        <p:nvPicPr>
          <p:cNvPr id="75" name="Grafikk 74" descr="Resirkuler med heldekkende fyll">
            <a:extLst>
              <a:ext uri="{FF2B5EF4-FFF2-40B4-BE49-F238E27FC236}">
                <a16:creationId xmlns:a16="http://schemas.microsoft.com/office/drawing/2014/main" id="{1F9AC3CD-5C26-682C-A71E-787206F84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7307" y="3467469"/>
            <a:ext cx="355600" cy="355600"/>
          </a:xfrm>
          <a:prstGeom prst="rect">
            <a:avLst/>
          </a:prstGeom>
        </p:spPr>
      </p:pic>
      <p:pic>
        <p:nvPicPr>
          <p:cNvPr id="76" name="Grafikk 75" descr="Forstadslandskap med heldekkende fyll">
            <a:extLst>
              <a:ext uri="{FF2B5EF4-FFF2-40B4-BE49-F238E27FC236}">
                <a16:creationId xmlns:a16="http://schemas.microsoft.com/office/drawing/2014/main" id="{BC658ECB-3C60-A639-593E-B205B5042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280" y="3387530"/>
            <a:ext cx="435538" cy="435538"/>
          </a:xfrm>
          <a:prstGeom prst="rect">
            <a:avLst/>
          </a:prstGeom>
        </p:spPr>
      </p:pic>
      <p:pic>
        <p:nvPicPr>
          <p:cNvPr id="78" name="Grafikk 77" descr="Database med heldekkende fyll">
            <a:extLst>
              <a:ext uri="{FF2B5EF4-FFF2-40B4-BE49-F238E27FC236}">
                <a16:creationId xmlns:a16="http://schemas.microsoft.com/office/drawing/2014/main" id="{376D0E9F-974F-331E-B678-B11A48638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2111" y="5265030"/>
            <a:ext cx="464340" cy="464340"/>
          </a:xfrm>
          <a:prstGeom prst="rect">
            <a:avLst/>
          </a:prstGeom>
        </p:spPr>
      </p:pic>
      <p:pic>
        <p:nvPicPr>
          <p:cNvPr id="79" name="Grafikk 78" descr="Blyant med heldekkende fyll">
            <a:extLst>
              <a:ext uri="{FF2B5EF4-FFF2-40B4-BE49-F238E27FC236}">
                <a16:creationId xmlns:a16="http://schemas.microsoft.com/office/drawing/2014/main" id="{D5FA56C5-9A59-CC7F-706E-33EF0095E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2510" y="5314902"/>
            <a:ext cx="360492" cy="360492"/>
          </a:xfrm>
          <a:prstGeom prst="rect">
            <a:avLst/>
          </a:prstGeom>
        </p:spPr>
      </p:pic>
      <p:pic>
        <p:nvPicPr>
          <p:cNvPr id="80" name="Grafikk 79" descr="Tannhjul med heldekkende fyll">
            <a:extLst>
              <a:ext uri="{FF2B5EF4-FFF2-40B4-BE49-F238E27FC236}">
                <a16:creationId xmlns:a16="http://schemas.microsoft.com/office/drawing/2014/main" id="{3B9FC0C8-DCCB-4EB4-D449-13AAED12B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3161" y="3435903"/>
            <a:ext cx="418731" cy="418731"/>
          </a:xfrm>
          <a:prstGeom prst="rect">
            <a:avLst/>
          </a:prstGeom>
        </p:spPr>
      </p:pic>
      <p:pic>
        <p:nvPicPr>
          <p:cNvPr id="81" name="Grafikk 80" descr="Server med heldekkende fyll">
            <a:extLst>
              <a:ext uri="{FF2B5EF4-FFF2-40B4-BE49-F238E27FC236}">
                <a16:creationId xmlns:a16="http://schemas.microsoft.com/office/drawing/2014/main" id="{9EFE3D3E-2F7D-2387-3247-F64766C36C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609" y="1886086"/>
            <a:ext cx="285135" cy="285135"/>
          </a:xfrm>
          <a:prstGeom prst="rect">
            <a:avLst/>
          </a:prstGeom>
        </p:spPr>
      </p:pic>
      <p:pic>
        <p:nvPicPr>
          <p:cNvPr id="82" name="Grafikk 81" descr="Nettleservindu med heldekkende fyll">
            <a:extLst>
              <a:ext uri="{FF2B5EF4-FFF2-40B4-BE49-F238E27FC236}">
                <a16:creationId xmlns:a16="http://schemas.microsoft.com/office/drawing/2014/main" id="{A77EA163-6C5F-F8A0-D2ED-4A0BFF0FE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9" y="430897"/>
            <a:ext cx="389087" cy="389087"/>
          </a:xfrm>
          <a:prstGeom prst="rect">
            <a:avLst/>
          </a:prstGeom>
        </p:spPr>
      </p:pic>
      <p:sp>
        <p:nvSpPr>
          <p:cNvPr id="83" name="Tittel 1">
            <a:extLst>
              <a:ext uri="{FF2B5EF4-FFF2-40B4-BE49-F238E27FC236}">
                <a16:creationId xmlns:a16="http://schemas.microsoft.com/office/drawing/2014/main" id="{1DF65D98-E7ED-D8C6-A1E4-A6171E8DE93B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4" name="label_innholdsplattform"/>
          <p:cNvSpPr txBox="1"/>
          <p:nvPr/>
        </p:nvSpPr>
        <p:spPr>
          <a:xfrm>
            <a:off x="190500" y="4864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Innholdsplattform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0927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3103109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3455F-4EC9-68E6-251E-7ADC2090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1778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4" name="Avrundet rektangel 3">
            <a:extLst>
              <a:ext uri="{FF2B5EF4-FFF2-40B4-BE49-F238E27FC236}">
                <a16:creationId xmlns:a16="http://schemas.microsoft.com/office/drawing/2014/main" id="{AA067FFB-B89F-4E2E-45AC-2C1350DA8088}"/>
              </a:ext>
            </a:extLst>
          </p:cNvPr>
          <p:cNvSpPr/>
          <p:nvPr/>
        </p:nvSpPr>
        <p:spPr>
          <a:xfrm>
            <a:off x="5286748" y="298583"/>
            <a:ext cx="1618502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" name="Avrundet rektangel 4">
            <a:extLst>
              <a:ext uri="{FF2B5EF4-FFF2-40B4-BE49-F238E27FC236}">
                <a16:creationId xmlns:a16="http://schemas.microsoft.com/office/drawing/2014/main" id="{79CD29C8-F809-CD8B-5BE4-4FCE470EA4C5}"/>
              </a:ext>
            </a:extLst>
          </p:cNvPr>
          <p:cNvSpPr/>
          <p:nvPr/>
        </p:nvSpPr>
        <p:spPr>
          <a:xfrm>
            <a:off x="5375761" y="1730579"/>
            <a:ext cx="1440475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F6074E84-30A1-E021-667D-69322053C795}"/>
              </a:ext>
            </a:extLst>
          </p:cNvPr>
          <p:cNvSpPr/>
          <p:nvPr/>
        </p:nvSpPr>
        <p:spPr>
          <a:xfrm>
            <a:off x="5047202" y="5108400"/>
            <a:ext cx="2023447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653EBF0D-8776-1625-A5EC-D7AFF831C23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5999" y="922527"/>
            <a:ext cx="0" cy="808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B886E3A7-F86B-7CAB-47E8-E3B69D707B68}"/>
              </a:ext>
            </a:extLst>
          </p:cNvPr>
          <p:cNvSpPr>
            <a:spLocks noGrp="1"/>
          </p:cNvSpPr>
          <p:nvPr/>
        </p:nvSpPr>
        <p:spPr>
          <a:xfrm>
            <a:off x="6192856" y="3310500"/>
            <a:ext cx="2359412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14" name="Vinkel 13">
            <a:extLst>
              <a:ext uri="{FF2B5EF4-FFF2-40B4-BE49-F238E27FC236}">
                <a16:creationId xmlns:a16="http://schemas.microsoft.com/office/drawing/2014/main" id="{81DEB1EF-670F-40F9-C8D3-2CF1C59C4173}"/>
              </a:ext>
            </a:extLst>
          </p:cNvPr>
          <p:cNvCxnSpPr>
            <a:cxnSpLocks/>
            <a:stCxn id="100" idx="2"/>
            <a:endCxn id="6" idx="0"/>
          </p:cNvCxnSpPr>
          <p:nvPr/>
        </p:nvCxnSpPr>
        <p:spPr>
          <a:xfrm rot="5400000">
            <a:off x="6127944" y="3863782"/>
            <a:ext cx="1175600" cy="13136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Matrikkel">
            <a:extLst>
              <a:ext uri="{FF2B5EF4-FFF2-40B4-BE49-F238E27FC236}">
                <a16:creationId xmlns:a16="http://schemas.microsoft.com/office/drawing/2014/main" id="{0502983F-0152-8BE8-8578-DE530AE48FD9}"/>
              </a:ext>
            </a:extLst>
          </p:cNvPr>
          <p:cNvSpPr>
            <a:spLocks noGrp="1"/>
          </p:cNvSpPr>
          <p:nvPr/>
        </p:nvSpPr>
        <p:spPr>
          <a:xfrm>
            <a:off x="9010575" y="3310500"/>
            <a:ext cx="2737288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Renovasjonstjeneste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16" name="Vinkel 15">
            <a:extLst>
              <a:ext uri="{FF2B5EF4-FFF2-40B4-BE49-F238E27FC236}">
                <a16:creationId xmlns:a16="http://schemas.microsoft.com/office/drawing/2014/main" id="{0DE79A18-B6F2-F647-300A-46A28D78CF8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7759621" y="690901"/>
            <a:ext cx="955977" cy="42832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Matrikkel">
            <a:extLst>
              <a:ext uri="{FF2B5EF4-FFF2-40B4-BE49-F238E27FC236}">
                <a16:creationId xmlns:a16="http://schemas.microsoft.com/office/drawing/2014/main" id="{387B7B15-30DB-EBDD-0C3B-5CF1F16B500C}"/>
              </a:ext>
            </a:extLst>
          </p:cNvPr>
          <p:cNvSpPr>
            <a:spLocks noGrp="1"/>
          </p:cNvSpPr>
          <p:nvPr/>
        </p:nvSpPr>
        <p:spPr>
          <a:xfrm>
            <a:off x="1237845" y="3310498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CMS-tjeneste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0" name="Vinkel 19">
            <a:extLst>
              <a:ext uri="{FF2B5EF4-FFF2-40B4-BE49-F238E27FC236}">
                <a16:creationId xmlns:a16="http://schemas.microsoft.com/office/drawing/2014/main" id="{D11B5E53-3C12-30AA-5E82-08698D68A986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5400000">
            <a:off x="3674831" y="889329"/>
            <a:ext cx="955975" cy="38863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Matrikkel">
            <a:extLst>
              <a:ext uri="{FF2B5EF4-FFF2-40B4-BE49-F238E27FC236}">
                <a16:creationId xmlns:a16="http://schemas.microsoft.com/office/drawing/2014/main" id="{1459753D-3ADA-0888-0ED7-0FFEFE748FBE}"/>
              </a:ext>
            </a:extLst>
          </p:cNvPr>
          <p:cNvSpPr>
            <a:spLocks noGrp="1"/>
          </p:cNvSpPr>
          <p:nvPr/>
        </p:nvSpPr>
        <p:spPr>
          <a:xfrm>
            <a:off x="1531088" y="5183997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Wagtail-CMS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30" name="Vinkel 29">
            <a:extLst>
              <a:ext uri="{FF2B5EF4-FFF2-40B4-BE49-F238E27FC236}">
                <a16:creationId xmlns:a16="http://schemas.microsoft.com/office/drawing/2014/main" id="{8D27F1BE-3992-7A5A-83DA-09F0C8EE059F}"/>
              </a:ext>
            </a:extLst>
          </p:cNvPr>
          <p:cNvCxnSpPr>
            <a:cxnSpLocks/>
            <a:stCxn id="6" idx="1"/>
            <a:endCxn id="29" idx="3"/>
          </p:cNvCxnSpPr>
          <p:nvPr/>
        </p:nvCxnSpPr>
        <p:spPr>
          <a:xfrm rot="10800000">
            <a:off x="3474670" y="5495148"/>
            <a:ext cx="1572533" cy="20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nkel 32">
            <a:extLst>
              <a:ext uri="{FF2B5EF4-FFF2-40B4-BE49-F238E27FC236}">
                <a16:creationId xmlns:a16="http://schemas.microsoft.com/office/drawing/2014/main" id="{77C5A898-3778-5C7D-6E6E-1BDCC49ED8C3}"/>
              </a:ext>
            </a:extLst>
          </p:cNvPr>
          <p:cNvCxnSpPr>
            <a:cxnSpLocks/>
            <a:stCxn id="29" idx="0"/>
            <a:endCxn id="19" idx="2"/>
          </p:cNvCxnSpPr>
          <p:nvPr/>
        </p:nvCxnSpPr>
        <p:spPr>
          <a:xfrm rot="16200000" flipV="1">
            <a:off x="1730659" y="4411776"/>
            <a:ext cx="1251199" cy="2932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nkel 8">
            <a:extLst>
              <a:ext uri="{FF2B5EF4-FFF2-40B4-BE49-F238E27FC236}">
                <a16:creationId xmlns:a16="http://schemas.microsoft.com/office/drawing/2014/main" id="{A925F5F9-7EF7-E10E-89AF-A5B7012C8FE5}"/>
              </a:ext>
            </a:extLst>
          </p:cNvPr>
          <p:cNvCxnSpPr>
            <a:cxnSpLocks/>
            <a:stCxn id="5" idx="2"/>
            <a:endCxn id="100" idx="0"/>
          </p:cNvCxnSpPr>
          <p:nvPr/>
        </p:nvCxnSpPr>
        <p:spPr>
          <a:xfrm rot="16200000" flipH="1">
            <a:off x="6256292" y="2194229"/>
            <a:ext cx="955977" cy="12765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Matrikkel">
            <a:extLst>
              <a:ext uri="{FF2B5EF4-FFF2-40B4-BE49-F238E27FC236}">
                <a16:creationId xmlns:a16="http://schemas.microsoft.com/office/drawing/2014/main" id="{9FD218C7-8062-8230-EB08-99351F5DF130}"/>
              </a:ext>
            </a:extLst>
          </p:cNvPr>
          <p:cNvSpPr>
            <a:spLocks noGrp="1"/>
          </p:cNvSpPr>
          <p:nvPr/>
        </p:nvSpPr>
        <p:spPr>
          <a:xfrm>
            <a:off x="3562567" y="3310500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Arkivtjeneste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6" name="Vinkel 25">
            <a:extLst>
              <a:ext uri="{FF2B5EF4-FFF2-40B4-BE49-F238E27FC236}">
                <a16:creationId xmlns:a16="http://schemas.microsoft.com/office/drawing/2014/main" id="{898D16BB-0970-0549-51E6-8FA951CA46BA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5400000">
            <a:off x="4837191" y="2051691"/>
            <a:ext cx="955977" cy="15616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nkel 30">
            <a:extLst>
              <a:ext uri="{FF2B5EF4-FFF2-40B4-BE49-F238E27FC236}">
                <a16:creationId xmlns:a16="http://schemas.microsoft.com/office/drawing/2014/main" id="{68967088-2714-0392-8D4B-05F3AA95DB0C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rot="16200000" flipV="1">
            <a:off x="4708842" y="3758316"/>
            <a:ext cx="1175600" cy="152456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abel_frontend"/>
          <p:cNvSpPr txBox="1"/>
          <p:nvPr/>
        </p:nvSpPr>
        <p:spPr>
          <a:xfrm>
            <a:off x="5131031" y="953738"/>
            <a:ext cx="2298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React   Vite | nginx</a:t>
            </a:r>
          </a:p>
        </p:txBody>
      </p:sp>
      <p:sp>
        <p:nvSpPr>
          <p:cNvPr id="202" name="label_cms_service"/>
          <p:cNvSpPr txBox="1"/>
          <p:nvPr/>
        </p:nvSpPr>
        <p:spPr>
          <a:xfrm>
            <a:off x="1940017" y="3989948"/>
            <a:ext cx="144841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4" name="label_matrikkel"/>
          <p:cNvSpPr txBox="1"/>
          <p:nvPr/>
        </p:nvSpPr>
        <p:spPr>
          <a:xfrm>
            <a:off x="6116740" y="3962358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05" name="label_renovasjon"/>
          <p:cNvSpPr txBox="1"/>
          <p:nvPr/>
        </p:nvSpPr>
        <p:spPr>
          <a:xfrm>
            <a:off x="8756294" y="3980038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6" name="label_wagtail"/>
          <p:cNvSpPr txBox="1"/>
          <p:nvPr/>
        </p:nvSpPr>
        <p:spPr>
          <a:xfrm>
            <a:off x="1162267" y="5868986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Django | Wagtail</a:t>
            </a:r>
          </a:p>
        </p:txBody>
      </p:sp>
      <p:sp>
        <p:nvSpPr>
          <p:cNvPr id="207" name="label_database"/>
          <p:cNvSpPr txBox="1"/>
          <p:nvPr/>
        </p:nvSpPr>
        <p:spPr>
          <a:xfrm>
            <a:off x="4687140" y="5939522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PostgreSQL | PostGIS </a:t>
            </a:r>
          </a:p>
        </p:txBody>
      </p:sp>
      <p:sp>
        <p:nvSpPr>
          <p:cNvPr id="22" name="label_matrikkel">
            <a:extLst>
              <a:ext uri="{FF2B5EF4-FFF2-40B4-BE49-F238E27FC236}">
                <a16:creationId xmlns:a16="http://schemas.microsoft.com/office/drawing/2014/main" id="{D8ED3093-03AC-D0D8-6F57-5B5F0476E469}"/>
              </a:ext>
            </a:extLst>
          </p:cNvPr>
          <p:cNvSpPr txBox="1"/>
          <p:nvPr/>
        </p:nvSpPr>
        <p:spPr>
          <a:xfrm>
            <a:off x="3272396" y="3951951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3" name="label_matrikkel">
            <a:extLst>
              <a:ext uri="{FF2B5EF4-FFF2-40B4-BE49-F238E27FC236}">
                <a16:creationId xmlns:a16="http://schemas.microsoft.com/office/drawing/2014/main" id="{D02A58FC-CA56-779B-FBDC-FAE1BDB8FD3A}"/>
              </a:ext>
            </a:extLst>
          </p:cNvPr>
          <p:cNvSpPr txBox="1"/>
          <p:nvPr/>
        </p:nvSpPr>
        <p:spPr>
          <a:xfrm>
            <a:off x="4866556" y="2412494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pic>
        <p:nvPicPr>
          <p:cNvPr id="53" name="Grafikk 52" descr="Resirkuler med heldekkende fyll">
            <a:extLst>
              <a:ext uri="{FF2B5EF4-FFF2-40B4-BE49-F238E27FC236}">
                <a16:creationId xmlns:a16="http://schemas.microsoft.com/office/drawing/2014/main" id="{978F654F-47D4-C024-5C85-0B7CB5553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7307" y="3467469"/>
            <a:ext cx="355600" cy="355600"/>
          </a:xfrm>
          <a:prstGeom prst="rect">
            <a:avLst/>
          </a:prstGeom>
        </p:spPr>
      </p:pic>
      <p:pic>
        <p:nvPicPr>
          <p:cNvPr id="55" name="Grafikk 54" descr="Forstadslandskap med heldekkende fyll">
            <a:extLst>
              <a:ext uri="{FF2B5EF4-FFF2-40B4-BE49-F238E27FC236}">
                <a16:creationId xmlns:a16="http://schemas.microsoft.com/office/drawing/2014/main" id="{436E53E1-4B51-D57E-F1B1-BAF60B08C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3844" y="3387531"/>
            <a:ext cx="435538" cy="435538"/>
          </a:xfrm>
          <a:prstGeom prst="rect">
            <a:avLst/>
          </a:prstGeom>
        </p:spPr>
      </p:pic>
      <p:pic>
        <p:nvPicPr>
          <p:cNvPr id="60" name="Grafikk 59" descr="Arkivboks med heldekkende fyll">
            <a:extLst>
              <a:ext uri="{FF2B5EF4-FFF2-40B4-BE49-F238E27FC236}">
                <a16:creationId xmlns:a16="http://schemas.microsoft.com/office/drawing/2014/main" id="{16EE74FE-B5FC-7F26-44E3-5D091A9F5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9427" y="3421860"/>
            <a:ext cx="418731" cy="418731"/>
          </a:xfrm>
          <a:prstGeom prst="rect">
            <a:avLst/>
          </a:prstGeom>
        </p:spPr>
      </p:pic>
      <p:pic>
        <p:nvPicPr>
          <p:cNvPr id="64" name="Grafikk 63" descr="Database med heldekkende fyll">
            <a:extLst>
              <a:ext uri="{FF2B5EF4-FFF2-40B4-BE49-F238E27FC236}">
                <a16:creationId xmlns:a16="http://schemas.microsoft.com/office/drawing/2014/main" id="{F579A0FC-9CD3-B0D2-BB62-5555081F6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111" y="5265030"/>
            <a:ext cx="464340" cy="464340"/>
          </a:xfrm>
          <a:prstGeom prst="rect">
            <a:avLst/>
          </a:prstGeom>
        </p:spPr>
      </p:pic>
      <p:pic>
        <p:nvPicPr>
          <p:cNvPr id="121" name="Grafikk 120" descr="Blyant med heldekkende fyll">
            <a:extLst>
              <a:ext uri="{FF2B5EF4-FFF2-40B4-BE49-F238E27FC236}">
                <a16:creationId xmlns:a16="http://schemas.microsoft.com/office/drawing/2014/main" id="{BB1E20F1-79EA-B69A-1944-81A304D6E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2510" y="5314902"/>
            <a:ext cx="360492" cy="360492"/>
          </a:xfrm>
          <a:prstGeom prst="rect">
            <a:avLst/>
          </a:prstGeom>
        </p:spPr>
      </p:pic>
      <p:pic>
        <p:nvPicPr>
          <p:cNvPr id="123" name="Grafikk 122" descr="Tannhjul med heldekkende fyll">
            <a:extLst>
              <a:ext uri="{FF2B5EF4-FFF2-40B4-BE49-F238E27FC236}">
                <a16:creationId xmlns:a16="http://schemas.microsoft.com/office/drawing/2014/main" id="{F01A3984-EFD1-E5CF-06AD-3C55FA06C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3161" y="3435903"/>
            <a:ext cx="418731" cy="418731"/>
          </a:xfrm>
          <a:prstGeom prst="rect">
            <a:avLst/>
          </a:prstGeom>
        </p:spPr>
      </p:pic>
      <p:pic>
        <p:nvPicPr>
          <p:cNvPr id="194" name="Grafikk 193" descr="Server med heldekkende fyll">
            <a:extLst>
              <a:ext uri="{FF2B5EF4-FFF2-40B4-BE49-F238E27FC236}">
                <a16:creationId xmlns:a16="http://schemas.microsoft.com/office/drawing/2014/main" id="{6484E0DF-8698-23B1-91F7-594C320C9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0609" y="1886086"/>
            <a:ext cx="285135" cy="285135"/>
          </a:xfrm>
          <a:prstGeom prst="rect">
            <a:avLst/>
          </a:prstGeom>
        </p:spPr>
      </p:pic>
      <p:pic>
        <p:nvPicPr>
          <p:cNvPr id="209" name="Grafikk 208" descr="Nettleservindu med heldekkende fyll">
            <a:extLst>
              <a:ext uri="{FF2B5EF4-FFF2-40B4-BE49-F238E27FC236}">
                <a16:creationId xmlns:a16="http://schemas.microsoft.com/office/drawing/2014/main" id="{043A872B-6F25-9D5D-6B8F-2E9B73210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0609" y="430897"/>
            <a:ext cx="389087" cy="389087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99EDB047-18AB-545B-B9AB-9A21EB0A3F45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4" name="label_innholdsplattform"/>
          <p:cNvSpPr txBox="1"/>
          <p:nvPr/>
        </p:nvSpPr>
        <p:spPr>
          <a:xfrm>
            <a:off x="190500" y="4864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Innholdsplattform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0927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414234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D5327-0371-16A7-B246-C96B9901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F637A49F-AE7A-4696-D7D2-AD9A8D849272}"/>
              </a:ext>
            </a:extLst>
          </p:cNvPr>
          <p:cNvSpPr>
            <a:spLocks noGrp="1"/>
          </p:cNvSpPr>
          <p:nvPr/>
        </p:nvSpPr>
        <p:spPr>
          <a:xfrm>
            <a:off x="-22761178" y="-59377"/>
            <a:ext cx="26451928" cy="69767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grpSp>
        <p:nvGrpSpPr>
          <p:cNvPr id="40" name="Gruppe 39">
            <a:extLst>
              <a:ext uri="{FF2B5EF4-FFF2-40B4-BE49-F238E27FC236}">
                <a16:creationId xmlns:a16="http://schemas.microsoft.com/office/drawing/2014/main" id="{FE559D53-19E0-D4A9-E437-CC6101EFD80B}"/>
              </a:ext>
            </a:extLst>
          </p:cNvPr>
          <p:cNvGrpSpPr/>
          <p:nvPr/>
        </p:nvGrpSpPr>
        <p:grpSpPr>
          <a:xfrm>
            <a:off x="-772133" y="4180114"/>
            <a:ext cx="6198919" cy="2737262"/>
            <a:chOff x="-2508169" y="4180114"/>
            <a:chExt cx="6198919" cy="2737262"/>
          </a:xfrm>
        </p:grpSpPr>
        <p:sp>
          <p:nvSpPr>
            <p:cNvPr id="12" name="Kube 11">
              <a:extLst>
                <a:ext uri="{FF2B5EF4-FFF2-40B4-BE49-F238E27FC236}">
                  <a16:creationId xmlns:a16="http://schemas.microsoft.com/office/drawing/2014/main" id="{5DC0C28A-BCE0-0938-204B-2F7168FE7E7B}"/>
                </a:ext>
              </a:extLst>
            </p:cNvPr>
            <p:cNvSpPr/>
            <p:nvPr/>
          </p:nvSpPr>
          <p:spPr>
            <a:xfrm>
              <a:off x="-2508169" y="4180114"/>
              <a:ext cx="6198919" cy="2737262"/>
            </a:xfrm>
            <a:prstGeom prst="cube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pic>
          <p:nvPicPr>
            <p:cNvPr id="39" name="Grafikk 38" descr="Tralle med heldekkende fyll">
              <a:extLst>
                <a:ext uri="{FF2B5EF4-FFF2-40B4-BE49-F238E27FC236}">
                  <a16:creationId xmlns:a16="http://schemas.microsoft.com/office/drawing/2014/main" id="{8D9F1881-D272-C2FA-D838-322E7CB11A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3792" y="5239727"/>
              <a:ext cx="1323580" cy="1323580"/>
            </a:xfrm>
            <a:prstGeom prst="rect">
              <a:avLst/>
            </a:prstGeom>
          </p:spPr>
        </p:pic>
      </p:grp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808A5D88-7F46-5C74-7550-FBD96F607373}"/>
              </a:ext>
            </a:extLst>
          </p:cNvPr>
          <p:cNvGrpSpPr/>
          <p:nvPr/>
        </p:nvGrpSpPr>
        <p:grpSpPr>
          <a:xfrm>
            <a:off x="-784008" y="2090057"/>
            <a:ext cx="6198919" cy="2737262"/>
            <a:chOff x="-2520044" y="2090057"/>
            <a:chExt cx="6198919" cy="273726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3" name="Kube 12">
              <a:extLst>
                <a:ext uri="{FF2B5EF4-FFF2-40B4-BE49-F238E27FC236}">
                  <a16:creationId xmlns:a16="http://schemas.microsoft.com/office/drawing/2014/main" id="{1DC63F34-5D44-4125-B2AC-2B8EE94DADD3}"/>
                </a:ext>
              </a:extLst>
            </p:cNvPr>
            <p:cNvSpPr/>
            <p:nvPr/>
          </p:nvSpPr>
          <p:spPr>
            <a:xfrm>
              <a:off x="-2520044" y="2090057"/>
              <a:ext cx="6198919" cy="273726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pic>
          <p:nvPicPr>
            <p:cNvPr id="24" name="Grafikk 23" descr="Rute (sti mellom to tegnestifter) med heldekkende fyll">
              <a:extLst>
                <a:ext uri="{FF2B5EF4-FFF2-40B4-BE49-F238E27FC236}">
                  <a16:creationId xmlns:a16="http://schemas.microsoft.com/office/drawing/2014/main" id="{FB7395A3-749A-6DDC-1316-DFCCDC15B2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3792" y="2986645"/>
              <a:ext cx="1442851" cy="1442851"/>
            </a:xfrm>
            <a:prstGeom prst="rect">
              <a:avLst/>
            </a:prstGeom>
          </p:spPr>
        </p:pic>
      </p:grpSp>
      <p:grpSp>
        <p:nvGrpSpPr>
          <p:cNvPr id="41" name="Gruppe 40">
            <a:extLst>
              <a:ext uri="{FF2B5EF4-FFF2-40B4-BE49-F238E27FC236}">
                <a16:creationId xmlns:a16="http://schemas.microsoft.com/office/drawing/2014/main" id="{61C21C55-073C-0106-7A26-AB0AA62C9386}"/>
              </a:ext>
            </a:extLst>
          </p:cNvPr>
          <p:cNvGrpSpPr/>
          <p:nvPr/>
        </p:nvGrpSpPr>
        <p:grpSpPr>
          <a:xfrm>
            <a:off x="-772132" y="-59377"/>
            <a:ext cx="6198919" cy="2796639"/>
            <a:chOff x="-2508168" y="-59377"/>
            <a:chExt cx="6198919" cy="2796639"/>
          </a:xfrm>
        </p:grpSpPr>
        <p:sp>
          <p:nvSpPr>
            <p:cNvPr id="17" name="Kube 16">
              <a:extLst>
                <a:ext uri="{FF2B5EF4-FFF2-40B4-BE49-F238E27FC236}">
                  <a16:creationId xmlns:a16="http://schemas.microsoft.com/office/drawing/2014/main" id="{D1B5D87C-3240-F73A-5B33-2F7822373582}"/>
                </a:ext>
              </a:extLst>
            </p:cNvPr>
            <p:cNvSpPr/>
            <p:nvPr/>
          </p:nvSpPr>
          <p:spPr>
            <a:xfrm>
              <a:off x="-2508168" y="-59377"/>
              <a:ext cx="6198919" cy="2796639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pic>
          <p:nvPicPr>
            <p:cNvPr id="32" name="Grafikk 31" descr="Sjekkliste med heldekkende fyll">
              <a:extLst>
                <a:ext uri="{FF2B5EF4-FFF2-40B4-BE49-F238E27FC236}">
                  <a16:creationId xmlns:a16="http://schemas.microsoft.com/office/drawing/2014/main" id="{B3A5BE1D-C39A-4016-D03C-EBDA4DE8E7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792" y="1015859"/>
              <a:ext cx="1323580" cy="1323580"/>
            </a:xfrm>
            <a:prstGeom prst="rect">
              <a:avLst/>
            </a:prstGeom>
          </p:spPr>
        </p:pic>
      </p:grpSp>
      <p:sp>
        <p:nvSpPr>
          <p:cNvPr id="43" name="TekstSylinder 42">
            <a:extLst>
              <a:ext uri="{FF2B5EF4-FFF2-40B4-BE49-F238E27FC236}">
                <a16:creationId xmlns:a16="http://schemas.microsoft.com/office/drawing/2014/main" id="{D44F515C-9F2E-EA72-20FA-59F448BF69EE}"/>
              </a:ext>
            </a:extLst>
          </p:cNvPr>
          <p:cNvSpPr txBox="1"/>
          <p:nvPr/>
        </p:nvSpPr>
        <p:spPr>
          <a:xfrm>
            <a:off x="6096000" y="5239727"/>
            <a:ext cx="2906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Repository</a:t>
            </a:r>
            <a:endParaRPr kumimoji="0" lang="nb-NO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4" name="TekstSylinder 43">
            <a:extLst>
              <a:ext uri="{FF2B5EF4-FFF2-40B4-BE49-F238E27FC236}">
                <a16:creationId xmlns:a16="http://schemas.microsoft.com/office/drawing/2014/main" id="{7160D8D6-6ED9-8C4D-B5E3-ADFDC122D27D}"/>
              </a:ext>
            </a:extLst>
          </p:cNvPr>
          <p:cNvSpPr txBox="1"/>
          <p:nvPr/>
        </p:nvSpPr>
        <p:spPr>
          <a:xfrm>
            <a:off x="6096000" y="3094921"/>
            <a:ext cx="1945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6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Route</a:t>
            </a:r>
            <a:endParaRPr kumimoji="0" lang="nb-NO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5" name="TekstSylinder 44">
            <a:extLst>
              <a:ext uri="{FF2B5EF4-FFF2-40B4-BE49-F238E27FC236}">
                <a16:creationId xmlns:a16="http://schemas.microsoft.com/office/drawing/2014/main" id="{4A51CB96-3D74-5817-4AB6-D3D570F8F484}"/>
              </a:ext>
            </a:extLst>
          </p:cNvPr>
          <p:cNvSpPr txBox="1"/>
          <p:nvPr/>
        </p:nvSpPr>
        <p:spPr>
          <a:xfrm>
            <a:off x="6096000" y="950115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3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Schema</a:t>
            </a:r>
            <a:endParaRPr kumimoji="0" lang="nb-NO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31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4" grpId="0"/>
      <p:bldP spid="44" grpId="1"/>
      <p:bldP spid="45" grpId="0"/>
      <p:bldP spid="4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AD1F0-27E4-50EF-69C0-D044308A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band_brukerflate"/>
          <p:cNvSpPr/>
          <p:nvPr/>
        </p:nvSpPr>
        <p:spPr>
          <a:xfrm>
            <a:off x="0" y="0"/>
            <a:ext cx="12192000" cy="1397000"/>
          </a:xfrm>
          <a:prstGeom prst="rect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1" name="band_samhandling"/>
          <p:cNvSpPr/>
          <p:nvPr/>
        </p:nvSpPr>
        <p:spPr>
          <a:xfrm>
            <a:off x="0" y="1397000"/>
            <a:ext cx="12192000" cy="1587500"/>
          </a:xfrm>
          <a:prstGeom prst="rect">
            <a:avLst/>
          </a:prstGeom>
          <a:solidFill>
            <a:srgbClr val="5E60CE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3" name="band_fagtjenester"/>
          <p:cNvSpPr/>
          <p:nvPr/>
        </p:nvSpPr>
        <p:spPr>
          <a:xfrm>
            <a:off x="0" y="2984500"/>
            <a:ext cx="12192000" cy="1778000"/>
          </a:xfrm>
          <a:prstGeom prst="rect">
            <a:avLst/>
          </a:prstGeom>
          <a:solidFill>
            <a:srgbClr val="00A67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602" name="band_data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solidFill>
            <a:srgbClr val="0077B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4" name="Avrundet rektangel 3">
            <a:extLst>
              <a:ext uri="{FF2B5EF4-FFF2-40B4-BE49-F238E27FC236}">
                <a16:creationId xmlns:a16="http://schemas.microsoft.com/office/drawing/2014/main" id="{A6C4A276-6DE8-13A1-343F-2C6F85BC25F8}"/>
              </a:ext>
            </a:extLst>
          </p:cNvPr>
          <p:cNvSpPr/>
          <p:nvPr/>
        </p:nvSpPr>
        <p:spPr>
          <a:xfrm>
            <a:off x="5286748" y="298583"/>
            <a:ext cx="1618502" cy="623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Frontend</a:t>
            </a:r>
          </a:p>
        </p:txBody>
      </p:sp>
      <p:sp>
        <p:nvSpPr>
          <p:cNvPr id="5" name="Avrundet rektangel 4">
            <a:extLst>
              <a:ext uri="{FF2B5EF4-FFF2-40B4-BE49-F238E27FC236}">
                <a16:creationId xmlns:a16="http://schemas.microsoft.com/office/drawing/2014/main" id="{7D19ECD9-3F06-8267-67BC-660C7BAADA5E}"/>
              </a:ext>
            </a:extLst>
          </p:cNvPr>
          <p:cNvSpPr/>
          <p:nvPr/>
        </p:nvSpPr>
        <p:spPr>
          <a:xfrm>
            <a:off x="5375761" y="1730579"/>
            <a:ext cx="1440475" cy="6239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Backend</a:t>
            </a:r>
          </a:p>
        </p:txBody>
      </p:sp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737A7EEA-B638-7D34-2AC8-72CD01CE5607}"/>
              </a:ext>
            </a:extLst>
          </p:cNvPr>
          <p:cNvSpPr/>
          <p:nvPr/>
        </p:nvSpPr>
        <p:spPr>
          <a:xfrm>
            <a:off x="5047202" y="5108400"/>
            <a:ext cx="2023447" cy="7776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2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3BD04FE5-2976-BD8A-5213-0C8A40B12E1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5999" y="922527"/>
            <a:ext cx="0" cy="808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Matrikkel">
            <a:extLst>
              <a:ext uri="{FF2B5EF4-FFF2-40B4-BE49-F238E27FC236}">
                <a16:creationId xmlns:a16="http://schemas.microsoft.com/office/drawing/2014/main" id="{D70EBA4F-7BE3-E9E8-70CC-8CDAD1C80816}"/>
              </a:ext>
            </a:extLst>
          </p:cNvPr>
          <p:cNvSpPr>
            <a:spLocks noGrp="1"/>
          </p:cNvSpPr>
          <p:nvPr/>
        </p:nvSpPr>
        <p:spPr>
          <a:xfrm>
            <a:off x="6192856" y="3310500"/>
            <a:ext cx="2359412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Matrikkeltjeneste</a:t>
            </a:r>
          </a:p>
        </p:txBody>
      </p:sp>
      <p:cxnSp>
        <p:nvCxnSpPr>
          <p:cNvPr id="14" name="Vinkel 13">
            <a:extLst>
              <a:ext uri="{FF2B5EF4-FFF2-40B4-BE49-F238E27FC236}">
                <a16:creationId xmlns:a16="http://schemas.microsoft.com/office/drawing/2014/main" id="{5262A69A-7487-E5EE-5A9F-9C697D33838C}"/>
              </a:ext>
            </a:extLst>
          </p:cNvPr>
          <p:cNvCxnSpPr>
            <a:cxnSpLocks/>
            <a:stCxn id="100" idx="2"/>
            <a:endCxn id="6" idx="0"/>
          </p:cNvCxnSpPr>
          <p:nvPr/>
        </p:nvCxnSpPr>
        <p:spPr>
          <a:xfrm rot="5400000">
            <a:off x="6127944" y="3863782"/>
            <a:ext cx="1175600" cy="13136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Matrikkel">
            <a:extLst>
              <a:ext uri="{FF2B5EF4-FFF2-40B4-BE49-F238E27FC236}">
                <a16:creationId xmlns:a16="http://schemas.microsoft.com/office/drawing/2014/main" id="{367054E3-1FC2-3509-5C7A-9CE45C825F2E}"/>
              </a:ext>
            </a:extLst>
          </p:cNvPr>
          <p:cNvSpPr>
            <a:spLocks noGrp="1"/>
          </p:cNvSpPr>
          <p:nvPr/>
        </p:nvSpPr>
        <p:spPr>
          <a:xfrm>
            <a:off x="9010575" y="3310500"/>
            <a:ext cx="2737288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Renovasjonstjeneste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16" name="Vinkel 15">
            <a:extLst>
              <a:ext uri="{FF2B5EF4-FFF2-40B4-BE49-F238E27FC236}">
                <a16:creationId xmlns:a16="http://schemas.microsoft.com/office/drawing/2014/main" id="{A5B56D2E-B94E-38D6-B15B-A5D4FA86CDEB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7759621" y="690901"/>
            <a:ext cx="955977" cy="42832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Matrikkel">
            <a:extLst>
              <a:ext uri="{FF2B5EF4-FFF2-40B4-BE49-F238E27FC236}">
                <a16:creationId xmlns:a16="http://schemas.microsoft.com/office/drawing/2014/main" id="{8CD6B9A9-CA21-AF6D-FF68-D23D88363DDA}"/>
              </a:ext>
            </a:extLst>
          </p:cNvPr>
          <p:cNvSpPr>
            <a:spLocks noGrp="1"/>
          </p:cNvSpPr>
          <p:nvPr/>
        </p:nvSpPr>
        <p:spPr>
          <a:xfrm>
            <a:off x="1237845" y="3310498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CMS-tjeneste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0" name="Vinkel 19">
            <a:extLst>
              <a:ext uri="{FF2B5EF4-FFF2-40B4-BE49-F238E27FC236}">
                <a16:creationId xmlns:a16="http://schemas.microsoft.com/office/drawing/2014/main" id="{EDF0A6F4-6302-7202-5146-D6F593B0F0B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5400000">
            <a:off x="3674831" y="889329"/>
            <a:ext cx="955975" cy="38863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Matrikkel">
            <a:extLst>
              <a:ext uri="{FF2B5EF4-FFF2-40B4-BE49-F238E27FC236}">
                <a16:creationId xmlns:a16="http://schemas.microsoft.com/office/drawing/2014/main" id="{B950B27B-1A48-558F-BF29-F159370B3AE1}"/>
              </a:ext>
            </a:extLst>
          </p:cNvPr>
          <p:cNvSpPr>
            <a:spLocks noGrp="1"/>
          </p:cNvSpPr>
          <p:nvPr/>
        </p:nvSpPr>
        <p:spPr>
          <a:xfrm>
            <a:off x="1531088" y="5183997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Wagtail-CMS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30" name="Vinkel 29">
            <a:extLst>
              <a:ext uri="{FF2B5EF4-FFF2-40B4-BE49-F238E27FC236}">
                <a16:creationId xmlns:a16="http://schemas.microsoft.com/office/drawing/2014/main" id="{7F637E0D-1F6C-A5D3-C5F4-DE12C4221365}"/>
              </a:ext>
            </a:extLst>
          </p:cNvPr>
          <p:cNvCxnSpPr>
            <a:cxnSpLocks/>
            <a:stCxn id="6" idx="1"/>
            <a:endCxn id="29" idx="3"/>
          </p:cNvCxnSpPr>
          <p:nvPr/>
        </p:nvCxnSpPr>
        <p:spPr>
          <a:xfrm rot="10800000">
            <a:off x="3474670" y="5495148"/>
            <a:ext cx="1572533" cy="205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nkel 32">
            <a:extLst>
              <a:ext uri="{FF2B5EF4-FFF2-40B4-BE49-F238E27FC236}">
                <a16:creationId xmlns:a16="http://schemas.microsoft.com/office/drawing/2014/main" id="{1D88D64C-7165-FD69-EED7-45A71AFBCC5B}"/>
              </a:ext>
            </a:extLst>
          </p:cNvPr>
          <p:cNvCxnSpPr>
            <a:cxnSpLocks/>
            <a:stCxn id="29" idx="0"/>
            <a:endCxn id="19" idx="2"/>
          </p:cNvCxnSpPr>
          <p:nvPr/>
        </p:nvCxnSpPr>
        <p:spPr>
          <a:xfrm rot="16200000" flipV="1">
            <a:off x="1730659" y="4411776"/>
            <a:ext cx="1251199" cy="29324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nkel 8">
            <a:extLst>
              <a:ext uri="{FF2B5EF4-FFF2-40B4-BE49-F238E27FC236}">
                <a16:creationId xmlns:a16="http://schemas.microsoft.com/office/drawing/2014/main" id="{3B42344E-1DBA-48EE-18FF-20393F5AAF9C}"/>
              </a:ext>
            </a:extLst>
          </p:cNvPr>
          <p:cNvCxnSpPr>
            <a:cxnSpLocks/>
            <a:stCxn id="5" idx="2"/>
            <a:endCxn id="100" idx="0"/>
          </p:cNvCxnSpPr>
          <p:nvPr/>
        </p:nvCxnSpPr>
        <p:spPr>
          <a:xfrm rot="16200000" flipH="1">
            <a:off x="6256292" y="2194229"/>
            <a:ext cx="955977" cy="127656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Matrikkel">
            <a:extLst>
              <a:ext uri="{FF2B5EF4-FFF2-40B4-BE49-F238E27FC236}">
                <a16:creationId xmlns:a16="http://schemas.microsoft.com/office/drawing/2014/main" id="{ECC286BE-1343-F0B7-C433-200B0939D3A6}"/>
              </a:ext>
            </a:extLst>
          </p:cNvPr>
          <p:cNvSpPr>
            <a:spLocks noGrp="1"/>
          </p:cNvSpPr>
          <p:nvPr/>
        </p:nvSpPr>
        <p:spPr>
          <a:xfrm>
            <a:off x="3562567" y="3310500"/>
            <a:ext cx="1943581" cy="6223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Arkivtjeneste</a:t>
            </a:r>
            <a:endParaRPr kumimoji="0" lang="nb-NO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6" name="Vinkel 25">
            <a:extLst>
              <a:ext uri="{FF2B5EF4-FFF2-40B4-BE49-F238E27FC236}">
                <a16:creationId xmlns:a16="http://schemas.microsoft.com/office/drawing/2014/main" id="{3CE3D1CD-4047-F6AA-031E-9FC45679D72E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5400000">
            <a:off x="4837191" y="2051691"/>
            <a:ext cx="955977" cy="15616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nkel 30">
            <a:extLst>
              <a:ext uri="{FF2B5EF4-FFF2-40B4-BE49-F238E27FC236}">
                <a16:creationId xmlns:a16="http://schemas.microsoft.com/office/drawing/2014/main" id="{F4282CC9-9E1D-A2AC-7071-438D8A79ED8F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rot="16200000" flipV="1">
            <a:off x="4708842" y="3758316"/>
            <a:ext cx="1175600" cy="152456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abel_frontend">
            <a:extLst>
              <a:ext uri="{FF2B5EF4-FFF2-40B4-BE49-F238E27FC236}">
                <a16:creationId xmlns:a16="http://schemas.microsoft.com/office/drawing/2014/main" id="{57E21EEA-DB7C-000D-0802-D0EF706FA69C}"/>
              </a:ext>
            </a:extLst>
          </p:cNvPr>
          <p:cNvSpPr txBox="1"/>
          <p:nvPr/>
        </p:nvSpPr>
        <p:spPr>
          <a:xfrm>
            <a:off x="5131031" y="953738"/>
            <a:ext cx="2298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React   Vite | nginx</a:t>
            </a:r>
          </a:p>
        </p:txBody>
      </p:sp>
      <p:sp>
        <p:nvSpPr>
          <p:cNvPr id="202" name="label_cms_service">
            <a:extLst>
              <a:ext uri="{FF2B5EF4-FFF2-40B4-BE49-F238E27FC236}">
                <a16:creationId xmlns:a16="http://schemas.microsoft.com/office/drawing/2014/main" id="{C0B56AA2-F5E7-7EAD-A75E-45DBB7705C49}"/>
              </a:ext>
            </a:extLst>
          </p:cNvPr>
          <p:cNvSpPr txBox="1"/>
          <p:nvPr/>
        </p:nvSpPr>
        <p:spPr>
          <a:xfrm>
            <a:off x="1940017" y="3989948"/>
            <a:ext cx="144841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4" name="label_matrikkel">
            <a:extLst>
              <a:ext uri="{FF2B5EF4-FFF2-40B4-BE49-F238E27FC236}">
                <a16:creationId xmlns:a16="http://schemas.microsoft.com/office/drawing/2014/main" id="{B3360A34-08EF-A8CA-A6EE-F3F3A5A7CE85}"/>
              </a:ext>
            </a:extLst>
          </p:cNvPr>
          <p:cNvSpPr txBox="1"/>
          <p:nvPr/>
        </p:nvSpPr>
        <p:spPr>
          <a:xfrm>
            <a:off x="6116740" y="3962358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05" name="label_renovasjon">
            <a:extLst>
              <a:ext uri="{FF2B5EF4-FFF2-40B4-BE49-F238E27FC236}">
                <a16:creationId xmlns:a16="http://schemas.microsoft.com/office/drawing/2014/main" id="{88E43607-F46D-224B-8F8F-105F1C816A42}"/>
              </a:ext>
            </a:extLst>
          </p:cNvPr>
          <p:cNvSpPr txBox="1"/>
          <p:nvPr/>
        </p:nvSpPr>
        <p:spPr>
          <a:xfrm>
            <a:off x="8756294" y="3980038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</a:t>
            </a:r>
          </a:p>
        </p:txBody>
      </p:sp>
      <p:sp>
        <p:nvSpPr>
          <p:cNvPr id="206" name="label_wagtail">
            <a:extLst>
              <a:ext uri="{FF2B5EF4-FFF2-40B4-BE49-F238E27FC236}">
                <a16:creationId xmlns:a16="http://schemas.microsoft.com/office/drawing/2014/main" id="{B92608DA-7387-906A-9FD8-41F91A94B203}"/>
              </a:ext>
            </a:extLst>
          </p:cNvPr>
          <p:cNvSpPr txBox="1"/>
          <p:nvPr/>
        </p:nvSpPr>
        <p:spPr>
          <a:xfrm>
            <a:off x="1162267" y="5868986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Django | Wagtail</a:t>
            </a:r>
          </a:p>
        </p:txBody>
      </p:sp>
      <p:sp>
        <p:nvSpPr>
          <p:cNvPr id="207" name="label_database">
            <a:extLst>
              <a:ext uri="{FF2B5EF4-FFF2-40B4-BE49-F238E27FC236}">
                <a16:creationId xmlns:a16="http://schemas.microsoft.com/office/drawing/2014/main" id="{3A2DBCD7-B516-87C5-5C92-C2274758242E}"/>
              </a:ext>
            </a:extLst>
          </p:cNvPr>
          <p:cNvSpPr txBox="1"/>
          <p:nvPr/>
        </p:nvSpPr>
        <p:spPr>
          <a:xfrm>
            <a:off x="4687140" y="5939522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PostgreSQL | PostGIS </a:t>
            </a:r>
          </a:p>
        </p:txBody>
      </p:sp>
      <p:sp>
        <p:nvSpPr>
          <p:cNvPr id="22" name="label_matrikkel">
            <a:extLst>
              <a:ext uri="{FF2B5EF4-FFF2-40B4-BE49-F238E27FC236}">
                <a16:creationId xmlns:a16="http://schemas.microsoft.com/office/drawing/2014/main" id="{4E18C3F7-1F3D-7B07-BED5-E7B57588AE6D}"/>
              </a:ext>
            </a:extLst>
          </p:cNvPr>
          <p:cNvSpPr txBox="1"/>
          <p:nvPr/>
        </p:nvSpPr>
        <p:spPr>
          <a:xfrm>
            <a:off x="3272396" y="3951951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sp>
        <p:nvSpPr>
          <p:cNvPr id="23" name="label_matrikkel">
            <a:extLst>
              <a:ext uri="{FF2B5EF4-FFF2-40B4-BE49-F238E27FC236}">
                <a16:creationId xmlns:a16="http://schemas.microsoft.com/office/drawing/2014/main" id="{6D88AE51-92CD-0785-485A-AFBBC7A7F953}"/>
              </a:ext>
            </a:extLst>
          </p:cNvPr>
          <p:cNvSpPr txBox="1"/>
          <p:nvPr/>
        </p:nvSpPr>
        <p:spPr>
          <a:xfrm>
            <a:off x="4866556" y="2412494"/>
            <a:ext cx="2652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00" b="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FastAPI    SQLAlchemy</a:t>
            </a:r>
          </a:p>
        </p:txBody>
      </p:sp>
      <p:pic>
        <p:nvPicPr>
          <p:cNvPr id="53" name="Grafikk 52" descr="Resirkuler med heldekkende fyll">
            <a:extLst>
              <a:ext uri="{FF2B5EF4-FFF2-40B4-BE49-F238E27FC236}">
                <a16:creationId xmlns:a16="http://schemas.microsoft.com/office/drawing/2014/main" id="{CC4836A2-31EA-82C5-5D4B-C32957068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7307" y="3467469"/>
            <a:ext cx="355600" cy="355600"/>
          </a:xfrm>
          <a:prstGeom prst="rect">
            <a:avLst/>
          </a:prstGeom>
        </p:spPr>
      </p:pic>
      <p:pic>
        <p:nvPicPr>
          <p:cNvPr id="55" name="Grafikk 54" descr="Forstadslandskap med heldekkende fyll">
            <a:extLst>
              <a:ext uri="{FF2B5EF4-FFF2-40B4-BE49-F238E27FC236}">
                <a16:creationId xmlns:a16="http://schemas.microsoft.com/office/drawing/2014/main" id="{E37F17F3-795F-3A10-3E7C-9E76A503F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3844" y="3387531"/>
            <a:ext cx="435538" cy="435538"/>
          </a:xfrm>
          <a:prstGeom prst="rect">
            <a:avLst/>
          </a:prstGeom>
        </p:spPr>
      </p:pic>
      <p:pic>
        <p:nvPicPr>
          <p:cNvPr id="60" name="Grafikk 59" descr="Arkivboks med heldekkende fyll">
            <a:extLst>
              <a:ext uri="{FF2B5EF4-FFF2-40B4-BE49-F238E27FC236}">
                <a16:creationId xmlns:a16="http://schemas.microsoft.com/office/drawing/2014/main" id="{B0041906-3105-B021-FF90-0247D3B3C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9427" y="3421860"/>
            <a:ext cx="418731" cy="418731"/>
          </a:xfrm>
          <a:prstGeom prst="rect">
            <a:avLst/>
          </a:prstGeom>
        </p:spPr>
      </p:pic>
      <p:pic>
        <p:nvPicPr>
          <p:cNvPr id="64" name="Grafikk 63" descr="Database med heldekkende fyll">
            <a:extLst>
              <a:ext uri="{FF2B5EF4-FFF2-40B4-BE49-F238E27FC236}">
                <a16:creationId xmlns:a16="http://schemas.microsoft.com/office/drawing/2014/main" id="{C8149BBE-1B59-C5B2-E12B-A28D248DC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111" y="5265030"/>
            <a:ext cx="464340" cy="464340"/>
          </a:xfrm>
          <a:prstGeom prst="rect">
            <a:avLst/>
          </a:prstGeom>
        </p:spPr>
      </p:pic>
      <p:pic>
        <p:nvPicPr>
          <p:cNvPr id="121" name="Grafikk 120" descr="Blyant med heldekkende fyll">
            <a:extLst>
              <a:ext uri="{FF2B5EF4-FFF2-40B4-BE49-F238E27FC236}">
                <a16:creationId xmlns:a16="http://schemas.microsoft.com/office/drawing/2014/main" id="{DCAE5327-E8DA-A2CF-6821-7895F9148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2510" y="5314902"/>
            <a:ext cx="360492" cy="360492"/>
          </a:xfrm>
          <a:prstGeom prst="rect">
            <a:avLst/>
          </a:prstGeom>
        </p:spPr>
      </p:pic>
      <p:pic>
        <p:nvPicPr>
          <p:cNvPr id="123" name="Grafikk 122" descr="Tannhjul med heldekkende fyll">
            <a:extLst>
              <a:ext uri="{FF2B5EF4-FFF2-40B4-BE49-F238E27FC236}">
                <a16:creationId xmlns:a16="http://schemas.microsoft.com/office/drawing/2014/main" id="{C374775A-E6B2-78C9-B0A5-64D2444BE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3161" y="3435903"/>
            <a:ext cx="418731" cy="418731"/>
          </a:xfrm>
          <a:prstGeom prst="rect">
            <a:avLst/>
          </a:prstGeom>
        </p:spPr>
      </p:pic>
      <p:pic>
        <p:nvPicPr>
          <p:cNvPr id="194" name="Grafikk 193" descr="Server med heldekkende fyll">
            <a:extLst>
              <a:ext uri="{FF2B5EF4-FFF2-40B4-BE49-F238E27FC236}">
                <a16:creationId xmlns:a16="http://schemas.microsoft.com/office/drawing/2014/main" id="{F1BE782F-E562-D56A-E9B1-B2DA25E0A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0609" y="1886086"/>
            <a:ext cx="285135" cy="285135"/>
          </a:xfrm>
          <a:prstGeom prst="rect">
            <a:avLst/>
          </a:prstGeom>
        </p:spPr>
      </p:pic>
      <p:pic>
        <p:nvPicPr>
          <p:cNvPr id="209" name="Grafikk 208" descr="Nettleservindu med heldekkende fyll">
            <a:extLst>
              <a:ext uri="{FF2B5EF4-FFF2-40B4-BE49-F238E27FC236}">
                <a16:creationId xmlns:a16="http://schemas.microsoft.com/office/drawing/2014/main" id="{9B48E293-637F-3378-B59E-CF60E7C14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0609" y="430897"/>
            <a:ext cx="389087" cy="389087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EBFCF784-23EF-8E80-6699-4CF1479DDDDB}"/>
              </a:ext>
            </a:extLst>
          </p:cNvPr>
          <p:cNvSpPr txBox="1">
            <a:spLocks/>
          </p:cNvSpPr>
          <p:nvPr/>
        </p:nvSpPr>
        <p:spPr>
          <a:xfrm>
            <a:off x="571500" y="456233"/>
            <a:ext cx="10515600" cy="77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F0302020204030204"/>
                <a:ea typeface="+mj-ea"/>
                <a:cs typeface="+mj-cs"/>
              </a:rPr>
              <a:t>Arkitektur</a:t>
            </a:r>
          </a:p>
        </p:txBody>
      </p:sp>
      <p:sp>
        <p:nvSpPr>
          <p:cNvPr id="500" name="label_brukerflate"/>
          <p:cNvSpPr txBox="1"/>
          <p:nvPr/>
        </p:nvSpPr>
        <p:spPr>
          <a:xfrm>
            <a:off x="190500" y="101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Brukerflate</a:t>
            </a:r>
          </a:p>
        </p:txBody>
      </p:sp>
      <p:sp>
        <p:nvSpPr>
          <p:cNvPr id="501" name="label_samhandling"/>
          <p:cNvSpPr txBox="1"/>
          <p:nvPr/>
        </p:nvSpPr>
        <p:spPr>
          <a:xfrm>
            <a:off x="190500" y="14986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Samhandlingslag</a:t>
            </a:r>
          </a:p>
        </p:txBody>
      </p:sp>
      <p:sp>
        <p:nvSpPr>
          <p:cNvPr id="503" name="label_fagtjenester"/>
          <p:cNvSpPr txBox="1"/>
          <p:nvPr/>
        </p:nvSpPr>
        <p:spPr>
          <a:xfrm>
            <a:off x="190500" y="3086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Fagtjenester</a:t>
            </a:r>
          </a:p>
        </p:txBody>
      </p:sp>
      <p:sp>
        <p:nvSpPr>
          <p:cNvPr id="504" name="label_innholdsplattform"/>
          <p:cNvSpPr txBox="1"/>
          <p:nvPr/>
        </p:nvSpPr>
        <p:spPr>
          <a:xfrm>
            <a:off x="190500" y="48641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Innholdsplattform</a:t>
            </a:r>
          </a:p>
        </p:txBody>
      </p:sp>
      <p:sp>
        <p:nvSpPr>
          <p:cNvPr id="502" name="label_dataplattform"/>
          <p:cNvSpPr txBox="1"/>
          <p:nvPr/>
        </p:nvSpPr>
        <p:spPr>
          <a:xfrm>
            <a:off x="190500" y="5092700"/>
            <a:ext cx="1524000" cy="20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nb-NO" sz="1000" b="0" i="1">
                <a:solidFill>
                  <a:srgbClr val="595959"/>
                </a:solidFill>
                <a:latin typeface="Consolas"/>
                <a:cs typeface="Consolas"/>
              </a:rPr>
              <a:t>Dataplattform</a:t>
            </a:r>
          </a:p>
        </p:txBody>
      </p:sp>
    </p:spTree>
    <p:extLst>
      <p:ext uri="{BB962C8B-B14F-4D97-AF65-F5344CB8AC3E}">
        <p14:creationId xmlns:p14="http://schemas.microsoft.com/office/powerpoint/2010/main" val="3162019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62D4A44-7A2A-B073-63F0-5FF32410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nb-NO" sz="4800"/>
              <a:t>Metode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16C7EB-20A9-A0D7-5C7B-651E14B6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sz="2000"/>
              <a:t>Scrum</a:t>
            </a:r>
          </a:p>
          <a:p>
            <a:r>
              <a:rPr lang="nb-NO" sz="2000"/>
              <a:t>Tre product increments (pi) på 7 uker</a:t>
            </a:r>
            <a:endParaRPr lang="en-US" sz="2000"/>
          </a:p>
          <a:p>
            <a:r>
              <a:rPr lang="nb-NO" sz="2000"/>
              <a:t>Daglige standups</a:t>
            </a:r>
          </a:p>
          <a:p>
            <a:r>
              <a:rPr lang="nb-NO" sz="2000"/>
              <a:t>SAFe: koordingering med andre bachelor-grupper hos kommunen</a:t>
            </a:r>
          </a:p>
          <a:p>
            <a:r>
              <a:rPr lang="nb-NO" sz="2000"/>
              <a:t>Arkitekturforum</a:t>
            </a:r>
          </a:p>
          <a:p>
            <a:r>
              <a:rPr lang="nb-NO" sz="2000"/>
              <a:t>Scrummaster-forum</a:t>
            </a:r>
          </a:p>
          <a:p>
            <a:r>
              <a:rPr lang="nb-NO" sz="2000"/>
              <a:t>MoSCoW for prioriteringer</a:t>
            </a:r>
          </a:p>
          <a:p>
            <a:r>
              <a:rPr lang="nb-NO" sz="2000"/>
              <a:t>GitHub for backlog</a:t>
            </a:r>
            <a:endParaRPr lang="nb-NO"/>
          </a:p>
        </p:txBody>
      </p:sp>
      <p:pic>
        <p:nvPicPr>
          <p:cNvPr id="5" name="Plassholder for innhold 3" descr="Et bilde som inneholder tekst, skjermbilde, Font, nummer&#10;&#10;KI-generert innhold kan være feil.">
            <a:extLst>
              <a:ext uri="{FF2B5EF4-FFF2-40B4-BE49-F238E27FC236}">
                <a16:creationId xmlns:a16="http://schemas.microsoft.com/office/drawing/2014/main" id="{BEB5B2C7-250A-0041-3AD2-3BF7E336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977" y="3023994"/>
            <a:ext cx="6003999" cy="278998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e 6" descr="Et bilde som inneholder tekst, skjermbilde, design&#10;&#10;KI-generert innhold kan være feil.">
            <a:extLst>
              <a:ext uri="{FF2B5EF4-FFF2-40B4-BE49-F238E27FC236}">
                <a16:creationId xmlns:a16="http://schemas.microsoft.com/office/drawing/2014/main" id="{3C208A0C-5A83-EEA0-3447-F8A52D626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999" y="73209"/>
            <a:ext cx="6489346" cy="3645140"/>
          </a:xfrm>
          <a:prstGeom prst="rect">
            <a:avLst/>
          </a:prstGeom>
        </p:spPr>
      </p:pic>
      <p:pic>
        <p:nvPicPr>
          <p:cNvPr id="4" name="Bilde 3" descr="Et bilde som inneholder tekst, skjermbilde, programvare, Multimedieprogramvare&#10;&#10;KI-generert innhold kan være feil.">
            <a:extLst>
              <a:ext uri="{FF2B5EF4-FFF2-40B4-BE49-F238E27FC236}">
                <a16:creationId xmlns:a16="http://schemas.microsoft.com/office/drawing/2014/main" id="{E7B54D14-EBBC-B21A-C040-BC5AD9350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126" y="168938"/>
            <a:ext cx="8794486" cy="490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7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5A4058-6E5F-DE00-CAA8-72E0F584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Kvalitetssikring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CC87F2-A0A6-4E56-9851-9638E460CC98}"/>
              </a:ext>
            </a:extLst>
          </p:cNvPr>
          <p:cNvSpPr/>
          <p:nvPr/>
        </p:nvSpPr>
        <p:spPr>
          <a:xfrm>
            <a:off x="508000" y="1905000"/>
            <a:ext cx="54356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82880" tIns="91440" rIns="91440" bIns="45720" rtlCol="0" anchor="t"/>
          <a:lstStyle/>
          <a:p>
            <a:pPr algn="l">
              <a:spcAft>
                <a:spcPts val="400"/>
              </a:spcAft>
              <a:buNone/>
            </a:pPr>
            <a:r>
              <a:rPr lang="nb-NO" sz="2000" b="1">
                <a:solidFill>
                  <a:srgbClr val="0E2841"/>
                </a:solidFill>
              </a:rPr>
              <a:t>Kodekvalitet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Pull requests på GitHub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Tester i koden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Typescript type-sjekk og Pydantic dataformat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endParaRPr lang="nb-NO" sz="1200">
              <a:solidFill>
                <a:srgbClr val="26262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36485-BEB8-43FA-A102-61343D1029E5}"/>
              </a:ext>
            </a:extLst>
          </p:cNvPr>
          <p:cNvSpPr/>
          <p:nvPr/>
        </p:nvSpPr>
        <p:spPr>
          <a:xfrm>
            <a:off x="508000" y="1905000"/>
            <a:ext cx="101600" cy="22225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344DB1-317F-48D7-828C-0815CE71A07E}"/>
              </a:ext>
            </a:extLst>
          </p:cNvPr>
          <p:cNvSpPr/>
          <p:nvPr/>
        </p:nvSpPr>
        <p:spPr>
          <a:xfrm>
            <a:off x="6248400" y="1905000"/>
            <a:ext cx="54356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82880" tIns="91440" rIns="91440" bIns="45720" rtlCol="0" anchor="t"/>
          <a:lstStyle/>
          <a:p>
            <a:pPr algn="l">
              <a:spcAft>
                <a:spcPts val="400"/>
              </a:spcAft>
              <a:buNone/>
            </a:pPr>
            <a:r>
              <a:rPr lang="nb-NO" sz="2000" b="1">
                <a:solidFill>
                  <a:srgbClr val="156082"/>
                </a:solidFill>
              </a:rPr>
              <a:t>Arkitektur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Anbebalinger fra kommunen</a:t>
            </a:r>
          </a:p>
          <a:p>
            <a:pPr marL="200025" indent="-200025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Separasjon av ansvar – repository-mønsteret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Mikrotjenestearkitektur med Docker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909D9-9704-4CF2-9A37-21B27B9DAA3C}"/>
              </a:ext>
            </a:extLst>
          </p:cNvPr>
          <p:cNvSpPr/>
          <p:nvPr/>
        </p:nvSpPr>
        <p:spPr>
          <a:xfrm>
            <a:off x="6248400" y="1905000"/>
            <a:ext cx="101600" cy="2222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D44C04-E1D7-40B6-84A9-894D5867BF2E}"/>
              </a:ext>
            </a:extLst>
          </p:cNvPr>
          <p:cNvSpPr/>
          <p:nvPr/>
        </p:nvSpPr>
        <p:spPr>
          <a:xfrm>
            <a:off x="6248400" y="4445000"/>
            <a:ext cx="54356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82880" tIns="91440" rIns="91440" bIns="45720" rtlCol="0" anchor="t"/>
          <a:lstStyle/>
          <a:p>
            <a:pPr algn="l">
              <a:spcAft>
                <a:spcPts val="400"/>
              </a:spcAft>
              <a:buNone/>
            </a:pPr>
            <a:r>
              <a:rPr lang="nb-NO" sz="2000" b="1">
                <a:solidFill>
                  <a:srgbClr val="E97132"/>
                </a:solidFill>
              </a:rPr>
              <a:t>Resultat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Brukere, arbeidsgiver, interessenter</a:t>
            </a:r>
          </a:p>
          <a:p>
            <a:pPr marL="200025" indent="-200025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Bruker og experttesting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Standardiserte tester og verkøy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SUS, Tenk-høyt-metoden, ekspertevaluering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E6A8E5-E36B-4EC5-B450-2C32D1021284}"/>
              </a:ext>
            </a:extLst>
          </p:cNvPr>
          <p:cNvSpPr/>
          <p:nvPr/>
        </p:nvSpPr>
        <p:spPr>
          <a:xfrm>
            <a:off x="6248400" y="4445000"/>
            <a:ext cx="101600" cy="2222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C93F392-332D-47DB-8F23-0BB8F44F177C}"/>
              </a:ext>
            </a:extLst>
          </p:cNvPr>
          <p:cNvSpPr/>
          <p:nvPr/>
        </p:nvSpPr>
        <p:spPr>
          <a:xfrm>
            <a:off x="508000" y="4445000"/>
            <a:ext cx="54356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82880" tIns="91440" rIns="91440" bIns="45720" rtlCol="0" anchor="t"/>
          <a:lstStyle/>
          <a:p>
            <a:pPr algn="l">
              <a:spcAft>
                <a:spcPts val="400"/>
              </a:spcAft>
              <a:buNone/>
            </a:pPr>
            <a:r>
              <a:rPr lang="nb-NO" sz="2000" b="1">
                <a:solidFill>
                  <a:srgbClr val="196B24"/>
                </a:solidFill>
              </a:rPr>
              <a:t>Prosess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Research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Daglige standups</a:t>
            </a:r>
          </a:p>
          <a:p>
            <a:pPr marL="200025" indent="-200025" algn="l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Møter med prosjektleder og kommunen</a:t>
            </a:r>
          </a:p>
          <a:p>
            <a:pPr marL="200025" indent="-200025">
              <a:lnSpc>
                <a:spcPct val="110000"/>
              </a:lnSpc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262626"/>
                </a:solidFill>
              </a:rPr>
              <a:t>Definition of done, MoSCoW-prioritering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1E1C96-CCA0-44FF-A68F-37B58DAFCA9D}"/>
              </a:ext>
            </a:extLst>
          </p:cNvPr>
          <p:cNvSpPr/>
          <p:nvPr/>
        </p:nvSpPr>
        <p:spPr>
          <a:xfrm>
            <a:off x="508000" y="4445000"/>
            <a:ext cx="101600" cy="22225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19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2032000"/>
            <a:ext cx="330200" cy="330200"/>
          </a:xfrm>
          <a:prstGeom prst="rect">
            <a:avLst/>
          </a:prstGeom>
        </p:spPr>
      </p:pic>
      <p:pic>
        <p:nvPicPr>
          <p:cNvPr id="20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00" y="2032000"/>
            <a:ext cx="330200" cy="330200"/>
          </a:xfrm>
          <a:prstGeom prst="rect">
            <a:avLst/>
          </a:prstGeom>
        </p:spPr>
      </p:pic>
      <p:pic>
        <p:nvPicPr>
          <p:cNvPr id="21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6800" y="4572000"/>
            <a:ext cx="330200" cy="330200"/>
          </a:xfrm>
          <a:prstGeom prst="rect">
            <a:avLst/>
          </a:prstGeom>
        </p:spPr>
      </p:pic>
      <p:pic>
        <p:nvPicPr>
          <p:cNvPr id="22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0" y="45720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16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44EC078-E763-F859-FC8F-F7E7FA90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Nasjonal skalering &amp; konklusjon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23E8D-3B1B-4361-A8E3-A7260E433597}"/>
              </a:ext>
            </a:extLst>
          </p:cNvPr>
          <p:cNvSpPr/>
          <p:nvPr/>
        </p:nvSpPr>
        <p:spPr>
          <a:xfrm>
            <a:off x="838200" y="1778000"/>
            <a:ext cx="762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3CD1F-D709-483A-B425-927AF7037CC3}"/>
              </a:ext>
            </a:extLst>
          </p:cNvPr>
          <p:cNvSpPr/>
          <p:nvPr/>
        </p:nvSpPr>
        <p:spPr>
          <a:xfrm>
            <a:off x="508000" y="2413000"/>
            <a:ext cx="26416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DE3730-B266-4E0D-BA34-DCA6749D2B71}"/>
              </a:ext>
            </a:extLst>
          </p:cNvPr>
          <p:cNvSpPr/>
          <p:nvPr/>
        </p:nvSpPr>
        <p:spPr>
          <a:xfrm>
            <a:off x="508000" y="2476500"/>
            <a:ext cx="2641600" cy="4064000"/>
          </a:xfrm>
          <a:prstGeom prst="roundRect">
            <a:avLst/>
          </a:prstGeom>
          <a:solidFill>
            <a:srgbClr val="F7F9FB"/>
          </a:solidFill>
          <a:ln w="6350" cap="flat" cmpd="sng" algn="ctr">
            <a:solidFill>
              <a:srgbClr val="E0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152400" rIns="152400" bIns="9144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>
                <a:solidFill>
                  <a:srgbClr val="156082"/>
                </a:solidFill>
              </a:rPr>
              <a:t>Hva viser POC-en?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nb-NO" sz="1600" b="1">
                <a:solidFill>
                  <a:srgbClr val="1A2A3A"/>
                </a:solidFill>
              </a:rPr>
              <a:t>Arkitektur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Legger til rette for skalering 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Tre kommuner -  designet for flere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9E01A-19E7-4665-89DD-FDAABD756DBA}"/>
              </a:ext>
            </a:extLst>
          </p:cNvPr>
          <p:cNvSpPr/>
          <p:nvPr/>
        </p:nvSpPr>
        <p:spPr>
          <a:xfrm>
            <a:off x="3352800" y="2413000"/>
            <a:ext cx="26416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CBAD5B-09DE-4C5D-B274-5DDB07135CD8}"/>
              </a:ext>
            </a:extLst>
          </p:cNvPr>
          <p:cNvSpPr/>
          <p:nvPr/>
        </p:nvSpPr>
        <p:spPr>
          <a:xfrm>
            <a:off x="3352800" y="2476500"/>
            <a:ext cx="2641600" cy="4064000"/>
          </a:xfrm>
          <a:prstGeom prst="roundRect">
            <a:avLst/>
          </a:prstGeom>
          <a:solidFill>
            <a:srgbClr val="F7F9FB"/>
          </a:solidFill>
          <a:ln w="6350" cap="flat" cmpd="sng" algn="ctr">
            <a:solidFill>
              <a:srgbClr val="E0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152400" rIns="152400" bIns="9144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>
                <a:solidFill>
                  <a:srgbClr val="156082"/>
                </a:solidFill>
              </a:rPr>
              <a:t>Forutsetninger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nb-NO" sz="1600" b="1">
                <a:solidFill>
                  <a:srgbClr val="1A2A3A"/>
                </a:solidFill>
              </a:rPr>
              <a:t>For nasjonal skalering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nb-NO" sz="1600" b="1">
                <a:solidFill>
                  <a:srgbClr val="156082"/>
                </a:solidFill>
              </a:rPr>
              <a:t>Teknisk: </a:t>
            </a:r>
            <a:r>
              <a:rPr lang="nb-NO" sz="1600">
                <a:solidFill>
                  <a:srgbClr val="333333"/>
                </a:solidFill>
              </a:rPr>
              <a:t>Standardiserte API-er og SOAP-adapter for Matrikkelen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nb-NO" sz="1600" b="1">
                <a:solidFill>
                  <a:srgbClr val="156082"/>
                </a:solidFill>
              </a:rPr>
              <a:t>Organisatorisk: </a:t>
            </a:r>
            <a:r>
              <a:rPr lang="nb-NO" sz="1600">
                <a:solidFill>
                  <a:srgbClr val="333333"/>
                </a:solidFill>
              </a:rPr>
              <a:t>Driftsansvar, finansieringmodell og gradvis pilotutrulling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nb-NO" sz="1600" b="1">
                <a:solidFill>
                  <a:srgbClr val="156082"/>
                </a:solidFill>
              </a:rPr>
              <a:t>Semantisk: </a:t>
            </a:r>
            <a:r>
              <a:rPr lang="nb-NO" sz="1600">
                <a:solidFill>
                  <a:srgbClr val="333333"/>
                </a:solidFill>
              </a:rPr>
              <a:t>Felles begreper og datamodeller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95C870-D0B5-4967-A636-6798F3A3A809}"/>
              </a:ext>
            </a:extLst>
          </p:cNvPr>
          <p:cNvSpPr/>
          <p:nvPr/>
        </p:nvSpPr>
        <p:spPr>
          <a:xfrm>
            <a:off x="6197600" y="2413000"/>
            <a:ext cx="26416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61010F-956D-4E01-89A1-923BC3E13810}"/>
              </a:ext>
            </a:extLst>
          </p:cNvPr>
          <p:cNvSpPr/>
          <p:nvPr/>
        </p:nvSpPr>
        <p:spPr>
          <a:xfrm>
            <a:off x="6197600" y="2476500"/>
            <a:ext cx="2641600" cy="4064000"/>
          </a:xfrm>
          <a:prstGeom prst="roundRect">
            <a:avLst/>
          </a:prstGeom>
          <a:solidFill>
            <a:srgbClr val="F7F9FB"/>
          </a:solidFill>
          <a:ln w="6350" cap="flat" cmpd="sng" algn="ctr">
            <a:solidFill>
              <a:srgbClr val="E0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152400" rIns="152400" bIns="9144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>
                <a:solidFill>
                  <a:srgbClr val="156082"/>
                </a:solidFill>
              </a:rPr>
              <a:t>Konklusjon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nb-NO" sz="1600" b="1">
                <a:solidFill>
                  <a:srgbClr val="1A2A3A"/>
                </a:solidFill>
              </a:rPr>
              <a:t>Hovedfunn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Mer hensiktsmessig enn at hver kommune utvikler sitt eget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Organisatorisk vilje og standardisering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1E0A56-C6BB-46C2-8AD6-C884A0AD1C5C}"/>
              </a:ext>
            </a:extLst>
          </p:cNvPr>
          <p:cNvSpPr/>
          <p:nvPr/>
        </p:nvSpPr>
        <p:spPr>
          <a:xfrm>
            <a:off x="9042400" y="2413000"/>
            <a:ext cx="26416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86002C-CC98-41F1-975F-A9B01972FB4A}"/>
              </a:ext>
            </a:extLst>
          </p:cNvPr>
          <p:cNvSpPr/>
          <p:nvPr/>
        </p:nvSpPr>
        <p:spPr>
          <a:xfrm>
            <a:off x="9042400" y="2476500"/>
            <a:ext cx="2641600" cy="4064000"/>
          </a:xfrm>
          <a:prstGeom prst="roundRect">
            <a:avLst/>
          </a:prstGeom>
          <a:solidFill>
            <a:srgbClr val="F7F9FB"/>
          </a:solidFill>
          <a:ln w="6350" cap="flat" cmpd="sng" algn="ctr">
            <a:solidFill>
              <a:srgbClr val="E0E6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52400" tIns="152400" rIns="152400" bIns="9144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nb-NO" sz="2400" b="1">
                <a:solidFill>
                  <a:srgbClr val="156082"/>
                </a:solidFill>
              </a:rPr>
              <a:t>Neste steg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nb-NO" sz="1600" b="1">
                <a:solidFill>
                  <a:srgbClr val="1A2A3A"/>
                </a:solidFill>
              </a:rPr>
              <a:t>Veien videre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Reelle datakilder</a:t>
            </a:r>
          </a:p>
          <a:p>
            <a:pPr>
              <a:spcBef>
                <a:spcPts val="200"/>
              </a:spcBef>
            </a:pPr>
            <a:endParaRPr lang="nb-NO" sz="1600">
              <a:solidFill>
                <a:srgbClr val="333333"/>
              </a:solidFill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Flere brukertester </a:t>
            </a:r>
          </a:p>
          <a:p>
            <a:pPr>
              <a:spcBef>
                <a:spcPts val="200"/>
              </a:spcBef>
            </a:pPr>
            <a:endParaRPr lang="nb-NO" sz="1600">
              <a:solidFill>
                <a:srgbClr val="333333"/>
              </a:solidFill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nb-NO" sz="1600">
                <a:solidFill>
                  <a:srgbClr val="333333"/>
                </a:solidFill>
              </a:rPr>
              <a:t>Samarbeid med flere kommuner</a:t>
            </a:r>
          </a:p>
        </p:txBody>
      </p:sp>
    </p:spTree>
    <p:extLst>
      <p:ext uri="{BB962C8B-B14F-4D97-AF65-F5344CB8AC3E}">
        <p14:creationId xmlns:p14="http://schemas.microsoft.com/office/powerpoint/2010/main" val="1488934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18EE74E-2489-3B9A-B567-FAE1AFE2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36" y="49458"/>
            <a:ext cx="9692640" cy="1325562"/>
          </a:xfrm>
        </p:spPr>
        <p:txBody>
          <a:bodyPr/>
          <a:lstStyle/>
          <a:p>
            <a:r>
              <a:rPr lang="nb-NO">
                <a:cs typeface="Segoe UI Semibold"/>
              </a:rPr>
              <a:t>Takk for oss!</a:t>
            </a:r>
            <a:endParaRPr lang="nb-NO"/>
          </a:p>
        </p:txBody>
      </p:sp>
      <p:pic>
        <p:nvPicPr>
          <p:cNvPr id="11" name="Plassholder for innhold 10" descr="Et bilde som inneholder Menneskeansikt, person, smil, klær&#10;&#10;KI-generert innhold kan være feil.">
            <a:extLst>
              <a:ext uri="{FF2B5EF4-FFF2-40B4-BE49-F238E27FC236}">
                <a16:creationId xmlns:a16="http://schemas.microsoft.com/office/drawing/2014/main" id="{5EAC7BBD-1335-4E22-2233-579D8117E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1444" y="1903935"/>
            <a:ext cx="2242151" cy="2234963"/>
          </a:xfrm>
          <a:prstGeom prst="rect">
            <a:avLst/>
          </a:prstGeom>
        </p:spPr>
      </p:pic>
      <p:pic>
        <p:nvPicPr>
          <p:cNvPr id="12" name="Bilde 11" descr="Et bilde som inneholder Menneskeansikt, klær, person, mann&#10;&#10;KI-generert innhold kan være feil.">
            <a:extLst>
              <a:ext uri="{FF2B5EF4-FFF2-40B4-BE49-F238E27FC236}">
                <a16:creationId xmlns:a16="http://schemas.microsoft.com/office/drawing/2014/main" id="{DE86BEC8-3ED8-3773-F508-3A1F50269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150" y="1905000"/>
            <a:ext cx="2311162" cy="2307568"/>
          </a:xfrm>
          <a:prstGeom prst="rect">
            <a:avLst/>
          </a:prstGeom>
        </p:spPr>
      </p:pic>
      <p:pic>
        <p:nvPicPr>
          <p:cNvPr id="13" name="Bilde 12" descr="Et bilde som inneholder person, Menneskeansikt, klær, mann&#10;&#10;KI-generert innhold kan være feil.">
            <a:extLst>
              <a:ext uri="{FF2B5EF4-FFF2-40B4-BE49-F238E27FC236}">
                <a16:creationId xmlns:a16="http://schemas.microsoft.com/office/drawing/2014/main" id="{A43EC8E4-E27E-2B2D-705C-EECD1B705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226" y="1869056"/>
            <a:ext cx="2311161" cy="2307567"/>
          </a:xfrm>
          <a:prstGeom prst="rect">
            <a:avLst/>
          </a:prstGeom>
        </p:spPr>
      </p:pic>
      <p:pic>
        <p:nvPicPr>
          <p:cNvPr id="14" name="Bilde 13" descr="Et bilde som inneholder person, Menneskeansikt, klær, portrett&#10;&#10;KI-generert innhold kan være feil.">
            <a:extLst>
              <a:ext uri="{FF2B5EF4-FFF2-40B4-BE49-F238E27FC236}">
                <a16:creationId xmlns:a16="http://schemas.microsoft.com/office/drawing/2014/main" id="{C6E1FEDE-1ED5-F44A-BE76-1BABAD1AC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3293" y="1807952"/>
            <a:ext cx="2458530" cy="2401021"/>
          </a:xfrm>
          <a:prstGeom prst="rect">
            <a:avLst/>
          </a:prstGeom>
        </p:spPr>
      </p:pic>
      <p:pic>
        <p:nvPicPr>
          <p:cNvPr id="15" name="Bilde 14" descr="Et bilde som inneholder Menneskeansikt, person, klær, smil&#10;&#10;KI-generert innhold kan være feil.">
            <a:extLst>
              <a:ext uri="{FF2B5EF4-FFF2-40B4-BE49-F238E27FC236}">
                <a16:creationId xmlns:a16="http://schemas.microsoft.com/office/drawing/2014/main" id="{2227B0C5-98AC-E112-1B31-C2FBE4A6C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7897" y="1825925"/>
            <a:ext cx="2329133" cy="2386642"/>
          </a:xfrm>
          <a:prstGeom prst="rect">
            <a:avLst/>
          </a:prstGeom>
        </p:spPr>
      </p:pic>
      <p:sp>
        <p:nvSpPr>
          <p:cNvPr id="16" name="TekstSylinder 15">
            <a:extLst>
              <a:ext uri="{FF2B5EF4-FFF2-40B4-BE49-F238E27FC236}">
                <a16:creationId xmlns:a16="http://schemas.microsoft.com/office/drawing/2014/main" id="{C68D35D9-A1BF-72FA-37C2-AABAB4D9F15A}"/>
              </a:ext>
            </a:extLst>
          </p:cNvPr>
          <p:cNvSpPr txBox="1"/>
          <p:nvPr/>
        </p:nvSpPr>
        <p:spPr>
          <a:xfrm>
            <a:off x="318051" y="4345588"/>
            <a:ext cx="2129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Kristian Kalleberg</a:t>
            </a:r>
            <a:endParaRPr lang="nb-NO"/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2D6494F6-AB23-832B-9F44-586DAE7B4D00}"/>
              </a:ext>
            </a:extLst>
          </p:cNvPr>
          <p:cNvSpPr txBox="1"/>
          <p:nvPr/>
        </p:nvSpPr>
        <p:spPr>
          <a:xfrm>
            <a:off x="2872221" y="4335242"/>
            <a:ext cx="14564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Vebjørn Kjus</a:t>
            </a:r>
            <a:endParaRPr lang="nb-NO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90D3A9B-E0DF-2DFB-A684-8221AF0FC11A}"/>
              </a:ext>
            </a:extLst>
          </p:cNvPr>
          <p:cNvSpPr txBox="1"/>
          <p:nvPr/>
        </p:nvSpPr>
        <p:spPr>
          <a:xfrm>
            <a:off x="5167753" y="4334679"/>
            <a:ext cx="146361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Gaute Hoel</a:t>
            </a:r>
            <a:endParaRPr lang="nb-NO"/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CE944EB1-2260-8B40-1F20-72070ACDC7D4}"/>
              </a:ext>
            </a:extLst>
          </p:cNvPr>
          <p:cNvSpPr txBox="1"/>
          <p:nvPr/>
        </p:nvSpPr>
        <p:spPr>
          <a:xfrm>
            <a:off x="7269067" y="4332991"/>
            <a:ext cx="214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Kristoffer Holmsen</a:t>
            </a:r>
            <a:endParaRPr lang="nb-NO"/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CEADD511-9F76-C561-B269-7D10675A4AF3}"/>
              </a:ext>
            </a:extLst>
          </p:cNvPr>
          <p:cNvSpPr txBox="1"/>
          <p:nvPr/>
        </p:nvSpPr>
        <p:spPr>
          <a:xfrm>
            <a:off x="10052086" y="4350150"/>
            <a:ext cx="1542691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>
                <a:cs typeface="Segoe UI"/>
              </a:rPr>
              <a:t>Oliver Gyve</a:t>
            </a:r>
            <a:endParaRPr lang="nb-NO"/>
          </a:p>
        </p:txBody>
      </p:sp>
      <p:pic>
        <p:nvPicPr>
          <p:cNvPr id="21" name="Bilde 20" descr="Et bilde som inneholder sort, mørke&#10;&#10;KI-generert innhold kan være feil.">
            <a:extLst>
              <a:ext uri="{FF2B5EF4-FFF2-40B4-BE49-F238E27FC236}">
                <a16:creationId xmlns:a16="http://schemas.microsoft.com/office/drawing/2014/main" id="{DE65AC40-A927-90BE-3ED2-ABAFD668DB9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199126" y="5303000"/>
            <a:ext cx="2768361" cy="1176248"/>
          </a:xfrm>
          <a:prstGeom prst="rect">
            <a:avLst/>
          </a:prstGeom>
        </p:spPr>
      </p:pic>
      <p:pic>
        <p:nvPicPr>
          <p:cNvPr id="22" name="Bilde 21" descr="Et bilde som inneholder Font, Grafikk, logo, grafisk design&#10;&#10;KI-generert innhold kan være feil.">
            <a:extLst>
              <a:ext uri="{FF2B5EF4-FFF2-40B4-BE49-F238E27FC236}">
                <a16:creationId xmlns:a16="http://schemas.microsoft.com/office/drawing/2014/main" id="{096F9844-017C-F2BF-BD56-D3E87B9C9EC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9506130" y="5394655"/>
            <a:ext cx="2381250" cy="1000125"/>
          </a:xfrm>
          <a:prstGeom prst="rect">
            <a:avLst/>
          </a:prstGeom>
        </p:spPr>
      </p:pic>
      <p:sp>
        <p:nvSpPr>
          <p:cNvPr id="24" name="Tittel 1">
            <a:extLst>
              <a:ext uri="{FF2B5EF4-FFF2-40B4-BE49-F238E27FC236}">
                <a16:creationId xmlns:a16="http://schemas.microsoft.com/office/drawing/2014/main" id="{95ED216D-5BF7-D5D2-94C4-2D4F4B4F848A}"/>
              </a:ext>
            </a:extLst>
          </p:cNvPr>
          <p:cNvSpPr txBox="1">
            <a:spLocks/>
          </p:cNvSpPr>
          <p:nvPr/>
        </p:nvSpPr>
        <p:spPr>
          <a:xfrm>
            <a:off x="4110027" y="5003896"/>
            <a:ext cx="3262367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rgbClr val="1A2B3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dirty="0">
                <a:solidFill>
                  <a:srgbClr val="7F7F7F"/>
                </a:solidFill>
                <a:cs typeface="Segoe UI Semibold"/>
              </a:rPr>
              <a:t>Gruppe 11</a:t>
            </a:r>
          </a:p>
        </p:txBody>
      </p:sp>
    </p:spTree>
    <p:extLst>
      <p:ext uri="{BB962C8B-B14F-4D97-AF65-F5344CB8AC3E}">
        <p14:creationId xmlns:p14="http://schemas.microsoft.com/office/powerpoint/2010/main" val="56310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4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3F52373-6F1F-47E4-BA5B-A051158374C0}">
  <we:reference id="wa200010725" version="1.0.0.1" store="nb-NO" storeType="OMEX"/>
  <we:alternateReferences>
    <we:reference id="wa200010725" version="1.0.0.1" store="wa200010725" storeType="OMEX"/>
  </we:alternateReferences>
  <we:properties>
    <we:property name="claude.fileId" value="&quot;7b4fb6d5-259e-4026-8903-ee2fa2f867e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5A7C03F-2564-4549-A640-E51F3ECD535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8a065ae-f03c-47e6-a4af-a1d7568b71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1198</Words>
  <Application>Microsoft Office PowerPoint</Application>
  <PresentationFormat>Widescreen</PresentationFormat>
  <Paragraphs>266</Paragraphs>
  <Slides>20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20</vt:i4>
      </vt:variant>
    </vt:vector>
  </HeadingPairs>
  <TitlesOfParts>
    <vt:vector size="21" baseType="lpstr">
      <vt:lpstr>Office-tema</vt:lpstr>
      <vt:lpstr>Min Eiendom</vt:lpstr>
      <vt:lpstr>Oppgaven</vt:lpstr>
      <vt:lpstr>Dagens løsning</vt:lpstr>
      <vt:lpstr>Dagens løsning</vt:lpstr>
      <vt:lpstr>Vår løsning</vt:lpstr>
      <vt:lpstr>Testmetode og resultat</vt:lpstr>
      <vt:lpstr>Funn og forbedringer</vt:lpstr>
      <vt:lpstr>UX og brukeropplevelse</vt:lpstr>
      <vt:lpstr>Demo</vt:lpstr>
      <vt:lpstr>Problemstilling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Metode</vt:lpstr>
      <vt:lpstr>Kvalitetssikring</vt:lpstr>
      <vt:lpstr>Nasjonal skalering &amp; konklusjon</vt:lpstr>
      <vt:lpstr>Takk for oss!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oliver gyve</cp:lastModifiedBy>
  <cp:revision>3</cp:revision>
  <dcterms:created xsi:type="dcterms:W3CDTF">2026-05-11T09:50:54Z</dcterms:created>
  <dcterms:modified xsi:type="dcterms:W3CDTF">2026-06-10T15:50:34Z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2026-05-15T10:53:45Z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28d9eee2-eb06-430f-ba33-481e7b186033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10, 3, 0, 2</vt:lpwstr>
  </property>
</Properties>
</file>