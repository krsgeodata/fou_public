
<file path=[Content_Types].xml><?xml version="1.0" encoding="utf-8"?>
<Types xmlns="http://schemas.openxmlformats.org/package/2006/content-types">
  <Default ContentType="application/vnd.openxmlformats-officedocument.spreadsheetml.sheet" Extension="xlsx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1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8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drawingml.chart+xml" PartName="/ppt/charts/chart1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68" r:id="rId17"/>
  </p:sldIdLst>
  <p:sldSz cy="6858000" cx="12192000"/>
  <p:notesSz cx="6858000" cy="12192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18" roundtripDataSignature="AMtx7mjyHH27di6NLG2gYqJBz/Lkz+w3h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15" Type="http://schemas.openxmlformats.org/officeDocument/2006/relationships/slide" Target="slides/slide11.xml"/><Relationship Id="rId14" Type="http://schemas.openxmlformats.org/officeDocument/2006/relationships/slide" Target="slides/slide10.xml"/><Relationship Id="rId17" Type="http://schemas.openxmlformats.org/officeDocument/2006/relationships/slide" Target="slides/slide13.xml"/><Relationship Id="rId16" Type="http://schemas.openxmlformats.org/officeDocument/2006/relationships/slide" Target="slides/slide12.xml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18" Type="http://customschemas.google.com/relationships/presentationmetadata" Target="metadata"/><Relationship Id="rId7" Type="http://schemas.openxmlformats.org/officeDocument/2006/relationships/slide" Target="slides/slide3.xml"/><Relationship Id="rId8" Type="http://schemas.openxmlformats.org/officeDocument/2006/relationships/slide" Target="slides/slide4.xml"/></Relationships>
</file>

<file path=ppt/charts/_rels/chart1.xml.rels><?xml version="1.0" encoding="UTF-8" standalone="yes"?>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nb-NO"/>
  <c:roundedCorners val="1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DiBKs veiviser</c:v>
                </c:pt>
              </c:strCache>
            </c:strRef>
          </c:tx>
          <c:spPr>
            <a:solidFill>
              <a:srgbClr val="5C6E75"/>
            </a:solidFill>
            <a:effectLst/>
          </c:spPr>
          <c:invertIfNegative val="0"/>
          <c:dLbls>
            <c:numFmt formatCode="0.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800" b="0" i="0" u="none" strike="noStrike">
                    <a:solidFill>
                      <a:srgbClr val="1E2A2E"/>
                    </a:solidFill>
                    <a:latin typeface="Arial"/>
                  </a:defRPr>
                </a:pPr>
                <a:endParaRPr lang="nb-NO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Sheet1!$A$2:$A$5</c:f>
              <c:strCache>
                <c:ptCount val="4"/>
                <c:pt idx="0">
                  <c:v>Eksterne
oppslag</c:v>
                </c:pt>
                <c:pt idx="1">
                  <c:v>Gjetting</c:v>
                </c:pt>
                <c:pt idx="2">
                  <c:v>Selvtillit
(1–10)</c:v>
                </c:pt>
                <c:pt idx="3">
                  <c:v>Visualisering
(1–10)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8.75</c:v>
                </c:pt>
                <c:pt idx="1">
                  <c:v>3.875</c:v>
                </c:pt>
                <c:pt idx="2">
                  <c:v>5.63</c:v>
                </c:pt>
                <c:pt idx="3">
                  <c:v>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0790-4F40-964F-AFAB37C348E8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TiltaksAID</c:v>
                </c:pt>
              </c:strCache>
            </c:strRef>
          </c:tx>
          <c:spPr>
            <a:solidFill>
              <a:srgbClr val="1B7E91"/>
            </a:solidFill>
            <a:effectLst/>
          </c:spPr>
          <c:invertIfNegative val="0"/>
          <c:dLbls>
            <c:numFmt formatCode="0.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800" b="0" i="0" u="none" strike="noStrike">
                    <a:solidFill>
                      <a:srgbClr val="1E2A2E"/>
                    </a:solidFill>
                    <a:latin typeface="Arial"/>
                  </a:defRPr>
                </a:pPr>
                <a:endParaRPr lang="nb-NO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Sheet1!$A$2:$A$5</c:f>
              <c:strCache>
                <c:ptCount val="4"/>
                <c:pt idx="0">
                  <c:v>Eksterne
oppslag</c:v>
                </c:pt>
                <c:pt idx="1">
                  <c:v>Gjetting</c:v>
                </c:pt>
                <c:pt idx="2">
                  <c:v>Selvtillit
(1–10)</c:v>
                </c:pt>
                <c:pt idx="3">
                  <c:v>Visualisering
(1–10)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2.375</c:v>
                </c:pt>
                <c:pt idx="1">
                  <c:v>2</c:v>
                </c:pt>
                <c:pt idx="2">
                  <c:v>7.63</c:v>
                </c:pt>
                <c:pt idx="3">
                  <c:v>7.75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0790-4F40-964F-AFAB37C348E8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55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850" b="0" i="0" u="none" strike="noStrike">
                <a:solidFill>
                  <a:srgbClr val="44555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10"/>
          <c:min val="0"/>
        </c:scaling>
        <c:delete val="0"/>
        <c:axPos val="l"/>
        <c:majorGridlines>
          <c:spPr>
            <a:ln w="6350" cap="flat">
              <a:solidFill>
                <a:srgbClr val="EAEF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800" b="0" i="0" u="none" strike="noStrike">
                <a:solidFill>
                  <a:srgbClr val="8A989E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900">
              <a:solidFill>
                <a:srgbClr val="44555B"/>
              </a:solidFill>
            </a:defRPr>
          </a:pPr>
          <a:endParaRPr lang="en-US"/>
        </a:p>
      </c:txPr>
    </c:legend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914400"/>
            <a:ext cx="4572225" cy="4572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5791200"/>
            <a:ext cx="5486400" cy="548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" name="Shape 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Google Shape;8;p1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9" name="Google Shape;9;p1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" name="Google Shape;10;p1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Google Shape;19;p2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0" name="Google Shape;20;p2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" name="Google Shape;21;p2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3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51" name="Google Shape;51;p3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2" name="Google Shape;52;p3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4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91" name="Google Shape;91;p4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2" name="Google Shape;92;p4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p5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40" name="Google Shape;140;p5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1" name="Google Shape;141;p5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8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p7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80" name="Google Shape;180;p7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1" name="Google Shape;181;p7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9" name="Shape 2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0" name="Google Shape;230;g3e4a3a439d8_4_3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31" name="Google Shape;231;g3e4a3a439d8_4_3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2" name="Google Shape;232;g3e4a3a439d8_4_3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9" name="Shape 2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0" name="Google Shape;260;p8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61" name="Google Shape;261;p8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2" name="Google Shape;262;p8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3" name="Shape 2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4" name="Google Shape;294;p10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95" name="Google Shape;295;p10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6" name="Google Shape;296;p10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2" name="Shape 3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3" name="Google Shape;323;p11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324" name="Google Shape;324;p11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5" name="Google Shape;325;p11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2" name="Shape 3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3" name="Google Shape;363;p12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364" name="Google Shape;364;p12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5" name="Google Shape;365;p12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4" name="Shape 3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5" name="Google Shape;395;p13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396" name="Google Shape;396;p13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7" name="Google Shape;397;p13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17" name="Shape 4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8" name="Google Shape;418;p14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419" name="Google Shape;419;p14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0" name="Google Shape;420;p14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6" name="Shape 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png"/><Relationship Id="rId4" Type="http://schemas.openxmlformats.org/officeDocument/2006/relationships/image" Target="../media/image2.png"/><Relationship Id="rId5" Type="http://schemas.openxmlformats.org/officeDocument/2006/relationships/image" Target="../media/image3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4.png"/><Relationship Id="rId4" Type="http://schemas.openxmlformats.org/officeDocument/2006/relationships/image" Target="../media/image5.png"/><Relationship Id="rId5" Type="http://schemas.openxmlformats.org/officeDocument/2006/relationships/image" Target="../media/image6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9.png"/><Relationship Id="rId4" Type="http://schemas.openxmlformats.org/officeDocument/2006/relationships/image" Target="../media/image7.png"/><Relationship Id="rId5" Type="http://schemas.openxmlformats.org/officeDocument/2006/relationships/image" Target="../media/image8.png"/><Relationship Id="rId6" Type="http://schemas.openxmlformats.org/officeDocument/2006/relationships/image" Target="../media/image10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hyperlink" Target="http://dibkveiviser.geokrs.no/" TargetMode="External"/><Relationship Id="rId4" Type="http://schemas.openxmlformats.org/officeDocument/2006/relationships/image" Target="../media/image14.png"/><Relationship Id="rId5" Type="http://schemas.openxmlformats.org/officeDocument/2006/relationships/image" Target="../media/image11.png"/><Relationship Id="rId6" Type="http://schemas.openxmlformats.org/officeDocument/2006/relationships/image" Target="../media/image17.png"/><Relationship Id="rId7" Type="http://schemas.openxmlformats.org/officeDocument/2006/relationships/image" Target="../media/image12.png"/><Relationship Id="rId8" Type="http://schemas.openxmlformats.org/officeDocument/2006/relationships/image" Target="../media/image16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3.png"/><Relationship Id="rId4" Type="http://schemas.openxmlformats.org/officeDocument/2006/relationships/image" Target="../media/image15.png"/><Relationship Id="rId5" Type="http://schemas.openxmlformats.org/officeDocument/2006/relationships/image" Target="../media/image19.png"/><Relationship Id="rId6" Type="http://schemas.openxmlformats.org/officeDocument/2006/relationships/image" Target="../media/image18.png"/><Relationship Id="rId7" Type="http://schemas.openxmlformats.org/officeDocument/2006/relationships/image" Target="../media/image34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3.png"/><Relationship Id="rId4" Type="http://schemas.openxmlformats.org/officeDocument/2006/relationships/image" Target="../media/image15.png"/><Relationship Id="rId5" Type="http://schemas.openxmlformats.org/officeDocument/2006/relationships/image" Target="../media/image18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23.png"/><Relationship Id="rId4" Type="http://schemas.openxmlformats.org/officeDocument/2006/relationships/image" Target="../media/image20.png"/><Relationship Id="rId5" Type="http://schemas.openxmlformats.org/officeDocument/2006/relationships/image" Target="../media/image21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chart" Target="../charts/chart1.xml"/><Relationship Id="rId4" Type="http://schemas.openxmlformats.org/officeDocument/2006/relationships/image" Target="../media/image5.png"/><Relationship Id="rId5" Type="http://schemas.openxmlformats.org/officeDocument/2006/relationships/image" Target="../media/image22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25.png"/><Relationship Id="rId4" Type="http://schemas.openxmlformats.org/officeDocument/2006/relationships/image" Target="../media/image24.png"/><Relationship Id="rId5" Type="http://schemas.openxmlformats.org/officeDocument/2006/relationships/image" Target="../media/image26.png"/><Relationship Id="rId6" Type="http://schemas.openxmlformats.org/officeDocument/2006/relationships/image" Target="../media/image19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27.png"/><Relationship Id="rId4" Type="http://schemas.openxmlformats.org/officeDocument/2006/relationships/image" Target="../media/image30.png"/><Relationship Id="rId5" Type="http://schemas.openxmlformats.org/officeDocument/2006/relationships/image" Target="../media/image28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33.png"/><Relationship Id="rId4" Type="http://schemas.openxmlformats.org/officeDocument/2006/relationships/image" Target="../media/image29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32.png"/><Relationship Id="rId4" Type="http://schemas.openxmlformats.org/officeDocument/2006/relationships/image" Target="../media/image31.png"/><Relationship Id="rId5" Type="http://schemas.openxmlformats.org/officeDocument/2006/relationships/image" Target="../media/image8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2E38"/>
        </a:solidFill>
      </p:bgPr>
    </p:bg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"/>
          <p:cNvSpPr/>
          <p:nvPr/>
        </p:nvSpPr>
        <p:spPr>
          <a:xfrm>
            <a:off x="822960" y="1371600"/>
            <a:ext cx="82296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AAE4A"/>
              </a:buClr>
              <a:buSzPts val="1300"/>
              <a:buFont typeface="Calibri"/>
              <a:buNone/>
            </a:pPr>
            <a:r>
              <a:rPr b="1" lang="en-US" sz="1300">
                <a:solidFill>
                  <a:srgbClr val="5AAE4A"/>
                </a:solidFill>
                <a:latin typeface="Calibri"/>
                <a:ea typeface="Calibri"/>
                <a:cs typeface="Calibri"/>
                <a:sym typeface="Calibri"/>
              </a:rPr>
              <a:t>BACHELOROPPGAVE  IS-314  ·  TEAM π  ·  MAI 2026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" name="Google Shape;13;p1"/>
          <p:cNvSpPr/>
          <p:nvPr/>
        </p:nvSpPr>
        <p:spPr>
          <a:xfrm>
            <a:off x="777240" y="1874520"/>
            <a:ext cx="9601200" cy="137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800"/>
              <a:buFont typeface="Georgia"/>
              <a:buNone/>
            </a:pPr>
            <a:r>
              <a:rPr b="1" lang="en-US" sz="7800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TiltaksAID</a:t>
            </a:r>
            <a:endParaRPr sz="7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" name="Google Shape;14;p1"/>
          <p:cNvSpPr/>
          <p:nvPr/>
        </p:nvSpPr>
        <p:spPr>
          <a:xfrm>
            <a:off x="822960" y="3246120"/>
            <a:ext cx="8778300" cy="640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9F2F3"/>
              </a:buClr>
              <a:buSzPts val="2500"/>
              <a:buFont typeface="Georgia"/>
              <a:buNone/>
            </a:pPr>
            <a:r>
              <a:rPr i="1" lang="en-US" sz="2500">
                <a:solidFill>
                  <a:srgbClr val="E9F2F3"/>
                </a:solidFill>
                <a:latin typeface="Georgia"/>
                <a:ea typeface="Georgia"/>
                <a:cs typeface="Georgia"/>
                <a:sym typeface="Georgia"/>
              </a:rPr>
              <a:t>En kartbasert veiviser for bygging uten søknad</a:t>
            </a:r>
            <a:endParaRPr sz="2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" name="Google Shape;15;p1"/>
          <p:cNvSpPr/>
          <p:nvPr/>
        </p:nvSpPr>
        <p:spPr>
          <a:xfrm>
            <a:off x="841248" y="4069080"/>
            <a:ext cx="640080" cy="64008"/>
          </a:xfrm>
          <a:prstGeom prst="rect">
            <a:avLst/>
          </a:prstGeom>
          <a:solidFill>
            <a:srgbClr val="5AAE4A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" name="Google Shape;16;p1"/>
          <p:cNvSpPr/>
          <p:nvPr/>
        </p:nvSpPr>
        <p:spPr>
          <a:xfrm>
            <a:off x="822960" y="4251960"/>
            <a:ext cx="768096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E9F2F3"/>
              </a:buClr>
              <a:buSzPts val="1400"/>
              <a:buFont typeface="Calibri"/>
              <a:buNone/>
            </a:pPr>
            <a:r>
              <a:rPr lang="en-US" sz="1400">
                <a:solidFill>
                  <a:srgbClr val="E9F2F3"/>
                </a:solidFill>
                <a:latin typeface="Calibri"/>
                <a:ea typeface="Calibri"/>
                <a:cs typeface="Calibri"/>
                <a:sym typeface="Calibri"/>
              </a:rPr>
              <a:t>Et samarbeid med Kristiansand kommune – Plan og bygg.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E9F2F3"/>
              </a:buClr>
              <a:buSzPts val="1400"/>
              <a:buFont typeface="Calibri"/>
              <a:buNone/>
            </a:pPr>
            <a:r>
              <a:rPr lang="en-US" sz="1400">
                <a:solidFill>
                  <a:srgbClr val="E9F2F3"/>
                </a:solidFill>
                <a:latin typeface="Calibri"/>
                <a:ea typeface="Calibri"/>
                <a:cs typeface="Calibri"/>
                <a:sym typeface="Calibri"/>
              </a:rPr>
              <a:t>Gjør det enklere for innbyggere å forstå om garasje, bod eller tilbygg kan settes opp uten byggesøknad.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" name="Google Shape;17;p1"/>
          <p:cNvSpPr/>
          <p:nvPr/>
        </p:nvSpPr>
        <p:spPr>
          <a:xfrm>
            <a:off x="822960" y="5943600"/>
            <a:ext cx="105156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C6E75"/>
              </a:buClr>
              <a:buSzPts val="1150"/>
              <a:buFont typeface="Calibri"/>
              <a:buNone/>
            </a:pPr>
            <a:r>
              <a:rPr lang="en-US" sz="1150">
                <a:solidFill>
                  <a:srgbClr val="5C6E75"/>
                </a:solidFill>
                <a:latin typeface="Calibri"/>
                <a:ea typeface="Calibri"/>
                <a:cs typeface="Calibri"/>
                <a:sym typeface="Calibri"/>
              </a:rPr>
              <a:t>Mathias J. B. Jørgensen  ·  Fredrik S. Husebø  ·  Aaron Silber  ·  Akinkunmi O. Akintola  ·  Elias D. Simonsen</a:t>
            </a:r>
            <a:endParaRPr sz="11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2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Google Shape;23;p2"/>
          <p:cNvSpPr/>
          <p:nvPr/>
        </p:nvSpPr>
        <p:spPr>
          <a:xfrm>
            <a:off x="548640" y="475488"/>
            <a:ext cx="420624" cy="420624"/>
          </a:xfrm>
          <a:prstGeom prst="ellipse">
            <a:avLst/>
          </a:prstGeom>
          <a:solidFill>
            <a:srgbClr val="1B7E91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" name="Google Shape;24;p2"/>
          <p:cNvSpPr/>
          <p:nvPr/>
        </p:nvSpPr>
        <p:spPr>
          <a:xfrm>
            <a:off x="548640" y="475488"/>
            <a:ext cx="420624" cy="42062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b="1" lang="en-US" sz="12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02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" name="Google Shape;25;p2"/>
          <p:cNvSpPr/>
          <p:nvPr/>
        </p:nvSpPr>
        <p:spPr>
          <a:xfrm>
            <a:off x="1115568" y="475488"/>
            <a:ext cx="10058400" cy="42062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7E91"/>
              </a:buClr>
              <a:buSzPts val="1200"/>
              <a:buFont typeface="Calibri"/>
              <a:buNone/>
            </a:pPr>
            <a:r>
              <a:rPr b="1" lang="en-US" sz="1200">
                <a:solidFill>
                  <a:srgbClr val="1B7E91"/>
                </a:solidFill>
                <a:latin typeface="Calibri"/>
                <a:ea typeface="Calibri"/>
                <a:cs typeface="Calibri"/>
                <a:sym typeface="Calibri"/>
              </a:rPr>
              <a:t>PROBLEMET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" name="Google Shape;26;p2"/>
          <p:cNvSpPr/>
          <p:nvPr/>
        </p:nvSpPr>
        <p:spPr>
          <a:xfrm>
            <a:off x="530352" y="914400"/>
            <a:ext cx="11064240" cy="868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2E38"/>
              </a:buClr>
              <a:buSzPts val="3100"/>
              <a:buFont typeface="Georgia"/>
              <a:buNone/>
            </a:pPr>
            <a:r>
              <a:rPr b="1" lang="en-US" sz="3100">
                <a:solidFill>
                  <a:srgbClr val="0F2E38"/>
                </a:solidFill>
                <a:latin typeface="Georgia"/>
                <a:ea typeface="Georgia"/>
                <a:cs typeface="Georgia"/>
                <a:sym typeface="Georgia"/>
              </a:rPr>
              <a:t>Dagens veiledning blir en digital skattejakt</a:t>
            </a:r>
            <a:endParaRPr sz="3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" name="Google Shape;27;p2"/>
          <p:cNvSpPr/>
          <p:nvPr/>
        </p:nvSpPr>
        <p:spPr>
          <a:xfrm>
            <a:off x="548640" y="6400800"/>
            <a:ext cx="3657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C6E75"/>
              </a:buClr>
              <a:buSzPts val="900"/>
              <a:buFont typeface="Calibri"/>
              <a:buNone/>
            </a:pPr>
            <a:r>
              <a:rPr b="1" lang="en-US" sz="900">
                <a:solidFill>
                  <a:srgbClr val="5C6E75"/>
                </a:solidFill>
                <a:latin typeface="Calibri"/>
                <a:ea typeface="Calibri"/>
                <a:cs typeface="Calibri"/>
                <a:sym typeface="Calibri"/>
              </a:rPr>
              <a:t>TiltaksAID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" name="Google Shape;28;p2"/>
          <p:cNvSpPr/>
          <p:nvPr/>
        </p:nvSpPr>
        <p:spPr>
          <a:xfrm>
            <a:off x="3657600" y="6400800"/>
            <a:ext cx="5943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5C6E75"/>
              </a:buClr>
              <a:buSzPts val="900"/>
              <a:buFont typeface="Calibri"/>
              <a:buNone/>
            </a:pPr>
            <a:r>
              <a:rPr lang="en-US" sz="900">
                <a:solidFill>
                  <a:srgbClr val="5C6E75"/>
                </a:solidFill>
                <a:latin typeface="Calibri"/>
                <a:ea typeface="Calibri"/>
                <a:cs typeface="Calibri"/>
                <a:sym typeface="Calibri"/>
              </a:rPr>
              <a:t>Problem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" name="Google Shape;29;p2"/>
          <p:cNvSpPr/>
          <p:nvPr/>
        </p:nvSpPr>
        <p:spPr>
          <a:xfrm>
            <a:off x="10058400" y="6400800"/>
            <a:ext cx="1581912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5C6E75"/>
              </a:buClr>
              <a:buSzPts val="900"/>
              <a:buFont typeface="Calibri"/>
              <a:buNone/>
            </a:pPr>
            <a:r>
              <a:rPr lang="en-US" sz="900">
                <a:solidFill>
                  <a:srgbClr val="5C6E75"/>
                </a:solidFill>
                <a:latin typeface="Calibri"/>
                <a:ea typeface="Calibri"/>
                <a:cs typeface="Calibri"/>
                <a:sym typeface="Calibri"/>
              </a:rPr>
              <a:t>02 / 14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" name="Google Shape;30;p2"/>
          <p:cNvSpPr/>
          <p:nvPr/>
        </p:nvSpPr>
        <p:spPr>
          <a:xfrm>
            <a:off x="548640" y="1627632"/>
            <a:ext cx="10515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C6E75"/>
              </a:buClr>
              <a:buSzPts val="1400"/>
              <a:buFont typeface="Calibri"/>
              <a:buNone/>
            </a:pPr>
            <a:r>
              <a:rPr i="1" lang="en-US" sz="1400">
                <a:solidFill>
                  <a:srgbClr val="5C6E75"/>
                </a:solidFill>
                <a:latin typeface="Calibri"/>
                <a:ea typeface="Calibri"/>
                <a:cs typeface="Calibri"/>
                <a:sym typeface="Calibri"/>
              </a:rPr>
              <a:t>DiBKs veiviser skal hjelpe innbyggere å vurdere søknadsplikt – men legger et tungt tolkningsansvar på brukeren selv.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" name="Google Shape;31;p2"/>
          <p:cNvSpPr/>
          <p:nvPr/>
        </p:nvSpPr>
        <p:spPr>
          <a:xfrm>
            <a:off x="548640" y="2286000"/>
            <a:ext cx="3401568" cy="2331720"/>
          </a:xfrm>
          <a:prstGeom prst="roundRect">
            <a:avLst>
              <a:gd fmla="val 3529" name="adj"/>
            </a:avLst>
          </a:prstGeom>
          <a:solidFill>
            <a:srgbClr val="F4F8F9"/>
          </a:solidFill>
          <a:ln cap="flat" cmpd="sng" w="12700">
            <a:solidFill>
              <a:srgbClr val="D7E3E5"/>
            </a:solidFill>
            <a:prstDash val="solid"/>
            <a:round/>
            <a:headEnd len="sm" w="sm" type="none"/>
            <a:tailEnd len="sm" w="sm" type="none"/>
          </a:ln>
          <a:effectLst>
            <a:outerShdw blurRad="88900" rotWithShape="0" algn="bl" dir="8100000" dist="38100">
              <a:srgbClr val="0F2E38">
                <a:alpha val="12941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" name="Google Shape;32;p2"/>
          <p:cNvSpPr/>
          <p:nvPr/>
        </p:nvSpPr>
        <p:spPr>
          <a:xfrm>
            <a:off x="841248" y="2596896"/>
            <a:ext cx="713232" cy="713232"/>
          </a:xfrm>
          <a:prstGeom prst="ellipse">
            <a:avLst/>
          </a:prstGeom>
          <a:solidFill>
            <a:srgbClr val="1B7E91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33" name="Google Shape;33;p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26688" y="2782336"/>
            <a:ext cx="342351" cy="342351"/>
          </a:xfrm>
          <a:prstGeom prst="rect">
            <a:avLst/>
          </a:prstGeom>
          <a:noFill/>
          <a:ln>
            <a:noFill/>
          </a:ln>
        </p:spPr>
      </p:pic>
      <p:sp>
        <p:nvSpPr>
          <p:cNvPr id="34" name="Google Shape;34;p2"/>
          <p:cNvSpPr/>
          <p:nvPr/>
        </p:nvSpPr>
        <p:spPr>
          <a:xfrm>
            <a:off x="841248" y="3401568"/>
            <a:ext cx="2816352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2E38"/>
              </a:buClr>
              <a:buSzPts val="1700"/>
              <a:buFont typeface="Georgia"/>
              <a:buNone/>
            </a:pPr>
            <a:r>
              <a:rPr b="1" lang="en-US" sz="1700">
                <a:solidFill>
                  <a:srgbClr val="0F2E38"/>
                </a:solidFill>
                <a:latin typeface="Georgia"/>
                <a:ea typeface="Georgia"/>
                <a:cs typeface="Georgia"/>
                <a:sym typeface="Georgia"/>
              </a:rPr>
              <a:t>Abstrakte regler</a:t>
            </a:r>
            <a:endParaRPr sz="17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" name="Google Shape;35;p2"/>
          <p:cNvSpPr/>
          <p:nvPr/>
        </p:nvSpPr>
        <p:spPr>
          <a:xfrm>
            <a:off x="841248" y="3803904"/>
            <a:ext cx="2852928" cy="777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>
                <a:srgbClr val="1E2A2E"/>
              </a:buClr>
              <a:buSzPts val="1200"/>
              <a:buFont typeface="Calibri"/>
              <a:buNone/>
            </a:pPr>
            <a:r>
              <a:rPr lang="en-US" sz="1200">
                <a:solidFill>
                  <a:srgbClr val="1E2A2E"/>
                </a:solidFill>
                <a:latin typeface="Calibri"/>
                <a:ea typeface="Calibri"/>
                <a:cs typeface="Calibri"/>
                <a:sym typeface="Calibri"/>
              </a:rPr>
              <a:t>Brukeren må tolke fagbegreper som BYA, BRA, gesims- og mønehøyde uten forklaring.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" name="Google Shape;36;p2"/>
          <p:cNvSpPr/>
          <p:nvPr/>
        </p:nvSpPr>
        <p:spPr>
          <a:xfrm>
            <a:off x="4279392" y="2286000"/>
            <a:ext cx="3401568" cy="2331720"/>
          </a:xfrm>
          <a:prstGeom prst="roundRect">
            <a:avLst>
              <a:gd fmla="val 3529" name="adj"/>
            </a:avLst>
          </a:prstGeom>
          <a:solidFill>
            <a:srgbClr val="F4F8F9"/>
          </a:solidFill>
          <a:ln cap="flat" cmpd="sng" w="12700">
            <a:solidFill>
              <a:srgbClr val="D7E3E5"/>
            </a:solidFill>
            <a:prstDash val="solid"/>
            <a:round/>
            <a:headEnd len="sm" w="sm" type="none"/>
            <a:tailEnd len="sm" w="sm" type="none"/>
          </a:ln>
          <a:effectLst>
            <a:outerShdw blurRad="88900" rotWithShape="0" algn="bl" dir="8100000" dist="38100">
              <a:srgbClr val="0F2E38">
                <a:alpha val="12941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" name="Google Shape;37;p2"/>
          <p:cNvSpPr/>
          <p:nvPr/>
        </p:nvSpPr>
        <p:spPr>
          <a:xfrm>
            <a:off x="4572000" y="2596896"/>
            <a:ext cx="713232" cy="713232"/>
          </a:xfrm>
          <a:prstGeom prst="ellipse">
            <a:avLst/>
          </a:prstGeom>
          <a:solidFill>
            <a:srgbClr val="1B7E91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38" name="Google Shape;38;p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757440" y="2782336"/>
            <a:ext cx="342351" cy="342351"/>
          </a:xfrm>
          <a:prstGeom prst="rect">
            <a:avLst/>
          </a:prstGeom>
          <a:noFill/>
          <a:ln>
            <a:noFill/>
          </a:ln>
        </p:spPr>
      </p:pic>
      <p:sp>
        <p:nvSpPr>
          <p:cNvPr id="39" name="Google Shape;39;p2"/>
          <p:cNvSpPr/>
          <p:nvPr/>
        </p:nvSpPr>
        <p:spPr>
          <a:xfrm>
            <a:off x="4572000" y="3401568"/>
            <a:ext cx="2816352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2E38"/>
              </a:buClr>
              <a:buSzPts val="1700"/>
              <a:buFont typeface="Georgia"/>
              <a:buNone/>
            </a:pPr>
            <a:r>
              <a:rPr b="1" lang="en-US" sz="1700">
                <a:solidFill>
                  <a:srgbClr val="0F2E38"/>
                </a:solidFill>
                <a:latin typeface="Georgia"/>
                <a:ea typeface="Georgia"/>
                <a:cs typeface="Georgia"/>
                <a:sym typeface="Georgia"/>
              </a:rPr>
              <a:t>Spredt informasjon</a:t>
            </a:r>
            <a:endParaRPr sz="17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" name="Google Shape;40;p2"/>
          <p:cNvSpPr/>
          <p:nvPr/>
        </p:nvSpPr>
        <p:spPr>
          <a:xfrm>
            <a:off x="4572000" y="3803904"/>
            <a:ext cx="2852928" cy="777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>
                <a:srgbClr val="1E2A2E"/>
              </a:buClr>
              <a:buSzPts val="1200"/>
              <a:buFont typeface="Calibri"/>
              <a:buNone/>
            </a:pPr>
            <a:r>
              <a:rPr lang="en-US" sz="1200">
                <a:solidFill>
                  <a:srgbClr val="1E2A2E"/>
                </a:solidFill>
                <a:latin typeface="Calibri"/>
                <a:ea typeface="Calibri"/>
                <a:cs typeface="Calibri"/>
                <a:sym typeface="Calibri"/>
              </a:rPr>
              <a:t>Svar må hentes fra mange eksterne nettsider – en labyrint av lenker uten kontekst.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" name="Google Shape;41;p2"/>
          <p:cNvSpPr/>
          <p:nvPr/>
        </p:nvSpPr>
        <p:spPr>
          <a:xfrm>
            <a:off x="8010144" y="2286000"/>
            <a:ext cx="3401568" cy="2331720"/>
          </a:xfrm>
          <a:prstGeom prst="roundRect">
            <a:avLst>
              <a:gd fmla="val 3529" name="adj"/>
            </a:avLst>
          </a:prstGeom>
          <a:solidFill>
            <a:srgbClr val="F4F8F9"/>
          </a:solidFill>
          <a:ln cap="flat" cmpd="sng" w="12700">
            <a:solidFill>
              <a:srgbClr val="D7E3E5"/>
            </a:solidFill>
            <a:prstDash val="solid"/>
            <a:round/>
            <a:headEnd len="sm" w="sm" type="none"/>
            <a:tailEnd len="sm" w="sm" type="none"/>
          </a:ln>
          <a:effectLst>
            <a:outerShdw blurRad="88900" rotWithShape="0" algn="bl" dir="8100000" dist="38100">
              <a:srgbClr val="0F2E38">
                <a:alpha val="12941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" name="Google Shape;42;p2"/>
          <p:cNvSpPr/>
          <p:nvPr/>
        </p:nvSpPr>
        <p:spPr>
          <a:xfrm>
            <a:off x="8302752" y="2596896"/>
            <a:ext cx="713232" cy="713232"/>
          </a:xfrm>
          <a:prstGeom prst="ellipse">
            <a:avLst/>
          </a:prstGeom>
          <a:solidFill>
            <a:srgbClr val="1B7E91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43" name="Google Shape;43;p2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8488192" y="2782336"/>
            <a:ext cx="342351" cy="342351"/>
          </a:xfrm>
          <a:prstGeom prst="rect">
            <a:avLst/>
          </a:prstGeom>
          <a:noFill/>
          <a:ln>
            <a:noFill/>
          </a:ln>
        </p:spPr>
      </p:pic>
      <p:sp>
        <p:nvSpPr>
          <p:cNvPr id="44" name="Google Shape;44;p2"/>
          <p:cNvSpPr/>
          <p:nvPr/>
        </p:nvSpPr>
        <p:spPr>
          <a:xfrm>
            <a:off x="8302752" y="3401568"/>
            <a:ext cx="2816352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2E38"/>
              </a:buClr>
              <a:buSzPts val="1700"/>
              <a:buFont typeface="Georgia"/>
              <a:buNone/>
            </a:pPr>
            <a:r>
              <a:rPr b="1" lang="en-US" sz="1700">
                <a:solidFill>
                  <a:srgbClr val="0F2E38"/>
                </a:solidFill>
                <a:latin typeface="Georgia"/>
                <a:ea typeface="Georgia"/>
                <a:cs typeface="Georgia"/>
                <a:sym typeface="Georgia"/>
              </a:rPr>
              <a:t>Ingen visuell støtte</a:t>
            </a:r>
            <a:endParaRPr sz="17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" name="Google Shape;45;p2"/>
          <p:cNvSpPr/>
          <p:nvPr/>
        </p:nvSpPr>
        <p:spPr>
          <a:xfrm>
            <a:off x="8302752" y="3803904"/>
            <a:ext cx="2852928" cy="777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>
                <a:srgbClr val="1E2A2E"/>
              </a:buClr>
              <a:buSzPts val="1200"/>
              <a:buFont typeface="Calibri"/>
              <a:buNone/>
            </a:pPr>
            <a:r>
              <a:rPr lang="en-US" sz="1200">
                <a:solidFill>
                  <a:srgbClr val="1E2A2E"/>
                </a:solidFill>
                <a:latin typeface="Calibri"/>
                <a:ea typeface="Calibri"/>
                <a:cs typeface="Calibri"/>
                <a:sym typeface="Calibri"/>
              </a:rPr>
              <a:t>Avstander og grenser må forestilles mentalt, uten kart eller romlig støtte.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" name="Google Shape;46;p2"/>
          <p:cNvSpPr/>
          <p:nvPr/>
        </p:nvSpPr>
        <p:spPr>
          <a:xfrm>
            <a:off x="548640" y="4910328"/>
            <a:ext cx="11091672" cy="868680"/>
          </a:xfrm>
          <a:prstGeom prst="roundRect">
            <a:avLst>
              <a:gd fmla="val 9474" name="adj"/>
            </a:avLst>
          </a:prstGeom>
          <a:solidFill>
            <a:srgbClr val="0F2E38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" name="Google Shape;47;p2"/>
          <p:cNvSpPr/>
          <p:nvPr/>
        </p:nvSpPr>
        <p:spPr>
          <a:xfrm>
            <a:off x="868680" y="4910328"/>
            <a:ext cx="1920240" cy="868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AAE4A"/>
              </a:buClr>
              <a:buSzPts val="3600"/>
              <a:buFont typeface="Georgia"/>
              <a:buNone/>
            </a:pPr>
            <a:r>
              <a:rPr b="1" lang="en-US" sz="3600">
                <a:solidFill>
                  <a:srgbClr val="5AAE4A"/>
                </a:solidFill>
                <a:latin typeface="Georgia"/>
                <a:ea typeface="Georgia"/>
                <a:cs typeface="Georgia"/>
                <a:sym typeface="Georgia"/>
              </a:rPr>
              <a:t>30 %+</a:t>
            </a:r>
            <a:endParaRPr sz="3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" name="Google Shape;48;p2"/>
          <p:cNvSpPr/>
          <p:nvPr/>
        </p:nvSpPr>
        <p:spPr>
          <a:xfrm>
            <a:off x="2834640" y="4910328"/>
            <a:ext cx="8595360" cy="868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9F2F3"/>
              </a:buClr>
              <a:buSzPts val="1350"/>
              <a:buFont typeface="Calibri"/>
              <a:buNone/>
            </a:pPr>
            <a:r>
              <a:rPr lang="en-US" sz="1350">
                <a:solidFill>
                  <a:srgbClr val="E9F2F3"/>
                </a:solidFill>
                <a:latin typeface="Calibri"/>
                <a:ea typeface="Calibri"/>
                <a:cs typeface="Calibri"/>
                <a:sym typeface="Calibri"/>
              </a:rPr>
              <a:t>av byggesøknadene mangler nødvendig informasjon – feiltolkning gir treg saksbehandling og ulovlige byggetiltak.</a:t>
            </a:r>
            <a:endParaRPr sz="13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3"/>
          <p:cNvSpPr/>
          <p:nvPr/>
        </p:nvSpPr>
        <p:spPr>
          <a:xfrm>
            <a:off x="548640" y="475488"/>
            <a:ext cx="420624" cy="420624"/>
          </a:xfrm>
          <a:prstGeom prst="ellipse">
            <a:avLst/>
          </a:prstGeom>
          <a:solidFill>
            <a:srgbClr val="1B7E91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" name="Google Shape;55;p3"/>
          <p:cNvSpPr/>
          <p:nvPr/>
        </p:nvSpPr>
        <p:spPr>
          <a:xfrm>
            <a:off x="548640" y="475488"/>
            <a:ext cx="420624" cy="42062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b="1" lang="en-US" sz="12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03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" name="Google Shape;56;p3"/>
          <p:cNvSpPr/>
          <p:nvPr/>
        </p:nvSpPr>
        <p:spPr>
          <a:xfrm>
            <a:off x="1115568" y="475488"/>
            <a:ext cx="10058400" cy="42062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7E91"/>
              </a:buClr>
              <a:buSzPts val="1200"/>
              <a:buFont typeface="Calibri"/>
              <a:buNone/>
            </a:pPr>
            <a:r>
              <a:rPr b="1" lang="en-US" sz="1200">
                <a:solidFill>
                  <a:srgbClr val="1B7E91"/>
                </a:solidFill>
                <a:latin typeface="Calibri"/>
                <a:ea typeface="Calibri"/>
                <a:cs typeface="Calibri"/>
                <a:sym typeface="Calibri"/>
              </a:rPr>
              <a:t>BEHOV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" name="Google Shape;57;p3"/>
          <p:cNvSpPr/>
          <p:nvPr/>
        </p:nvSpPr>
        <p:spPr>
          <a:xfrm>
            <a:off x="530352" y="914400"/>
            <a:ext cx="11064240" cy="868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F2E38"/>
              </a:buClr>
              <a:buSzPts val="3100"/>
              <a:buFont typeface="Georgia"/>
              <a:buNone/>
            </a:pPr>
            <a:r>
              <a:rPr b="1" lang="en-US" sz="3100">
                <a:solidFill>
                  <a:srgbClr val="0F2E38"/>
                </a:solidFill>
                <a:latin typeface="Georgia"/>
                <a:ea typeface="Georgia"/>
                <a:cs typeface="Georgia"/>
                <a:sym typeface="Georgia"/>
              </a:rPr>
              <a:t>En stor felles utfordring - Ulike behov</a:t>
            </a:r>
            <a:endParaRPr sz="3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" name="Google Shape;58;p3"/>
          <p:cNvSpPr/>
          <p:nvPr/>
        </p:nvSpPr>
        <p:spPr>
          <a:xfrm>
            <a:off x="548640" y="6400800"/>
            <a:ext cx="3657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C6E75"/>
              </a:buClr>
              <a:buSzPts val="900"/>
              <a:buFont typeface="Calibri"/>
              <a:buNone/>
            </a:pPr>
            <a:r>
              <a:rPr b="1" lang="en-US" sz="900">
                <a:solidFill>
                  <a:srgbClr val="5C6E75"/>
                </a:solidFill>
                <a:latin typeface="Calibri"/>
                <a:ea typeface="Calibri"/>
                <a:cs typeface="Calibri"/>
                <a:sym typeface="Calibri"/>
              </a:rPr>
              <a:t>TiltaksAID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" name="Google Shape;59;p3"/>
          <p:cNvSpPr/>
          <p:nvPr/>
        </p:nvSpPr>
        <p:spPr>
          <a:xfrm>
            <a:off x="3657600" y="6400800"/>
            <a:ext cx="5943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5C6E75"/>
              </a:buClr>
              <a:buSzPts val="900"/>
              <a:buFont typeface="Calibri"/>
              <a:buNone/>
            </a:pPr>
            <a:r>
              <a:rPr lang="en-US" sz="900">
                <a:solidFill>
                  <a:srgbClr val="5C6E75"/>
                </a:solidFill>
                <a:latin typeface="Calibri"/>
                <a:ea typeface="Calibri"/>
                <a:cs typeface="Calibri"/>
                <a:sym typeface="Calibri"/>
              </a:rPr>
              <a:t>Behov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" name="Google Shape;60;p3"/>
          <p:cNvSpPr/>
          <p:nvPr/>
        </p:nvSpPr>
        <p:spPr>
          <a:xfrm>
            <a:off x="10058400" y="6400800"/>
            <a:ext cx="1581912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5C6E75"/>
              </a:buClr>
              <a:buSzPts val="900"/>
              <a:buFont typeface="Calibri"/>
              <a:buNone/>
            </a:pPr>
            <a:r>
              <a:rPr lang="en-US" sz="900">
                <a:solidFill>
                  <a:srgbClr val="5C6E75"/>
                </a:solidFill>
                <a:latin typeface="Calibri"/>
                <a:ea typeface="Calibri"/>
                <a:cs typeface="Calibri"/>
                <a:sym typeface="Calibri"/>
              </a:rPr>
              <a:t>03 / 14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" name="Google Shape;61;p3"/>
          <p:cNvSpPr/>
          <p:nvPr/>
        </p:nvSpPr>
        <p:spPr>
          <a:xfrm>
            <a:off x="548640" y="1828800"/>
            <a:ext cx="5349240" cy="4160520"/>
          </a:xfrm>
          <a:prstGeom prst="roundRect">
            <a:avLst>
              <a:gd fmla="val 1758" name="adj"/>
            </a:avLst>
          </a:prstGeom>
          <a:solidFill>
            <a:srgbClr val="FFFFFF"/>
          </a:solidFill>
          <a:ln cap="flat" cmpd="sng" w="12700">
            <a:solidFill>
              <a:srgbClr val="D7E3E5"/>
            </a:solidFill>
            <a:prstDash val="solid"/>
            <a:round/>
            <a:headEnd len="sm" w="sm" type="none"/>
            <a:tailEnd len="sm" w="sm" type="none"/>
          </a:ln>
          <a:effectLst>
            <a:outerShdw blurRad="88900" rotWithShape="0" algn="bl" dir="8100000" dist="38100">
              <a:srgbClr val="0F2E38">
                <a:alpha val="12941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" name="Google Shape;62;p3"/>
          <p:cNvSpPr/>
          <p:nvPr/>
        </p:nvSpPr>
        <p:spPr>
          <a:xfrm>
            <a:off x="548640" y="1828800"/>
            <a:ext cx="5349240" cy="914400"/>
          </a:xfrm>
          <a:prstGeom prst="rect">
            <a:avLst/>
          </a:prstGeom>
          <a:solidFill>
            <a:srgbClr val="1B7E91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" name="Google Shape;63;p3"/>
          <p:cNvSpPr/>
          <p:nvPr/>
        </p:nvSpPr>
        <p:spPr>
          <a:xfrm>
            <a:off x="822960" y="2020824"/>
            <a:ext cx="530352" cy="530352"/>
          </a:xfrm>
          <a:prstGeom prst="ellipse">
            <a:avLst/>
          </a:prstGeom>
          <a:solidFill>
            <a:srgbClr val="0F2E38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64" name="Google Shape;64;p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60852" y="2158716"/>
            <a:ext cx="254569" cy="254569"/>
          </a:xfrm>
          <a:prstGeom prst="rect">
            <a:avLst/>
          </a:prstGeom>
          <a:noFill/>
          <a:ln>
            <a:noFill/>
          </a:ln>
        </p:spPr>
      </p:pic>
      <p:sp>
        <p:nvSpPr>
          <p:cNvPr id="65" name="Google Shape;65;p3"/>
          <p:cNvSpPr/>
          <p:nvPr/>
        </p:nvSpPr>
        <p:spPr>
          <a:xfrm>
            <a:off x="1508760" y="1984248"/>
            <a:ext cx="425196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900"/>
              <a:buFont typeface="Georgia"/>
              <a:buNone/>
            </a:pPr>
            <a:r>
              <a:rPr b="1" lang="en-US" sz="1900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Innbyggeren</a:t>
            </a:r>
            <a:endParaRPr sz="1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" name="Google Shape;66;p3"/>
          <p:cNvSpPr/>
          <p:nvPr/>
        </p:nvSpPr>
        <p:spPr>
          <a:xfrm>
            <a:off x="1508760" y="2331720"/>
            <a:ext cx="425196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E9F2F3"/>
              </a:buClr>
              <a:buSzPts val="1150"/>
              <a:buFont typeface="Calibri"/>
              <a:buNone/>
            </a:pPr>
            <a:r>
              <a:t/>
            </a:r>
            <a:endParaRPr sz="11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9F2F3"/>
              </a:buClr>
              <a:buSzPts val="1150"/>
              <a:buFont typeface="Calibri"/>
              <a:buNone/>
            </a:pPr>
            <a:r>
              <a:t/>
            </a:r>
            <a:endParaRPr sz="11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67" name="Google Shape;67;p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59536" y="3054096"/>
            <a:ext cx="237744" cy="237744"/>
          </a:xfrm>
          <a:prstGeom prst="rect">
            <a:avLst/>
          </a:prstGeom>
          <a:noFill/>
          <a:ln>
            <a:noFill/>
          </a:ln>
        </p:spPr>
      </p:pic>
      <p:sp>
        <p:nvSpPr>
          <p:cNvPr id="68" name="Google Shape;68;p3"/>
          <p:cNvSpPr/>
          <p:nvPr/>
        </p:nvSpPr>
        <p:spPr>
          <a:xfrm>
            <a:off x="1225296" y="2962656"/>
            <a:ext cx="438912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A2E"/>
              </a:buClr>
              <a:buSzPts val="1300"/>
              <a:buFont typeface="Calibri"/>
              <a:buNone/>
            </a:pPr>
            <a:r>
              <a:rPr lang="en-US" sz="1300">
                <a:solidFill>
                  <a:srgbClr val="1E2A2E"/>
                </a:solidFill>
                <a:latin typeface="Calibri"/>
                <a:ea typeface="Calibri"/>
                <a:cs typeface="Calibri"/>
                <a:sym typeface="Calibri"/>
              </a:rPr>
              <a:t>Forstå reglene uten å være fagperson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69" name="Google Shape;69;p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59536" y="3767328"/>
            <a:ext cx="237744" cy="237744"/>
          </a:xfrm>
          <a:prstGeom prst="rect">
            <a:avLst/>
          </a:prstGeom>
          <a:noFill/>
          <a:ln>
            <a:noFill/>
          </a:ln>
        </p:spPr>
      </p:pic>
      <p:sp>
        <p:nvSpPr>
          <p:cNvPr id="70" name="Google Shape;70;p3"/>
          <p:cNvSpPr/>
          <p:nvPr/>
        </p:nvSpPr>
        <p:spPr>
          <a:xfrm>
            <a:off x="1225296" y="3675888"/>
            <a:ext cx="438912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A2E"/>
              </a:buClr>
              <a:buSzPts val="1300"/>
              <a:buFont typeface="Calibri"/>
              <a:buNone/>
            </a:pPr>
            <a:r>
              <a:rPr lang="en-US" sz="1300">
                <a:solidFill>
                  <a:srgbClr val="1E2A2E"/>
                </a:solidFill>
                <a:latin typeface="Calibri"/>
                <a:ea typeface="Calibri"/>
                <a:cs typeface="Calibri"/>
                <a:sym typeface="Calibri"/>
              </a:rPr>
              <a:t>Slippe å lete etter data på mange nettsider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71" name="Google Shape;71;p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59536" y="4480560"/>
            <a:ext cx="237744" cy="237744"/>
          </a:xfrm>
          <a:prstGeom prst="rect">
            <a:avLst/>
          </a:prstGeom>
          <a:noFill/>
          <a:ln>
            <a:noFill/>
          </a:ln>
        </p:spPr>
      </p:pic>
      <p:sp>
        <p:nvSpPr>
          <p:cNvPr id="72" name="Google Shape;72;p3"/>
          <p:cNvSpPr/>
          <p:nvPr/>
        </p:nvSpPr>
        <p:spPr>
          <a:xfrm>
            <a:off x="1225296" y="4389120"/>
            <a:ext cx="438912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A2E"/>
              </a:buClr>
              <a:buSzPts val="1300"/>
              <a:buFont typeface="Calibri"/>
              <a:buNone/>
            </a:pPr>
            <a:r>
              <a:rPr lang="en-US" sz="1300">
                <a:solidFill>
                  <a:srgbClr val="1E2A2E"/>
                </a:solidFill>
                <a:latin typeface="Calibri"/>
                <a:ea typeface="Calibri"/>
                <a:cs typeface="Calibri"/>
                <a:sym typeface="Calibri"/>
              </a:rPr>
              <a:t>Få et tydelig og tidlig svar på søknadsplikt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73" name="Google Shape;73;p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59536" y="5193792"/>
            <a:ext cx="237744" cy="237744"/>
          </a:xfrm>
          <a:prstGeom prst="rect">
            <a:avLst/>
          </a:prstGeom>
          <a:noFill/>
          <a:ln>
            <a:noFill/>
          </a:ln>
        </p:spPr>
      </p:pic>
      <p:sp>
        <p:nvSpPr>
          <p:cNvPr id="74" name="Google Shape;74;p3"/>
          <p:cNvSpPr/>
          <p:nvPr/>
        </p:nvSpPr>
        <p:spPr>
          <a:xfrm>
            <a:off x="1225296" y="5102352"/>
            <a:ext cx="438912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A2E"/>
              </a:buClr>
              <a:buSzPts val="1300"/>
              <a:buFont typeface="Calibri"/>
              <a:buNone/>
            </a:pPr>
            <a:r>
              <a:rPr lang="en-US" sz="1300">
                <a:solidFill>
                  <a:srgbClr val="1E2A2E"/>
                </a:solidFill>
                <a:latin typeface="Calibri"/>
                <a:ea typeface="Calibri"/>
                <a:cs typeface="Calibri"/>
                <a:sym typeface="Calibri"/>
              </a:rPr>
              <a:t>Se tiltaket i sin egen romlige kontekst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5" name="Google Shape;75;p3"/>
          <p:cNvSpPr/>
          <p:nvPr/>
        </p:nvSpPr>
        <p:spPr>
          <a:xfrm>
            <a:off x="6291072" y="1828800"/>
            <a:ext cx="5349240" cy="4160520"/>
          </a:xfrm>
          <a:prstGeom prst="roundRect">
            <a:avLst>
              <a:gd fmla="val 1758" name="adj"/>
            </a:avLst>
          </a:prstGeom>
          <a:solidFill>
            <a:srgbClr val="FFFFFF"/>
          </a:solidFill>
          <a:ln cap="flat" cmpd="sng" w="12700">
            <a:solidFill>
              <a:srgbClr val="D7E3E5"/>
            </a:solidFill>
            <a:prstDash val="solid"/>
            <a:round/>
            <a:headEnd len="sm" w="sm" type="none"/>
            <a:tailEnd len="sm" w="sm" type="none"/>
          </a:ln>
          <a:effectLst>
            <a:outerShdw blurRad="88900" rotWithShape="0" algn="bl" dir="8100000" dist="38100">
              <a:srgbClr val="0F2E38">
                <a:alpha val="12941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6" name="Google Shape;76;p3"/>
          <p:cNvSpPr/>
          <p:nvPr/>
        </p:nvSpPr>
        <p:spPr>
          <a:xfrm>
            <a:off x="6291072" y="1828800"/>
            <a:ext cx="5349240" cy="914400"/>
          </a:xfrm>
          <a:prstGeom prst="rect">
            <a:avLst/>
          </a:prstGeom>
          <a:solidFill>
            <a:srgbClr val="1B7E91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7" name="Google Shape;77;p3"/>
          <p:cNvSpPr/>
          <p:nvPr/>
        </p:nvSpPr>
        <p:spPr>
          <a:xfrm>
            <a:off x="6565392" y="2020824"/>
            <a:ext cx="530352" cy="530352"/>
          </a:xfrm>
          <a:prstGeom prst="ellipse">
            <a:avLst/>
          </a:prstGeom>
          <a:solidFill>
            <a:srgbClr val="0F2E38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78" name="Google Shape;78;p3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703284" y="2158716"/>
            <a:ext cx="254569" cy="254569"/>
          </a:xfrm>
          <a:prstGeom prst="rect">
            <a:avLst/>
          </a:prstGeom>
          <a:noFill/>
          <a:ln>
            <a:noFill/>
          </a:ln>
        </p:spPr>
      </p:pic>
      <p:sp>
        <p:nvSpPr>
          <p:cNvPr id="79" name="Google Shape;79;p3"/>
          <p:cNvSpPr/>
          <p:nvPr/>
        </p:nvSpPr>
        <p:spPr>
          <a:xfrm>
            <a:off x="7251192" y="1984248"/>
            <a:ext cx="425196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900"/>
              <a:buFont typeface="Georgia"/>
              <a:buNone/>
            </a:pPr>
            <a:r>
              <a:rPr b="1" lang="en-US" sz="1900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Kommunen</a:t>
            </a:r>
            <a:endParaRPr sz="1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0" name="Google Shape;80;p3"/>
          <p:cNvSpPr/>
          <p:nvPr/>
        </p:nvSpPr>
        <p:spPr>
          <a:xfrm>
            <a:off x="7251192" y="2331720"/>
            <a:ext cx="425196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9F2F3"/>
              </a:buClr>
              <a:buSzPts val="1150"/>
              <a:buFont typeface="Calibri"/>
              <a:buNone/>
            </a:pPr>
            <a:r>
              <a:t/>
            </a:r>
            <a:endParaRPr sz="11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81" name="Google Shape;81;p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601968" y="3054096"/>
            <a:ext cx="237744" cy="237744"/>
          </a:xfrm>
          <a:prstGeom prst="rect">
            <a:avLst/>
          </a:prstGeom>
          <a:noFill/>
          <a:ln>
            <a:noFill/>
          </a:ln>
        </p:spPr>
      </p:pic>
      <p:sp>
        <p:nvSpPr>
          <p:cNvPr id="82" name="Google Shape;82;p3"/>
          <p:cNvSpPr/>
          <p:nvPr/>
        </p:nvSpPr>
        <p:spPr>
          <a:xfrm>
            <a:off x="6967728" y="2962656"/>
            <a:ext cx="438912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A2E"/>
              </a:buClr>
              <a:buSzPts val="1300"/>
              <a:buFont typeface="Calibri"/>
              <a:buNone/>
            </a:pPr>
            <a:r>
              <a:rPr lang="en-US" sz="1300">
                <a:solidFill>
                  <a:srgbClr val="1E2A2E"/>
                </a:solidFill>
                <a:latin typeface="Calibri"/>
                <a:ea typeface="Calibri"/>
                <a:cs typeface="Calibri"/>
                <a:sym typeface="Calibri"/>
              </a:rPr>
              <a:t>Færre ufullstendige og unødvendige søknader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83" name="Google Shape;83;p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601968" y="3767328"/>
            <a:ext cx="237744" cy="237744"/>
          </a:xfrm>
          <a:prstGeom prst="rect">
            <a:avLst/>
          </a:prstGeom>
          <a:noFill/>
          <a:ln>
            <a:noFill/>
          </a:ln>
        </p:spPr>
      </p:pic>
      <p:sp>
        <p:nvSpPr>
          <p:cNvPr id="84" name="Google Shape;84;p3"/>
          <p:cNvSpPr/>
          <p:nvPr/>
        </p:nvSpPr>
        <p:spPr>
          <a:xfrm>
            <a:off x="6967728" y="3675888"/>
            <a:ext cx="438912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A2E"/>
              </a:buClr>
              <a:buSzPts val="1300"/>
              <a:buFont typeface="Calibri"/>
              <a:buNone/>
            </a:pPr>
            <a:r>
              <a:rPr lang="en-US" sz="1300">
                <a:solidFill>
                  <a:srgbClr val="1E2A2E"/>
                </a:solidFill>
                <a:latin typeface="Calibri"/>
                <a:ea typeface="Calibri"/>
                <a:cs typeface="Calibri"/>
                <a:sym typeface="Calibri"/>
              </a:rPr>
              <a:t>Mindre driftsbelastning på saksbehandlere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85" name="Google Shape;85;p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601968" y="4480560"/>
            <a:ext cx="237744" cy="237744"/>
          </a:xfrm>
          <a:prstGeom prst="rect">
            <a:avLst/>
          </a:prstGeom>
          <a:noFill/>
          <a:ln>
            <a:noFill/>
          </a:ln>
        </p:spPr>
      </p:pic>
      <p:sp>
        <p:nvSpPr>
          <p:cNvPr id="86" name="Google Shape;86;p3"/>
          <p:cNvSpPr/>
          <p:nvPr/>
        </p:nvSpPr>
        <p:spPr>
          <a:xfrm>
            <a:off x="6967728" y="4389120"/>
            <a:ext cx="438912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A2E"/>
              </a:buClr>
              <a:buSzPts val="1300"/>
              <a:buFont typeface="Calibri"/>
              <a:buNone/>
            </a:pPr>
            <a:r>
              <a:rPr lang="en-US" sz="1300">
                <a:solidFill>
                  <a:srgbClr val="1E2A2E"/>
                </a:solidFill>
                <a:latin typeface="Calibri"/>
                <a:ea typeface="Calibri"/>
                <a:cs typeface="Calibri"/>
                <a:sym typeface="Calibri"/>
              </a:rPr>
              <a:t>Et ikke-bindende, ansvarsklart veiledningsverktøy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87" name="Google Shape;87;p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601968" y="5193792"/>
            <a:ext cx="237744" cy="237744"/>
          </a:xfrm>
          <a:prstGeom prst="rect">
            <a:avLst/>
          </a:prstGeom>
          <a:noFill/>
          <a:ln>
            <a:noFill/>
          </a:ln>
        </p:spPr>
      </p:pic>
      <p:sp>
        <p:nvSpPr>
          <p:cNvPr id="88" name="Google Shape;88;p3"/>
          <p:cNvSpPr/>
          <p:nvPr/>
        </p:nvSpPr>
        <p:spPr>
          <a:xfrm>
            <a:off x="6967728" y="5102352"/>
            <a:ext cx="438912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A2E"/>
              </a:buClr>
              <a:buSzPts val="1300"/>
              <a:buFont typeface="Calibri"/>
              <a:buNone/>
            </a:pPr>
            <a:r>
              <a:rPr lang="en-US" sz="1300">
                <a:solidFill>
                  <a:srgbClr val="1E2A2E"/>
                </a:solidFill>
                <a:latin typeface="Calibri"/>
                <a:ea typeface="Calibri"/>
                <a:cs typeface="Calibri"/>
                <a:sym typeface="Calibri"/>
              </a:rPr>
              <a:t>En løsning andre kommuner kan gjenbruke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4"/>
          <p:cNvSpPr/>
          <p:nvPr/>
        </p:nvSpPr>
        <p:spPr>
          <a:xfrm>
            <a:off x="548640" y="475488"/>
            <a:ext cx="420624" cy="420624"/>
          </a:xfrm>
          <a:prstGeom prst="ellipse">
            <a:avLst/>
          </a:prstGeom>
          <a:solidFill>
            <a:srgbClr val="1B7E91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5" name="Google Shape;95;p4"/>
          <p:cNvSpPr/>
          <p:nvPr/>
        </p:nvSpPr>
        <p:spPr>
          <a:xfrm>
            <a:off x="548640" y="475488"/>
            <a:ext cx="420624" cy="42062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b="1" lang="en-US" sz="12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04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6" name="Google Shape;96;p4"/>
          <p:cNvSpPr/>
          <p:nvPr/>
        </p:nvSpPr>
        <p:spPr>
          <a:xfrm>
            <a:off x="1115568" y="475488"/>
            <a:ext cx="10058400" cy="42062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7E91"/>
              </a:buClr>
              <a:buSzPts val="1200"/>
              <a:buFont typeface="Calibri"/>
              <a:buNone/>
            </a:pPr>
            <a:r>
              <a:rPr b="1" lang="en-US" sz="1200">
                <a:solidFill>
                  <a:srgbClr val="1B7E91"/>
                </a:solidFill>
                <a:latin typeface="Calibri"/>
                <a:ea typeface="Calibri"/>
                <a:cs typeface="Calibri"/>
                <a:sym typeface="Calibri"/>
              </a:rPr>
              <a:t>DESIGNSVAR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7" name="Google Shape;97;p4"/>
          <p:cNvSpPr/>
          <p:nvPr/>
        </p:nvSpPr>
        <p:spPr>
          <a:xfrm>
            <a:off x="530352" y="914400"/>
            <a:ext cx="11064240" cy="868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2E38"/>
              </a:buClr>
              <a:buSzPts val="3100"/>
              <a:buFont typeface="Georgia"/>
              <a:buNone/>
            </a:pPr>
            <a:r>
              <a:rPr b="1" lang="en-US" sz="3100">
                <a:solidFill>
                  <a:srgbClr val="0F2E38"/>
                </a:solidFill>
                <a:latin typeface="Georgia"/>
                <a:ea typeface="Georgia"/>
                <a:cs typeface="Georgia"/>
                <a:sym typeface="Georgia"/>
              </a:rPr>
              <a:t>Fra problem til designvalg</a:t>
            </a:r>
            <a:endParaRPr sz="3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8" name="Google Shape;98;p4"/>
          <p:cNvSpPr/>
          <p:nvPr/>
        </p:nvSpPr>
        <p:spPr>
          <a:xfrm>
            <a:off x="548640" y="6400800"/>
            <a:ext cx="3657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C6E75"/>
              </a:buClr>
              <a:buSzPts val="900"/>
              <a:buFont typeface="Calibri"/>
              <a:buNone/>
            </a:pPr>
            <a:r>
              <a:rPr b="1" lang="en-US" sz="900">
                <a:solidFill>
                  <a:srgbClr val="5C6E75"/>
                </a:solidFill>
                <a:latin typeface="Calibri"/>
                <a:ea typeface="Calibri"/>
                <a:cs typeface="Calibri"/>
                <a:sym typeface="Calibri"/>
              </a:rPr>
              <a:t>TiltaksAID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9" name="Google Shape;99;p4"/>
          <p:cNvSpPr/>
          <p:nvPr/>
        </p:nvSpPr>
        <p:spPr>
          <a:xfrm>
            <a:off x="3657600" y="6400800"/>
            <a:ext cx="5943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5C6E75"/>
              </a:buClr>
              <a:buSzPts val="900"/>
              <a:buFont typeface="Calibri"/>
              <a:buNone/>
            </a:pPr>
            <a:r>
              <a:rPr lang="en-US" sz="900">
                <a:solidFill>
                  <a:srgbClr val="5C6E75"/>
                </a:solidFill>
                <a:latin typeface="Calibri"/>
                <a:ea typeface="Calibri"/>
                <a:cs typeface="Calibri"/>
                <a:sym typeface="Calibri"/>
              </a:rPr>
              <a:t>Fra problem til løsning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0" name="Google Shape;100;p4"/>
          <p:cNvSpPr/>
          <p:nvPr/>
        </p:nvSpPr>
        <p:spPr>
          <a:xfrm>
            <a:off x="10058400" y="6400800"/>
            <a:ext cx="1581912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5C6E75"/>
              </a:buClr>
              <a:buSzPts val="900"/>
              <a:buFont typeface="Calibri"/>
              <a:buNone/>
            </a:pPr>
            <a:r>
              <a:rPr lang="en-US" sz="900">
                <a:solidFill>
                  <a:srgbClr val="5C6E75"/>
                </a:solidFill>
                <a:latin typeface="Calibri"/>
                <a:ea typeface="Calibri"/>
                <a:cs typeface="Calibri"/>
                <a:sym typeface="Calibri"/>
              </a:rPr>
              <a:t>04 / 14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1" name="Google Shape;101;p4"/>
          <p:cNvSpPr/>
          <p:nvPr/>
        </p:nvSpPr>
        <p:spPr>
          <a:xfrm>
            <a:off x="548640" y="1627632"/>
            <a:ext cx="1051560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C6E75"/>
              </a:buClr>
              <a:buSzPts val="1400"/>
              <a:buFont typeface="Calibri"/>
              <a:buNone/>
            </a:pPr>
            <a:r>
              <a:rPr i="1" lang="en-US" sz="1400">
                <a:solidFill>
                  <a:srgbClr val="5C6E75"/>
                </a:solidFill>
                <a:latin typeface="Calibri"/>
                <a:ea typeface="Calibri"/>
                <a:cs typeface="Calibri"/>
                <a:sym typeface="Calibri"/>
              </a:rPr>
              <a:t>Hvert kjerneproblem er koblet direkte til et konkret grep i løsningen.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2" name="Google Shape;102;p4"/>
          <p:cNvSpPr/>
          <p:nvPr/>
        </p:nvSpPr>
        <p:spPr>
          <a:xfrm>
            <a:off x="548640" y="2194560"/>
            <a:ext cx="4617720" cy="1280160"/>
          </a:xfrm>
          <a:prstGeom prst="roundRect">
            <a:avLst>
              <a:gd fmla="val 5000" name="adj"/>
            </a:avLst>
          </a:prstGeom>
          <a:solidFill>
            <a:srgbClr val="F4F8F9"/>
          </a:solidFill>
          <a:ln cap="flat" cmpd="sng" w="12700">
            <a:solidFill>
              <a:srgbClr val="D7E3E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3" name="Google Shape;103;p4"/>
          <p:cNvSpPr/>
          <p:nvPr/>
        </p:nvSpPr>
        <p:spPr>
          <a:xfrm>
            <a:off x="777240" y="2322576"/>
            <a:ext cx="27432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98C2B"/>
              </a:buClr>
              <a:buSzPts val="900"/>
              <a:buFont typeface="Calibri"/>
              <a:buNone/>
            </a:pPr>
            <a:r>
              <a:rPr b="1" lang="en-US" sz="900">
                <a:solidFill>
                  <a:srgbClr val="D98C2B"/>
                </a:solidFill>
                <a:latin typeface="Calibri"/>
                <a:ea typeface="Calibri"/>
                <a:cs typeface="Calibri"/>
                <a:sym typeface="Calibri"/>
              </a:rPr>
              <a:t>PROBLEM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4" name="Google Shape;104;p4"/>
          <p:cNvSpPr/>
          <p:nvPr/>
        </p:nvSpPr>
        <p:spPr>
          <a:xfrm>
            <a:off x="777240" y="2523744"/>
            <a:ext cx="420624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2E38"/>
              </a:buClr>
              <a:buSzPts val="1450"/>
              <a:buFont typeface="Georgia"/>
              <a:buNone/>
            </a:pPr>
            <a:r>
              <a:rPr b="1" lang="en-US" sz="1450">
                <a:solidFill>
                  <a:srgbClr val="0F2E38"/>
                </a:solidFill>
                <a:latin typeface="Georgia"/>
                <a:ea typeface="Georgia"/>
                <a:cs typeface="Georgia"/>
                <a:sym typeface="Georgia"/>
              </a:rPr>
              <a:t>Romlig-til-tekst-oversettelse</a:t>
            </a:r>
            <a:endParaRPr sz="14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5" name="Google Shape;105;p4"/>
          <p:cNvSpPr/>
          <p:nvPr/>
        </p:nvSpPr>
        <p:spPr>
          <a:xfrm>
            <a:off x="777240" y="2871216"/>
            <a:ext cx="425196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1E2A2E"/>
              </a:buClr>
              <a:buSzPts val="1050"/>
              <a:buFont typeface="Calibri"/>
              <a:buNone/>
            </a:pPr>
            <a:r>
              <a:rPr lang="en-US" sz="1050">
                <a:solidFill>
                  <a:srgbClr val="1E2A2E"/>
                </a:solidFill>
                <a:latin typeface="Calibri"/>
                <a:ea typeface="Calibri"/>
                <a:cs typeface="Calibri"/>
                <a:sym typeface="Calibri"/>
              </a:rPr>
              <a:t>Brukeren må forestille seg avstander og grenser mentalt.</a:t>
            </a:r>
            <a:endParaRPr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6" name="Google Shape;106;p4"/>
          <p:cNvSpPr/>
          <p:nvPr/>
        </p:nvSpPr>
        <p:spPr>
          <a:xfrm>
            <a:off x="5431536" y="2587752"/>
            <a:ext cx="493776" cy="493776"/>
          </a:xfrm>
          <a:prstGeom prst="ellipse">
            <a:avLst/>
          </a:prstGeom>
          <a:solidFill>
            <a:srgbClr val="5AAE4A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107" name="Google Shape;107;p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559918" y="2716134"/>
            <a:ext cx="237012" cy="237012"/>
          </a:xfrm>
          <a:prstGeom prst="rect">
            <a:avLst/>
          </a:prstGeom>
          <a:noFill/>
          <a:ln>
            <a:noFill/>
          </a:ln>
        </p:spPr>
      </p:pic>
      <p:sp>
        <p:nvSpPr>
          <p:cNvPr id="108" name="Google Shape;108;p4"/>
          <p:cNvSpPr/>
          <p:nvPr/>
        </p:nvSpPr>
        <p:spPr>
          <a:xfrm>
            <a:off x="6144768" y="2194560"/>
            <a:ext cx="5495544" cy="1280160"/>
          </a:xfrm>
          <a:prstGeom prst="roundRect">
            <a:avLst>
              <a:gd fmla="val 5000" name="adj"/>
            </a:avLst>
          </a:prstGeom>
          <a:solidFill>
            <a:srgbClr val="0F2E38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9" name="Google Shape;109;p4"/>
          <p:cNvSpPr/>
          <p:nvPr/>
        </p:nvSpPr>
        <p:spPr>
          <a:xfrm>
            <a:off x="6364224" y="2523744"/>
            <a:ext cx="621792" cy="621792"/>
          </a:xfrm>
          <a:prstGeom prst="ellipse">
            <a:avLst/>
          </a:prstGeom>
          <a:solidFill>
            <a:srgbClr val="1B7E91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110" name="Google Shape;110;p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525890" y="2685410"/>
            <a:ext cx="298460" cy="298460"/>
          </a:xfrm>
          <a:prstGeom prst="rect">
            <a:avLst/>
          </a:prstGeom>
          <a:noFill/>
          <a:ln>
            <a:noFill/>
          </a:ln>
        </p:spPr>
      </p:pic>
      <p:sp>
        <p:nvSpPr>
          <p:cNvPr id="111" name="Google Shape;111;p4"/>
          <p:cNvSpPr/>
          <p:nvPr/>
        </p:nvSpPr>
        <p:spPr>
          <a:xfrm>
            <a:off x="7150608" y="2322576"/>
            <a:ext cx="27432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AAE4A"/>
              </a:buClr>
              <a:buSzPts val="900"/>
              <a:buFont typeface="Calibri"/>
              <a:buNone/>
            </a:pPr>
            <a:r>
              <a:rPr b="1" lang="en-US" sz="900">
                <a:solidFill>
                  <a:srgbClr val="5AAE4A"/>
                </a:solidFill>
                <a:latin typeface="Calibri"/>
                <a:ea typeface="Calibri"/>
                <a:cs typeface="Calibri"/>
                <a:sym typeface="Calibri"/>
              </a:rPr>
              <a:t>LØSNING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2" name="Google Shape;112;p4"/>
          <p:cNvSpPr/>
          <p:nvPr/>
        </p:nvSpPr>
        <p:spPr>
          <a:xfrm>
            <a:off x="7150608" y="2523744"/>
            <a:ext cx="429768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50"/>
              <a:buFont typeface="Georgia"/>
              <a:buNone/>
            </a:pPr>
            <a:r>
              <a:rPr b="1" lang="en-US" sz="1450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Kart med tegneverktøy</a:t>
            </a:r>
            <a:endParaRPr sz="14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3" name="Google Shape;113;p4"/>
          <p:cNvSpPr/>
          <p:nvPr/>
        </p:nvSpPr>
        <p:spPr>
          <a:xfrm>
            <a:off x="7150608" y="2871216"/>
            <a:ext cx="43434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E9F2F3"/>
              </a:buClr>
              <a:buSzPts val="1050"/>
              <a:buFont typeface="Calibri"/>
              <a:buNone/>
            </a:pPr>
            <a:r>
              <a:rPr lang="en-US" sz="1050">
                <a:solidFill>
                  <a:srgbClr val="E9F2F3"/>
                </a:solidFill>
                <a:latin typeface="Calibri"/>
                <a:ea typeface="Calibri"/>
                <a:cs typeface="Calibri"/>
                <a:sym typeface="Calibri"/>
              </a:rPr>
              <a:t>Brukeren markerer tiltaket direkte på et digitalt kart.</a:t>
            </a:r>
            <a:endParaRPr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4" name="Google Shape;114;p4"/>
          <p:cNvSpPr/>
          <p:nvPr/>
        </p:nvSpPr>
        <p:spPr>
          <a:xfrm>
            <a:off x="548640" y="3621024"/>
            <a:ext cx="4617720" cy="1280160"/>
          </a:xfrm>
          <a:prstGeom prst="roundRect">
            <a:avLst>
              <a:gd fmla="val 5000" name="adj"/>
            </a:avLst>
          </a:prstGeom>
          <a:solidFill>
            <a:srgbClr val="F4F8F9"/>
          </a:solidFill>
          <a:ln cap="flat" cmpd="sng" w="12700">
            <a:solidFill>
              <a:srgbClr val="D7E3E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5" name="Google Shape;115;p4"/>
          <p:cNvSpPr/>
          <p:nvPr/>
        </p:nvSpPr>
        <p:spPr>
          <a:xfrm>
            <a:off x="777240" y="3749040"/>
            <a:ext cx="27432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98C2B"/>
              </a:buClr>
              <a:buSzPts val="900"/>
              <a:buFont typeface="Calibri"/>
              <a:buNone/>
            </a:pPr>
            <a:r>
              <a:rPr b="1" lang="en-US" sz="900">
                <a:solidFill>
                  <a:srgbClr val="D98C2B"/>
                </a:solidFill>
                <a:latin typeface="Calibri"/>
                <a:ea typeface="Calibri"/>
                <a:cs typeface="Calibri"/>
                <a:sym typeface="Calibri"/>
              </a:rPr>
              <a:t>PROBLEM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6" name="Google Shape;116;p4"/>
          <p:cNvSpPr/>
          <p:nvPr/>
        </p:nvSpPr>
        <p:spPr>
          <a:xfrm>
            <a:off x="777240" y="3950208"/>
            <a:ext cx="420624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2E38"/>
              </a:buClr>
              <a:buSzPts val="1450"/>
              <a:buFont typeface="Georgia"/>
              <a:buNone/>
            </a:pPr>
            <a:r>
              <a:rPr b="1" lang="en-US" sz="1450">
                <a:solidFill>
                  <a:srgbClr val="0F2E38"/>
                </a:solidFill>
                <a:latin typeface="Georgia"/>
                <a:ea typeface="Georgia"/>
                <a:cs typeface="Georgia"/>
                <a:sym typeface="Georgia"/>
              </a:rPr>
              <a:t>Høy kognitiv belastning</a:t>
            </a:r>
            <a:endParaRPr sz="14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7" name="Google Shape;117;p4"/>
          <p:cNvSpPr/>
          <p:nvPr/>
        </p:nvSpPr>
        <p:spPr>
          <a:xfrm>
            <a:off x="777240" y="4297680"/>
            <a:ext cx="425196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1E2A2E"/>
              </a:buClr>
              <a:buSzPts val="1050"/>
              <a:buFont typeface="Calibri"/>
              <a:buNone/>
            </a:pPr>
            <a:r>
              <a:rPr lang="en-US" sz="1050">
                <a:solidFill>
                  <a:srgbClr val="1E2A2E"/>
                </a:solidFill>
                <a:latin typeface="Calibri"/>
                <a:ea typeface="Calibri"/>
                <a:cs typeface="Calibri"/>
                <a:sym typeface="Calibri"/>
              </a:rPr>
              <a:t>Skattejakt på eksterne nettsider og ukjente fagbegreper.</a:t>
            </a:r>
            <a:endParaRPr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8" name="Google Shape;118;p4"/>
          <p:cNvSpPr/>
          <p:nvPr/>
        </p:nvSpPr>
        <p:spPr>
          <a:xfrm>
            <a:off x="5431536" y="4014216"/>
            <a:ext cx="493776" cy="493776"/>
          </a:xfrm>
          <a:prstGeom prst="ellipse">
            <a:avLst/>
          </a:prstGeom>
          <a:solidFill>
            <a:srgbClr val="5AAE4A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119" name="Google Shape;119;p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559918" y="4142598"/>
            <a:ext cx="237012" cy="237012"/>
          </a:xfrm>
          <a:prstGeom prst="rect">
            <a:avLst/>
          </a:prstGeom>
          <a:noFill/>
          <a:ln>
            <a:noFill/>
          </a:ln>
        </p:spPr>
      </p:pic>
      <p:sp>
        <p:nvSpPr>
          <p:cNvPr id="120" name="Google Shape;120;p4"/>
          <p:cNvSpPr/>
          <p:nvPr/>
        </p:nvSpPr>
        <p:spPr>
          <a:xfrm>
            <a:off x="6144768" y="3621024"/>
            <a:ext cx="5495544" cy="1280160"/>
          </a:xfrm>
          <a:prstGeom prst="roundRect">
            <a:avLst>
              <a:gd fmla="val 5000" name="adj"/>
            </a:avLst>
          </a:prstGeom>
          <a:solidFill>
            <a:srgbClr val="0F2E38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1" name="Google Shape;121;p4"/>
          <p:cNvSpPr/>
          <p:nvPr/>
        </p:nvSpPr>
        <p:spPr>
          <a:xfrm>
            <a:off x="6364224" y="3950208"/>
            <a:ext cx="621792" cy="621792"/>
          </a:xfrm>
          <a:prstGeom prst="ellipse">
            <a:avLst/>
          </a:prstGeom>
          <a:solidFill>
            <a:srgbClr val="1B7E91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122" name="Google Shape;122;p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525890" y="4111874"/>
            <a:ext cx="298460" cy="298460"/>
          </a:xfrm>
          <a:prstGeom prst="rect">
            <a:avLst/>
          </a:prstGeom>
          <a:noFill/>
          <a:ln>
            <a:noFill/>
          </a:ln>
        </p:spPr>
      </p:pic>
      <p:sp>
        <p:nvSpPr>
          <p:cNvPr id="123" name="Google Shape;123;p4"/>
          <p:cNvSpPr/>
          <p:nvPr/>
        </p:nvSpPr>
        <p:spPr>
          <a:xfrm>
            <a:off x="7150608" y="3749040"/>
            <a:ext cx="27432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AAE4A"/>
              </a:buClr>
              <a:buSzPts val="900"/>
              <a:buFont typeface="Calibri"/>
              <a:buNone/>
            </a:pPr>
            <a:r>
              <a:rPr b="1" lang="en-US" sz="900">
                <a:solidFill>
                  <a:srgbClr val="5AAE4A"/>
                </a:solidFill>
                <a:latin typeface="Calibri"/>
                <a:ea typeface="Calibri"/>
                <a:cs typeface="Calibri"/>
                <a:sym typeface="Calibri"/>
              </a:rPr>
              <a:t>LØSNING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4" name="Google Shape;124;p4"/>
          <p:cNvSpPr/>
          <p:nvPr/>
        </p:nvSpPr>
        <p:spPr>
          <a:xfrm>
            <a:off x="7150608" y="3950208"/>
            <a:ext cx="429768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50"/>
              <a:buFont typeface="Georgia"/>
              <a:buNone/>
            </a:pPr>
            <a:r>
              <a:rPr b="1" lang="en-US" sz="1450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Automatiske svar</a:t>
            </a:r>
            <a:endParaRPr sz="14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5" name="Google Shape;125;p4"/>
          <p:cNvSpPr/>
          <p:nvPr/>
        </p:nvSpPr>
        <p:spPr>
          <a:xfrm>
            <a:off x="7150608" y="4297680"/>
            <a:ext cx="43434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E9F2F3"/>
              </a:buClr>
              <a:buSzPts val="1050"/>
              <a:buFont typeface="Calibri"/>
              <a:buNone/>
            </a:pPr>
            <a:r>
              <a:rPr lang="en-US" sz="1050">
                <a:solidFill>
                  <a:srgbClr val="E9F2F3"/>
                </a:solidFill>
                <a:latin typeface="Calibri"/>
                <a:ea typeface="Calibri"/>
                <a:cs typeface="Calibri"/>
                <a:sym typeface="Calibri"/>
              </a:rPr>
              <a:t>Systemet henter kartdata og besvarer spørsmål selv.</a:t>
            </a:r>
            <a:endParaRPr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6" name="Google Shape;126;p4"/>
          <p:cNvSpPr/>
          <p:nvPr/>
        </p:nvSpPr>
        <p:spPr>
          <a:xfrm>
            <a:off x="548640" y="5047488"/>
            <a:ext cx="4617720" cy="1280160"/>
          </a:xfrm>
          <a:prstGeom prst="roundRect">
            <a:avLst>
              <a:gd fmla="val 5000" name="adj"/>
            </a:avLst>
          </a:prstGeom>
          <a:solidFill>
            <a:srgbClr val="F4F8F9"/>
          </a:solidFill>
          <a:ln cap="flat" cmpd="sng" w="12700">
            <a:solidFill>
              <a:srgbClr val="D7E3E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7" name="Google Shape;127;p4"/>
          <p:cNvSpPr/>
          <p:nvPr/>
        </p:nvSpPr>
        <p:spPr>
          <a:xfrm>
            <a:off x="777240" y="5175504"/>
            <a:ext cx="27432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98C2B"/>
              </a:buClr>
              <a:buSzPts val="900"/>
              <a:buFont typeface="Calibri"/>
              <a:buNone/>
            </a:pPr>
            <a:r>
              <a:rPr b="1" lang="en-US" sz="900">
                <a:solidFill>
                  <a:srgbClr val="D98C2B"/>
                </a:solidFill>
                <a:latin typeface="Calibri"/>
                <a:ea typeface="Calibri"/>
                <a:cs typeface="Calibri"/>
                <a:sym typeface="Calibri"/>
              </a:rPr>
              <a:t>PROBLEM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8" name="Google Shape;128;p4"/>
          <p:cNvSpPr/>
          <p:nvPr/>
        </p:nvSpPr>
        <p:spPr>
          <a:xfrm>
            <a:off x="777240" y="5376672"/>
            <a:ext cx="420624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2E38"/>
              </a:buClr>
              <a:buSzPts val="1450"/>
              <a:buFont typeface="Georgia"/>
              <a:buNone/>
            </a:pPr>
            <a:r>
              <a:rPr b="1" lang="en-US" sz="1450">
                <a:solidFill>
                  <a:srgbClr val="0F2E38"/>
                </a:solidFill>
                <a:latin typeface="Georgia"/>
                <a:ea typeface="Georgia"/>
                <a:cs typeface="Georgia"/>
                <a:sym typeface="Georgia"/>
              </a:rPr>
              <a:t>Driftsbelastning i kommunen</a:t>
            </a:r>
            <a:endParaRPr sz="14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9" name="Google Shape;129;p4"/>
          <p:cNvSpPr/>
          <p:nvPr/>
        </p:nvSpPr>
        <p:spPr>
          <a:xfrm>
            <a:off x="777240" y="5724144"/>
            <a:ext cx="425196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1E2A2E"/>
              </a:buClr>
              <a:buSzPts val="1050"/>
              <a:buFont typeface="Calibri"/>
              <a:buNone/>
            </a:pPr>
            <a:r>
              <a:rPr lang="en-US" sz="1050">
                <a:solidFill>
                  <a:srgbClr val="1E2A2E"/>
                </a:solidFill>
                <a:latin typeface="Calibri"/>
                <a:ea typeface="Calibri"/>
                <a:cs typeface="Calibri"/>
                <a:sym typeface="Calibri"/>
              </a:rPr>
              <a:t>Feilsøknader og ulovlige tiltak gir merarbeid.</a:t>
            </a:r>
            <a:endParaRPr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0" name="Google Shape;130;p4"/>
          <p:cNvSpPr/>
          <p:nvPr/>
        </p:nvSpPr>
        <p:spPr>
          <a:xfrm>
            <a:off x="5431536" y="5440680"/>
            <a:ext cx="493776" cy="493776"/>
          </a:xfrm>
          <a:prstGeom prst="ellipse">
            <a:avLst/>
          </a:prstGeom>
          <a:solidFill>
            <a:srgbClr val="5AAE4A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131" name="Google Shape;131;p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559918" y="5569062"/>
            <a:ext cx="237012" cy="237012"/>
          </a:xfrm>
          <a:prstGeom prst="rect">
            <a:avLst/>
          </a:prstGeom>
          <a:noFill/>
          <a:ln>
            <a:noFill/>
          </a:ln>
        </p:spPr>
      </p:pic>
      <p:sp>
        <p:nvSpPr>
          <p:cNvPr id="132" name="Google Shape;132;p4"/>
          <p:cNvSpPr/>
          <p:nvPr/>
        </p:nvSpPr>
        <p:spPr>
          <a:xfrm>
            <a:off x="6144768" y="5047488"/>
            <a:ext cx="5495544" cy="1280160"/>
          </a:xfrm>
          <a:prstGeom prst="roundRect">
            <a:avLst>
              <a:gd fmla="val 5000" name="adj"/>
            </a:avLst>
          </a:prstGeom>
          <a:solidFill>
            <a:srgbClr val="0F2E38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3" name="Google Shape;133;p4"/>
          <p:cNvSpPr/>
          <p:nvPr/>
        </p:nvSpPr>
        <p:spPr>
          <a:xfrm>
            <a:off x="6364224" y="5376672"/>
            <a:ext cx="621792" cy="621792"/>
          </a:xfrm>
          <a:prstGeom prst="ellipse">
            <a:avLst/>
          </a:prstGeom>
          <a:solidFill>
            <a:srgbClr val="1B7E91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134" name="Google Shape;134;p4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6525890" y="5538338"/>
            <a:ext cx="298460" cy="298460"/>
          </a:xfrm>
          <a:prstGeom prst="rect">
            <a:avLst/>
          </a:prstGeom>
          <a:noFill/>
          <a:ln>
            <a:noFill/>
          </a:ln>
        </p:spPr>
      </p:pic>
      <p:sp>
        <p:nvSpPr>
          <p:cNvPr id="135" name="Google Shape;135;p4"/>
          <p:cNvSpPr/>
          <p:nvPr/>
        </p:nvSpPr>
        <p:spPr>
          <a:xfrm>
            <a:off x="7150608" y="5175504"/>
            <a:ext cx="27432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AAE4A"/>
              </a:buClr>
              <a:buSzPts val="900"/>
              <a:buFont typeface="Calibri"/>
              <a:buNone/>
            </a:pPr>
            <a:r>
              <a:rPr b="1" lang="en-US" sz="900">
                <a:solidFill>
                  <a:srgbClr val="5AAE4A"/>
                </a:solidFill>
                <a:latin typeface="Calibri"/>
                <a:ea typeface="Calibri"/>
                <a:cs typeface="Calibri"/>
                <a:sym typeface="Calibri"/>
              </a:rPr>
              <a:t>LØSNING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6" name="Google Shape;136;p4"/>
          <p:cNvSpPr/>
          <p:nvPr/>
        </p:nvSpPr>
        <p:spPr>
          <a:xfrm>
            <a:off x="7150608" y="5376672"/>
            <a:ext cx="429768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50"/>
              <a:buFont typeface="Georgia"/>
              <a:buNone/>
            </a:pPr>
            <a:r>
              <a:rPr b="1" lang="en-US" sz="1450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Tydelig vurdering</a:t>
            </a:r>
            <a:endParaRPr sz="14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7" name="Google Shape;137;p4"/>
          <p:cNvSpPr/>
          <p:nvPr/>
        </p:nvSpPr>
        <p:spPr>
          <a:xfrm>
            <a:off x="7150608" y="5724144"/>
            <a:ext cx="43434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E9F2F3"/>
              </a:buClr>
              <a:buSzPts val="1050"/>
              <a:buFont typeface="Calibri"/>
              <a:buNone/>
            </a:pPr>
            <a:r>
              <a:rPr lang="en-US" sz="1050">
                <a:solidFill>
                  <a:srgbClr val="E9F2F3"/>
                </a:solidFill>
                <a:latin typeface="Calibri"/>
                <a:ea typeface="Calibri"/>
                <a:cs typeface="Calibri"/>
                <a:sym typeface="Calibri"/>
              </a:rPr>
              <a:t>Klart svar på søknadsplikt med oppsummering.</a:t>
            </a:r>
            <a:endParaRPr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42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p5"/>
          <p:cNvSpPr/>
          <p:nvPr/>
        </p:nvSpPr>
        <p:spPr>
          <a:xfrm>
            <a:off x="548640" y="475488"/>
            <a:ext cx="420624" cy="420624"/>
          </a:xfrm>
          <a:prstGeom prst="ellipse">
            <a:avLst/>
          </a:prstGeom>
          <a:solidFill>
            <a:srgbClr val="1B7E91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4" name="Google Shape;144;p5"/>
          <p:cNvSpPr/>
          <p:nvPr/>
        </p:nvSpPr>
        <p:spPr>
          <a:xfrm>
            <a:off x="548640" y="475488"/>
            <a:ext cx="420624" cy="42062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b="1" lang="en-US" sz="12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05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5" name="Google Shape;145;p5"/>
          <p:cNvSpPr/>
          <p:nvPr/>
        </p:nvSpPr>
        <p:spPr>
          <a:xfrm>
            <a:off x="1115568" y="475488"/>
            <a:ext cx="10058400" cy="42062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7E91"/>
              </a:buClr>
              <a:buSzPts val="1200"/>
              <a:buFont typeface="Calibri"/>
              <a:buNone/>
            </a:pPr>
            <a:r>
              <a:rPr b="1" lang="en-US" sz="1200">
                <a:solidFill>
                  <a:srgbClr val="1B7E91"/>
                </a:solidFill>
                <a:latin typeface="Calibri"/>
                <a:ea typeface="Calibri"/>
                <a:cs typeface="Calibri"/>
                <a:sym typeface="Calibri"/>
              </a:rPr>
              <a:t>LØSNINGEN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6" name="Google Shape;146;p5"/>
          <p:cNvSpPr/>
          <p:nvPr/>
        </p:nvSpPr>
        <p:spPr>
          <a:xfrm>
            <a:off x="530352" y="914400"/>
            <a:ext cx="11064240" cy="868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2E38"/>
              </a:buClr>
              <a:buSzPts val="3100"/>
              <a:buFont typeface="Georgia"/>
              <a:buNone/>
            </a:pPr>
            <a:r>
              <a:rPr b="1" lang="en-US" sz="3100">
                <a:solidFill>
                  <a:srgbClr val="0F2E38"/>
                </a:solidFill>
                <a:latin typeface="Georgia"/>
                <a:ea typeface="Georgia"/>
                <a:cs typeface="Georgia"/>
                <a:sym typeface="Georgia"/>
              </a:rPr>
              <a:t>TiltaksAID                                     </a:t>
            </a:r>
            <a:r>
              <a:rPr lang="en-US" sz="2700" u="sng">
                <a:solidFill>
                  <a:schemeClr val="hlink"/>
                </a:solidFill>
                <a:hlinkClick r:id="rId3"/>
              </a:rPr>
              <a:t>http://dibkveiviser.geokrs.no/</a:t>
            </a:r>
            <a:endParaRPr sz="47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7" name="Google Shape;147;p5"/>
          <p:cNvSpPr/>
          <p:nvPr/>
        </p:nvSpPr>
        <p:spPr>
          <a:xfrm>
            <a:off x="548640" y="6400800"/>
            <a:ext cx="3657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C6E75"/>
              </a:buClr>
              <a:buSzPts val="900"/>
              <a:buFont typeface="Calibri"/>
              <a:buNone/>
            </a:pPr>
            <a:r>
              <a:rPr b="1" lang="en-US" sz="900">
                <a:solidFill>
                  <a:srgbClr val="5C6E75"/>
                </a:solidFill>
                <a:latin typeface="Calibri"/>
                <a:ea typeface="Calibri"/>
                <a:cs typeface="Calibri"/>
                <a:sym typeface="Calibri"/>
              </a:rPr>
              <a:t>TiltaksAID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8" name="Google Shape;148;p5"/>
          <p:cNvSpPr/>
          <p:nvPr/>
        </p:nvSpPr>
        <p:spPr>
          <a:xfrm>
            <a:off x="3657600" y="6400800"/>
            <a:ext cx="5943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5C6E75"/>
              </a:buClr>
              <a:buSzPts val="900"/>
              <a:buFont typeface="Calibri"/>
              <a:buNone/>
            </a:pPr>
            <a:r>
              <a:rPr lang="en-US" sz="900">
                <a:solidFill>
                  <a:srgbClr val="5C6E75"/>
                </a:solidFill>
                <a:latin typeface="Calibri"/>
                <a:ea typeface="Calibri"/>
                <a:cs typeface="Calibri"/>
                <a:sym typeface="Calibri"/>
              </a:rPr>
              <a:t>Løsningsoversikt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9" name="Google Shape;149;p5"/>
          <p:cNvSpPr/>
          <p:nvPr/>
        </p:nvSpPr>
        <p:spPr>
          <a:xfrm>
            <a:off x="10058400" y="6400800"/>
            <a:ext cx="1581912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5C6E75"/>
              </a:buClr>
              <a:buSzPts val="900"/>
              <a:buFont typeface="Calibri"/>
              <a:buNone/>
            </a:pPr>
            <a:r>
              <a:rPr lang="en-US" sz="900">
                <a:solidFill>
                  <a:srgbClr val="5C6E75"/>
                </a:solidFill>
                <a:latin typeface="Calibri"/>
                <a:ea typeface="Calibri"/>
                <a:cs typeface="Calibri"/>
                <a:sym typeface="Calibri"/>
              </a:rPr>
              <a:t>05 / 14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0" name="Google Shape;150;p5"/>
          <p:cNvSpPr/>
          <p:nvPr/>
        </p:nvSpPr>
        <p:spPr>
          <a:xfrm>
            <a:off x="5897880" y="2057400"/>
            <a:ext cx="5833872" cy="3154819"/>
          </a:xfrm>
          <a:prstGeom prst="roundRect">
            <a:avLst>
              <a:gd fmla="val 1739" name="adj"/>
            </a:avLst>
          </a:prstGeom>
          <a:solidFill>
            <a:srgbClr val="FFFFFF"/>
          </a:solidFill>
          <a:ln cap="flat" cmpd="sng" w="12700">
            <a:solidFill>
              <a:srgbClr val="D7E3E5"/>
            </a:solidFill>
            <a:prstDash val="solid"/>
            <a:round/>
            <a:headEnd len="sm" w="sm" type="none"/>
            <a:tailEnd len="sm" w="sm" type="none"/>
          </a:ln>
          <a:effectLst>
            <a:outerShdw blurRad="88900" rotWithShape="0" algn="bl" dir="8100000" dist="38100">
              <a:srgbClr val="0F2E38">
                <a:alpha val="12941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shot_map.png" id="151" name="Google Shape;151;p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989320" y="2148840"/>
            <a:ext cx="5650992" cy="2971939"/>
          </a:xfrm>
          <a:prstGeom prst="rect">
            <a:avLst/>
          </a:prstGeom>
          <a:noFill/>
          <a:ln>
            <a:noFill/>
          </a:ln>
        </p:spPr>
      </p:pic>
      <p:sp>
        <p:nvSpPr>
          <p:cNvPr id="152" name="Google Shape;152;p5"/>
          <p:cNvSpPr/>
          <p:nvPr/>
        </p:nvSpPr>
        <p:spPr>
          <a:xfrm>
            <a:off x="5989320" y="5230507"/>
            <a:ext cx="5650992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5C6E75"/>
              </a:buClr>
              <a:buSzPts val="1000"/>
              <a:buFont typeface="Calibri"/>
              <a:buNone/>
            </a:pPr>
            <a:r>
              <a:rPr i="1" lang="en-US" sz="1000">
                <a:solidFill>
                  <a:srgbClr val="5C6E75"/>
                </a:solidFill>
                <a:latin typeface="Calibri"/>
                <a:ea typeface="Calibri"/>
                <a:cs typeface="Calibri"/>
                <a:sym typeface="Calibri"/>
              </a:rPr>
              <a:t>Kart, tegnet tiltak og automatisk besvart spørsmål i én flate.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3" name="Google Shape;153;p5"/>
          <p:cNvSpPr/>
          <p:nvPr/>
        </p:nvSpPr>
        <p:spPr>
          <a:xfrm>
            <a:off x="548640" y="1783080"/>
            <a:ext cx="5166360" cy="868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Clr>
                <a:srgbClr val="1E2A2E"/>
              </a:buClr>
              <a:buSzPts val="1300"/>
              <a:buFont typeface="Calibri"/>
              <a:buNone/>
            </a:pPr>
            <a:r>
              <a:rPr lang="en-US" sz="1300">
                <a:solidFill>
                  <a:srgbClr val="1E2A2E"/>
                </a:solidFill>
                <a:latin typeface="Calibri"/>
                <a:ea typeface="Calibri"/>
                <a:cs typeface="Calibri"/>
                <a:sym typeface="Calibri"/>
              </a:rPr>
              <a:t>TiltaksAID erstatter den tekstbaserte veiviseren med en interaktiv kart-basert veiviser. Brukeren tegner tiltaket sitt, og systemet svarer på spørsmål automatisk..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4" name="Google Shape;154;p5"/>
          <p:cNvSpPr/>
          <p:nvPr/>
        </p:nvSpPr>
        <p:spPr>
          <a:xfrm>
            <a:off x="548640" y="2788920"/>
            <a:ext cx="5166360" cy="841248"/>
          </a:xfrm>
          <a:prstGeom prst="roundRect">
            <a:avLst>
              <a:gd fmla="val 7609" name="adj"/>
            </a:avLst>
          </a:prstGeom>
          <a:solidFill>
            <a:srgbClr val="F4F8F9"/>
          </a:solidFill>
          <a:ln cap="flat" cmpd="sng" w="12700">
            <a:solidFill>
              <a:srgbClr val="D7E3E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5" name="Google Shape;155;p5"/>
          <p:cNvSpPr/>
          <p:nvPr/>
        </p:nvSpPr>
        <p:spPr>
          <a:xfrm>
            <a:off x="713232" y="3017520"/>
            <a:ext cx="384048" cy="384048"/>
          </a:xfrm>
          <a:prstGeom prst="ellipse">
            <a:avLst/>
          </a:prstGeom>
          <a:solidFill>
            <a:srgbClr val="1B7E91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6" name="Google Shape;156;p5"/>
          <p:cNvSpPr/>
          <p:nvPr/>
        </p:nvSpPr>
        <p:spPr>
          <a:xfrm>
            <a:off x="713232" y="3017520"/>
            <a:ext cx="384048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b="1" lang="en-US" sz="13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157" name="Google Shape;157;p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298448" y="3017520"/>
            <a:ext cx="384048" cy="384048"/>
          </a:xfrm>
          <a:prstGeom prst="rect">
            <a:avLst/>
          </a:prstGeom>
          <a:noFill/>
          <a:ln>
            <a:noFill/>
          </a:ln>
        </p:spPr>
      </p:pic>
      <p:sp>
        <p:nvSpPr>
          <p:cNvPr id="158" name="Google Shape;158;p5"/>
          <p:cNvSpPr/>
          <p:nvPr/>
        </p:nvSpPr>
        <p:spPr>
          <a:xfrm>
            <a:off x="1828800" y="2898648"/>
            <a:ext cx="3749040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2E38"/>
              </a:buClr>
              <a:buSzPts val="1400"/>
              <a:buFont typeface="Georgia"/>
              <a:buNone/>
            </a:pPr>
            <a:r>
              <a:rPr b="1" lang="en-US" sz="1400">
                <a:solidFill>
                  <a:srgbClr val="0F2E38"/>
                </a:solidFill>
                <a:latin typeface="Georgia"/>
                <a:ea typeface="Georgia"/>
                <a:cs typeface="Georgia"/>
                <a:sym typeface="Georgia"/>
              </a:rPr>
              <a:t>Søk opp eiendom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9" name="Google Shape;159;p5"/>
          <p:cNvSpPr/>
          <p:nvPr/>
        </p:nvSpPr>
        <p:spPr>
          <a:xfrm>
            <a:off x="1828800" y="3200400"/>
            <a:ext cx="379476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A2E"/>
              </a:buClr>
              <a:buSzPts val="1050"/>
              <a:buFont typeface="Calibri"/>
              <a:buNone/>
            </a:pPr>
            <a:r>
              <a:rPr lang="en-US" sz="1050">
                <a:solidFill>
                  <a:srgbClr val="1E2A2E"/>
                </a:solidFill>
                <a:latin typeface="Calibri"/>
                <a:ea typeface="Calibri"/>
                <a:cs typeface="Calibri"/>
                <a:sym typeface="Calibri"/>
              </a:rPr>
              <a:t>Brukeren finner sin egen eiendom på kartet.</a:t>
            </a:r>
            <a:endParaRPr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0" name="Google Shape;160;p5"/>
          <p:cNvSpPr/>
          <p:nvPr/>
        </p:nvSpPr>
        <p:spPr>
          <a:xfrm>
            <a:off x="548640" y="3685032"/>
            <a:ext cx="5166360" cy="841248"/>
          </a:xfrm>
          <a:prstGeom prst="roundRect">
            <a:avLst>
              <a:gd fmla="val 7609" name="adj"/>
            </a:avLst>
          </a:prstGeom>
          <a:solidFill>
            <a:srgbClr val="F4F8F9"/>
          </a:solidFill>
          <a:ln cap="flat" cmpd="sng" w="12700">
            <a:solidFill>
              <a:srgbClr val="D7E3E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1" name="Google Shape;161;p5"/>
          <p:cNvSpPr/>
          <p:nvPr/>
        </p:nvSpPr>
        <p:spPr>
          <a:xfrm>
            <a:off x="713232" y="3913632"/>
            <a:ext cx="384048" cy="384048"/>
          </a:xfrm>
          <a:prstGeom prst="ellipse">
            <a:avLst/>
          </a:prstGeom>
          <a:solidFill>
            <a:srgbClr val="1B7E91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2" name="Google Shape;162;p5"/>
          <p:cNvSpPr/>
          <p:nvPr/>
        </p:nvSpPr>
        <p:spPr>
          <a:xfrm>
            <a:off x="713232" y="3913632"/>
            <a:ext cx="384048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b="1" lang="en-US" sz="13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163" name="Google Shape;163;p5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1298448" y="3913632"/>
            <a:ext cx="384048" cy="384048"/>
          </a:xfrm>
          <a:prstGeom prst="rect">
            <a:avLst/>
          </a:prstGeom>
          <a:noFill/>
          <a:ln>
            <a:noFill/>
          </a:ln>
        </p:spPr>
      </p:pic>
      <p:sp>
        <p:nvSpPr>
          <p:cNvPr id="164" name="Google Shape;164;p5"/>
          <p:cNvSpPr/>
          <p:nvPr/>
        </p:nvSpPr>
        <p:spPr>
          <a:xfrm>
            <a:off x="1828800" y="3794760"/>
            <a:ext cx="3749040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2E38"/>
              </a:buClr>
              <a:buSzPts val="1400"/>
              <a:buFont typeface="Georgia"/>
              <a:buNone/>
            </a:pPr>
            <a:r>
              <a:rPr b="1" lang="en-US" sz="1400">
                <a:solidFill>
                  <a:srgbClr val="0F2E38"/>
                </a:solidFill>
                <a:latin typeface="Georgia"/>
                <a:ea typeface="Georgia"/>
                <a:cs typeface="Georgia"/>
                <a:sym typeface="Georgia"/>
              </a:rPr>
              <a:t>Tegn tiltaket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5" name="Google Shape;165;p5"/>
          <p:cNvSpPr/>
          <p:nvPr/>
        </p:nvSpPr>
        <p:spPr>
          <a:xfrm>
            <a:off x="1828800" y="4096512"/>
            <a:ext cx="379476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A2E"/>
              </a:buClr>
              <a:buSzPts val="1050"/>
              <a:buFont typeface="Calibri"/>
              <a:buNone/>
            </a:pPr>
            <a:r>
              <a:rPr lang="en-US" sz="1050">
                <a:solidFill>
                  <a:srgbClr val="1E2A2E"/>
                </a:solidFill>
                <a:latin typeface="Calibri"/>
                <a:ea typeface="Calibri"/>
                <a:cs typeface="Calibri"/>
                <a:sym typeface="Calibri"/>
              </a:rPr>
              <a:t>Plassering og størrelse markeres direkte.</a:t>
            </a:r>
            <a:endParaRPr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6" name="Google Shape;166;p5"/>
          <p:cNvSpPr/>
          <p:nvPr/>
        </p:nvSpPr>
        <p:spPr>
          <a:xfrm>
            <a:off x="548640" y="4581144"/>
            <a:ext cx="5166360" cy="841248"/>
          </a:xfrm>
          <a:prstGeom prst="roundRect">
            <a:avLst>
              <a:gd fmla="val 7609" name="adj"/>
            </a:avLst>
          </a:prstGeom>
          <a:solidFill>
            <a:srgbClr val="F4F8F9"/>
          </a:solidFill>
          <a:ln cap="flat" cmpd="sng" w="12700">
            <a:solidFill>
              <a:srgbClr val="D7E3E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7" name="Google Shape;167;p5"/>
          <p:cNvSpPr/>
          <p:nvPr/>
        </p:nvSpPr>
        <p:spPr>
          <a:xfrm>
            <a:off x="713232" y="4809744"/>
            <a:ext cx="384048" cy="384048"/>
          </a:xfrm>
          <a:prstGeom prst="ellipse">
            <a:avLst/>
          </a:prstGeom>
          <a:solidFill>
            <a:srgbClr val="1B7E91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8" name="Google Shape;168;p5"/>
          <p:cNvSpPr/>
          <p:nvPr/>
        </p:nvSpPr>
        <p:spPr>
          <a:xfrm>
            <a:off x="713232" y="4809744"/>
            <a:ext cx="384048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b="1" lang="en-US" sz="13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169" name="Google Shape;169;p5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1298448" y="4809744"/>
            <a:ext cx="384048" cy="384048"/>
          </a:xfrm>
          <a:prstGeom prst="rect">
            <a:avLst/>
          </a:prstGeom>
          <a:noFill/>
          <a:ln>
            <a:noFill/>
          </a:ln>
        </p:spPr>
      </p:pic>
      <p:sp>
        <p:nvSpPr>
          <p:cNvPr id="170" name="Google Shape;170;p5"/>
          <p:cNvSpPr/>
          <p:nvPr/>
        </p:nvSpPr>
        <p:spPr>
          <a:xfrm>
            <a:off x="1828800" y="4690872"/>
            <a:ext cx="3749040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2E38"/>
              </a:buClr>
              <a:buSzPts val="1400"/>
              <a:buFont typeface="Georgia"/>
              <a:buNone/>
            </a:pPr>
            <a:r>
              <a:rPr b="1" lang="en-US" sz="1400">
                <a:solidFill>
                  <a:srgbClr val="0F2E38"/>
                </a:solidFill>
                <a:latin typeface="Georgia"/>
                <a:ea typeface="Georgia"/>
                <a:cs typeface="Georgia"/>
                <a:sym typeface="Georgia"/>
              </a:rPr>
              <a:t>Automatisk vurdering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1" name="Google Shape;171;p5"/>
          <p:cNvSpPr/>
          <p:nvPr/>
        </p:nvSpPr>
        <p:spPr>
          <a:xfrm>
            <a:off x="1828800" y="4992624"/>
            <a:ext cx="379476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A2E"/>
              </a:buClr>
              <a:buSzPts val="1050"/>
              <a:buFont typeface="Calibri"/>
              <a:buNone/>
            </a:pPr>
            <a:r>
              <a:rPr lang="en-US" sz="1050">
                <a:solidFill>
                  <a:srgbClr val="1E2A2E"/>
                </a:solidFill>
                <a:latin typeface="Calibri"/>
                <a:ea typeface="Calibri"/>
                <a:cs typeface="Calibri"/>
                <a:sym typeface="Calibri"/>
              </a:rPr>
              <a:t>Systemet henter kartdata og svarer på spørsmålene.</a:t>
            </a:r>
            <a:endParaRPr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2" name="Google Shape;172;p5"/>
          <p:cNvSpPr/>
          <p:nvPr/>
        </p:nvSpPr>
        <p:spPr>
          <a:xfrm>
            <a:off x="548640" y="5477256"/>
            <a:ext cx="5166360" cy="841248"/>
          </a:xfrm>
          <a:prstGeom prst="roundRect">
            <a:avLst>
              <a:gd fmla="val 7609" name="adj"/>
            </a:avLst>
          </a:prstGeom>
          <a:solidFill>
            <a:srgbClr val="F4F8F9"/>
          </a:solidFill>
          <a:ln cap="flat" cmpd="sng" w="12700">
            <a:solidFill>
              <a:srgbClr val="D7E3E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3" name="Google Shape;173;p5"/>
          <p:cNvSpPr/>
          <p:nvPr/>
        </p:nvSpPr>
        <p:spPr>
          <a:xfrm>
            <a:off x="713232" y="5705856"/>
            <a:ext cx="384048" cy="384048"/>
          </a:xfrm>
          <a:prstGeom prst="ellipse">
            <a:avLst/>
          </a:prstGeom>
          <a:solidFill>
            <a:srgbClr val="1B7E91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4" name="Google Shape;174;p5"/>
          <p:cNvSpPr/>
          <p:nvPr/>
        </p:nvSpPr>
        <p:spPr>
          <a:xfrm>
            <a:off x="713232" y="5705856"/>
            <a:ext cx="384048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b="1" lang="en-US" sz="13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175" name="Google Shape;175;p5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1298448" y="5705856"/>
            <a:ext cx="384048" cy="384048"/>
          </a:xfrm>
          <a:prstGeom prst="rect">
            <a:avLst/>
          </a:prstGeom>
          <a:noFill/>
          <a:ln>
            <a:noFill/>
          </a:ln>
        </p:spPr>
      </p:pic>
      <p:sp>
        <p:nvSpPr>
          <p:cNvPr id="176" name="Google Shape;176;p5"/>
          <p:cNvSpPr/>
          <p:nvPr/>
        </p:nvSpPr>
        <p:spPr>
          <a:xfrm>
            <a:off x="1828800" y="5586984"/>
            <a:ext cx="3749040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2E38"/>
              </a:buClr>
              <a:buSzPts val="1400"/>
              <a:buFont typeface="Georgia"/>
              <a:buNone/>
            </a:pPr>
            <a:r>
              <a:rPr b="1" lang="en-US" sz="1400">
                <a:solidFill>
                  <a:srgbClr val="0F2E38"/>
                </a:solidFill>
                <a:latin typeface="Georgia"/>
                <a:ea typeface="Georgia"/>
                <a:cs typeface="Georgia"/>
                <a:sym typeface="Georgia"/>
              </a:rPr>
              <a:t>Oppsummering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7" name="Google Shape;177;p5"/>
          <p:cNvSpPr/>
          <p:nvPr/>
        </p:nvSpPr>
        <p:spPr>
          <a:xfrm>
            <a:off x="1828800" y="5888736"/>
            <a:ext cx="379476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A2E"/>
              </a:buClr>
              <a:buSzPts val="1050"/>
              <a:buFont typeface="Calibri"/>
              <a:buNone/>
            </a:pPr>
            <a:r>
              <a:rPr lang="en-US" sz="1050">
                <a:solidFill>
                  <a:srgbClr val="1E2A2E"/>
                </a:solidFill>
                <a:latin typeface="Calibri"/>
                <a:ea typeface="Calibri"/>
                <a:cs typeface="Calibri"/>
                <a:sym typeface="Calibri"/>
              </a:rPr>
              <a:t>Vurdering mot nasjonale regler kan lastes ned.</a:t>
            </a:r>
            <a:endParaRPr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82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Google Shape;183;p7"/>
          <p:cNvSpPr/>
          <p:nvPr/>
        </p:nvSpPr>
        <p:spPr>
          <a:xfrm>
            <a:off x="548640" y="475488"/>
            <a:ext cx="420624" cy="420624"/>
          </a:xfrm>
          <a:prstGeom prst="ellipse">
            <a:avLst/>
          </a:prstGeom>
          <a:solidFill>
            <a:srgbClr val="1B7E91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4" name="Google Shape;184;p7"/>
          <p:cNvSpPr/>
          <p:nvPr/>
        </p:nvSpPr>
        <p:spPr>
          <a:xfrm>
            <a:off x="548640" y="475488"/>
            <a:ext cx="420600" cy="420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b="1" lang="en-US" sz="12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07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5" name="Google Shape;185;p7"/>
          <p:cNvSpPr/>
          <p:nvPr/>
        </p:nvSpPr>
        <p:spPr>
          <a:xfrm>
            <a:off x="1115568" y="475488"/>
            <a:ext cx="10058400" cy="42062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7E91"/>
              </a:buClr>
              <a:buSzPts val="1200"/>
              <a:buFont typeface="Calibri"/>
              <a:buNone/>
            </a:pPr>
            <a:r>
              <a:rPr b="1" lang="en-US" sz="1200">
                <a:solidFill>
                  <a:srgbClr val="1B7E91"/>
                </a:solidFill>
                <a:latin typeface="Calibri"/>
                <a:ea typeface="Calibri"/>
                <a:cs typeface="Calibri"/>
                <a:sym typeface="Calibri"/>
              </a:rPr>
              <a:t>ARKITEKTUR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6" name="Google Shape;186;p7"/>
          <p:cNvSpPr/>
          <p:nvPr/>
        </p:nvSpPr>
        <p:spPr>
          <a:xfrm>
            <a:off x="530352" y="914400"/>
            <a:ext cx="11064240" cy="868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2E38"/>
              </a:buClr>
              <a:buSzPts val="3100"/>
              <a:buFont typeface="Georgia"/>
              <a:buNone/>
            </a:pPr>
            <a:r>
              <a:rPr b="1" lang="en-US" sz="3100">
                <a:solidFill>
                  <a:srgbClr val="0F2E38"/>
                </a:solidFill>
                <a:latin typeface="Georgia"/>
                <a:ea typeface="Georgia"/>
                <a:cs typeface="Georgia"/>
                <a:sym typeface="Georgia"/>
              </a:rPr>
              <a:t>Lagdelt modulær arkitektur</a:t>
            </a:r>
            <a:endParaRPr sz="3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7" name="Google Shape;187;p7"/>
          <p:cNvSpPr/>
          <p:nvPr/>
        </p:nvSpPr>
        <p:spPr>
          <a:xfrm>
            <a:off x="548640" y="6400800"/>
            <a:ext cx="3657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C6E75"/>
              </a:buClr>
              <a:buSzPts val="900"/>
              <a:buFont typeface="Calibri"/>
              <a:buNone/>
            </a:pPr>
            <a:r>
              <a:rPr b="1" lang="en-US" sz="900">
                <a:solidFill>
                  <a:srgbClr val="5C6E75"/>
                </a:solidFill>
                <a:latin typeface="Calibri"/>
                <a:ea typeface="Calibri"/>
                <a:cs typeface="Calibri"/>
                <a:sym typeface="Calibri"/>
              </a:rPr>
              <a:t>TiltaksAID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8" name="Google Shape;188;p7"/>
          <p:cNvSpPr/>
          <p:nvPr/>
        </p:nvSpPr>
        <p:spPr>
          <a:xfrm>
            <a:off x="3657600" y="6400800"/>
            <a:ext cx="5943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5C6E75"/>
              </a:buClr>
              <a:buSzPts val="900"/>
              <a:buFont typeface="Calibri"/>
              <a:buNone/>
            </a:pPr>
            <a:r>
              <a:rPr lang="en-US" sz="900">
                <a:solidFill>
                  <a:srgbClr val="5C6E75"/>
                </a:solidFill>
                <a:latin typeface="Calibri"/>
                <a:ea typeface="Calibri"/>
                <a:cs typeface="Calibri"/>
                <a:sym typeface="Calibri"/>
              </a:rPr>
              <a:t>Arkitektur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9" name="Google Shape;189;p7"/>
          <p:cNvSpPr/>
          <p:nvPr/>
        </p:nvSpPr>
        <p:spPr>
          <a:xfrm>
            <a:off x="10058400" y="6400800"/>
            <a:ext cx="1581912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5C6E75"/>
              </a:buClr>
              <a:buSzPts val="900"/>
              <a:buFont typeface="Calibri"/>
              <a:buNone/>
            </a:pPr>
            <a:r>
              <a:rPr lang="en-US" sz="900">
                <a:solidFill>
                  <a:srgbClr val="5C6E75"/>
                </a:solidFill>
                <a:latin typeface="Calibri"/>
                <a:ea typeface="Calibri"/>
                <a:cs typeface="Calibri"/>
                <a:sym typeface="Calibri"/>
              </a:rPr>
              <a:t>07 / 14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0" name="Google Shape;190;p7"/>
          <p:cNvSpPr/>
          <p:nvPr/>
        </p:nvSpPr>
        <p:spPr>
          <a:xfrm>
            <a:off x="548640" y="1627632"/>
            <a:ext cx="1051560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C6E75"/>
              </a:buClr>
              <a:buSzPts val="1400"/>
              <a:buFont typeface="Calibri"/>
              <a:buNone/>
            </a:pPr>
            <a:r>
              <a:rPr i="1" lang="en-US" sz="1400">
                <a:solidFill>
                  <a:srgbClr val="5C6E75"/>
                </a:solidFill>
                <a:latin typeface="Calibri"/>
                <a:ea typeface="Calibri"/>
                <a:cs typeface="Calibri"/>
                <a:sym typeface="Calibri"/>
              </a:rPr>
              <a:t>Bygd som et MVP, men strukturert i lag slik at andre kommuner kan tilpasse og gjenbruke løsningen.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1" name="Google Shape;191;p7"/>
          <p:cNvSpPr/>
          <p:nvPr/>
        </p:nvSpPr>
        <p:spPr>
          <a:xfrm>
            <a:off x="548640" y="2194560"/>
            <a:ext cx="7315200" cy="877824"/>
          </a:xfrm>
          <a:prstGeom prst="roundRect">
            <a:avLst>
              <a:gd fmla="val 7292" name="adj"/>
            </a:avLst>
          </a:prstGeom>
          <a:solidFill>
            <a:srgbClr val="0F2E38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2" name="Google Shape;192;p7"/>
          <p:cNvSpPr/>
          <p:nvPr/>
        </p:nvSpPr>
        <p:spPr>
          <a:xfrm>
            <a:off x="749808" y="2359152"/>
            <a:ext cx="548640" cy="548640"/>
          </a:xfrm>
          <a:prstGeom prst="ellipse">
            <a:avLst/>
          </a:prstGeom>
          <a:solidFill>
            <a:srgbClr val="1B7E91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193" name="Google Shape;193;p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92454" y="2501798"/>
            <a:ext cx="263347" cy="263347"/>
          </a:xfrm>
          <a:prstGeom prst="rect">
            <a:avLst/>
          </a:prstGeom>
          <a:noFill/>
          <a:ln>
            <a:noFill/>
          </a:ln>
        </p:spPr>
      </p:pic>
      <p:sp>
        <p:nvSpPr>
          <p:cNvPr id="194" name="Google Shape;194;p7"/>
          <p:cNvSpPr/>
          <p:nvPr/>
        </p:nvSpPr>
        <p:spPr>
          <a:xfrm>
            <a:off x="1463040" y="2313432"/>
            <a:ext cx="274320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50"/>
              <a:buFont typeface="Georgia"/>
              <a:buNone/>
            </a:pPr>
            <a:r>
              <a:rPr b="1" lang="en-US" sz="1550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Enhetslag</a:t>
            </a:r>
            <a:endParaRPr sz="15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5" name="Google Shape;195;p7"/>
          <p:cNvSpPr/>
          <p:nvPr/>
        </p:nvSpPr>
        <p:spPr>
          <a:xfrm>
            <a:off x="1463040" y="2633472"/>
            <a:ext cx="402336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9F2F3"/>
              </a:buClr>
              <a:buSzPts val="1050"/>
              <a:buFont typeface="Calibri"/>
              <a:buNone/>
            </a:pPr>
            <a:r>
              <a:rPr lang="en-US" sz="1050">
                <a:solidFill>
                  <a:srgbClr val="E9F2F3"/>
                </a:solidFill>
                <a:latin typeface="Calibri"/>
                <a:ea typeface="Calibri"/>
                <a:cs typeface="Calibri"/>
                <a:sym typeface="Calibri"/>
              </a:rPr>
              <a:t>Nettleser på PC – plattformuavhengig flate</a:t>
            </a:r>
            <a:endParaRPr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6" name="Google Shape;196;p7"/>
          <p:cNvSpPr/>
          <p:nvPr/>
        </p:nvSpPr>
        <p:spPr>
          <a:xfrm>
            <a:off x="5486400" y="2194560"/>
            <a:ext cx="2286000" cy="87782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5AAE4A"/>
              </a:buClr>
              <a:buSzPts val="1100"/>
              <a:buFont typeface="Calibri"/>
              <a:buNone/>
            </a:pPr>
            <a:r>
              <a:rPr b="1" lang="en-US" sz="1100">
                <a:solidFill>
                  <a:srgbClr val="5AAE4A"/>
                </a:solidFill>
                <a:latin typeface="Calibri"/>
                <a:ea typeface="Calibri"/>
                <a:cs typeface="Calibri"/>
                <a:sym typeface="Calibri"/>
              </a:rPr>
              <a:t>Web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7" name="Google Shape;197;p7"/>
          <p:cNvSpPr/>
          <p:nvPr/>
        </p:nvSpPr>
        <p:spPr>
          <a:xfrm>
            <a:off x="548640" y="3200400"/>
            <a:ext cx="7315200" cy="877824"/>
          </a:xfrm>
          <a:prstGeom prst="roundRect">
            <a:avLst>
              <a:gd fmla="val 7292" name="adj"/>
            </a:avLst>
          </a:prstGeom>
          <a:solidFill>
            <a:srgbClr val="1B7E91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8" name="Google Shape;198;p7"/>
          <p:cNvSpPr/>
          <p:nvPr/>
        </p:nvSpPr>
        <p:spPr>
          <a:xfrm>
            <a:off x="749808" y="3364992"/>
            <a:ext cx="548640" cy="548640"/>
          </a:xfrm>
          <a:prstGeom prst="ellipse">
            <a:avLst/>
          </a:prstGeom>
          <a:solidFill>
            <a:srgbClr val="0F2E38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199" name="Google Shape;199;p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92454" y="3507638"/>
            <a:ext cx="263347" cy="263347"/>
          </a:xfrm>
          <a:prstGeom prst="rect">
            <a:avLst/>
          </a:prstGeom>
          <a:noFill/>
          <a:ln>
            <a:noFill/>
          </a:ln>
        </p:spPr>
      </p:pic>
      <p:sp>
        <p:nvSpPr>
          <p:cNvPr id="200" name="Google Shape;200;p7"/>
          <p:cNvSpPr/>
          <p:nvPr/>
        </p:nvSpPr>
        <p:spPr>
          <a:xfrm>
            <a:off x="1463040" y="3319272"/>
            <a:ext cx="274320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50"/>
              <a:buFont typeface="Georgia"/>
              <a:buNone/>
            </a:pPr>
            <a:r>
              <a:rPr b="1" lang="en-US" sz="1550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Nettverkslag</a:t>
            </a:r>
            <a:endParaRPr sz="15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1" name="Google Shape;201;p7"/>
          <p:cNvSpPr/>
          <p:nvPr/>
        </p:nvSpPr>
        <p:spPr>
          <a:xfrm>
            <a:off x="1463040" y="3639312"/>
            <a:ext cx="402336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9F2F3"/>
              </a:buClr>
              <a:buSzPts val="1050"/>
              <a:buFont typeface="Calibri"/>
              <a:buNone/>
            </a:pPr>
            <a:r>
              <a:rPr lang="en-US" sz="1050">
                <a:solidFill>
                  <a:srgbClr val="E9F2F3"/>
                </a:solidFill>
                <a:latin typeface="Calibri"/>
                <a:ea typeface="Calibri"/>
                <a:cs typeface="Calibri"/>
                <a:sym typeface="Calibri"/>
              </a:rPr>
              <a:t>REST-API, CORS-proxy og WMS-karttj.</a:t>
            </a:r>
            <a:endParaRPr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2" name="Google Shape;202;p7"/>
          <p:cNvSpPr/>
          <p:nvPr/>
        </p:nvSpPr>
        <p:spPr>
          <a:xfrm>
            <a:off x="5486400" y="3200400"/>
            <a:ext cx="2286000" cy="87782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5AAE4A"/>
              </a:buClr>
              <a:buSzPts val="1100"/>
              <a:buFont typeface="Calibri"/>
              <a:buNone/>
            </a:pPr>
            <a:r>
              <a:rPr b="1" lang="en-US" sz="1100">
                <a:solidFill>
                  <a:srgbClr val="5AAE4A"/>
                </a:solidFill>
                <a:latin typeface="Calibri"/>
                <a:ea typeface="Calibri"/>
                <a:cs typeface="Calibri"/>
                <a:sym typeface="Calibri"/>
              </a:rPr>
              <a:t>REST · WMS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3" name="Google Shape;203;p7"/>
          <p:cNvSpPr/>
          <p:nvPr/>
        </p:nvSpPr>
        <p:spPr>
          <a:xfrm>
            <a:off x="548640" y="4206240"/>
            <a:ext cx="7315200" cy="877824"/>
          </a:xfrm>
          <a:prstGeom prst="roundRect">
            <a:avLst>
              <a:gd fmla="val 7292" name="adj"/>
            </a:avLst>
          </a:prstGeom>
          <a:solidFill>
            <a:srgbClr val="0F2E38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4" name="Google Shape;204;p7"/>
          <p:cNvSpPr/>
          <p:nvPr/>
        </p:nvSpPr>
        <p:spPr>
          <a:xfrm>
            <a:off x="749808" y="4370832"/>
            <a:ext cx="548640" cy="548640"/>
          </a:xfrm>
          <a:prstGeom prst="ellipse">
            <a:avLst/>
          </a:prstGeom>
          <a:solidFill>
            <a:srgbClr val="1B7E91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205" name="Google Shape;205;p7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892454" y="4513478"/>
            <a:ext cx="263347" cy="263347"/>
          </a:xfrm>
          <a:prstGeom prst="rect">
            <a:avLst/>
          </a:prstGeom>
          <a:noFill/>
          <a:ln>
            <a:noFill/>
          </a:ln>
        </p:spPr>
      </p:pic>
      <p:sp>
        <p:nvSpPr>
          <p:cNvPr id="206" name="Google Shape;206;p7"/>
          <p:cNvSpPr/>
          <p:nvPr/>
        </p:nvSpPr>
        <p:spPr>
          <a:xfrm>
            <a:off x="1463040" y="4325112"/>
            <a:ext cx="274320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50"/>
              <a:buFont typeface="Georgia"/>
              <a:buNone/>
            </a:pPr>
            <a:r>
              <a:rPr b="1" lang="en-US" sz="1550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Tjenestelag</a:t>
            </a:r>
            <a:endParaRPr sz="15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7" name="Google Shape;207;p7"/>
          <p:cNvSpPr/>
          <p:nvPr/>
        </p:nvSpPr>
        <p:spPr>
          <a:xfrm>
            <a:off x="1463040" y="4645152"/>
            <a:ext cx="402336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9F2F3"/>
              </a:buClr>
              <a:buSzPts val="1050"/>
              <a:buFont typeface="Calibri"/>
              <a:buNone/>
            </a:pPr>
            <a:r>
              <a:rPr lang="en-US" sz="1050">
                <a:solidFill>
                  <a:srgbClr val="E9F2F3"/>
                </a:solidFill>
                <a:latin typeface="Calibri"/>
                <a:ea typeface="Calibri"/>
                <a:cs typeface="Calibri"/>
                <a:sym typeface="Calibri"/>
              </a:rPr>
              <a:t>PostGIS</a:t>
            </a:r>
            <a:r>
              <a:rPr lang="en-US" sz="1050">
                <a:solidFill>
                  <a:srgbClr val="E9F2F3"/>
                </a:solidFill>
                <a:latin typeface="Calibri"/>
                <a:ea typeface="Calibri"/>
                <a:cs typeface="Calibri"/>
                <a:sym typeface="Calibri"/>
              </a:rPr>
              <a:t>, spørreflyt og regelvurdering</a:t>
            </a:r>
            <a:endParaRPr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8" name="Google Shape;208;p7"/>
          <p:cNvSpPr/>
          <p:nvPr/>
        </p:nvSpPr>
        <p:spPr>
          <a:xfrm>
            <a:off x="5486400" y="4206240"/>
            <a:ext cx="2286000" cy="87782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5AAE4A"/>
              </a:buClr>
              <a:buSzPts val="1100"/>
              <a:buFont typeface="Calibri"/>
              <a:buNone/>
            </a:pPr>
            <a:r>
              <a:rPr b="1" lang="en-US" sz="1100">
                <a:solidFill>
                  <a:srgbClr val="5AAE4A"/>
                </a:solidFill>
                <a:latin typeface="Calibri"/>
                <a:ea typeface="Calibri"/>
                <a:cs typeface="Calibri"/>
                <a:sym typeface="Calibri"/>
              </a:rPr>
              <a:t>React · TypeScript · FastAPI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9" name="Google Shape;209;p7"/>
          <p:cNvSpPr/>
          <p:nvPr/>
        </p:nvSpPr>
        <p:spPr>
          <a:xfrm>
            <a:off x="548640" y="5212080"/>
            <a:ext cx="7315200" cy="877824"/>
          </a:xfrm>
          <a:prstGeom prst="roundRect">
            <a:avLst>
              <a:gd fmla="val 7292" name="adj"/>
            </a:avLst>
          </a:prstGeom>
          <a:solidFill>
            <a:srgbClr val="1B7E91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0" name="Google Shape;210;p7"/>
          <p:cNvSpPr/>
          <p:nvPr/>
        </p:nvSpPr>
        <p:spPr>
          <a:xfrm>
            <a:off x="749808" y="5376672"/>
            <a:ext cx="548640" cy="548640"/>
          </a:xfrm>
          <a:prstGeom prst="ellipse">
            <a:avLst/>
          </a:prstGeom>
          <a:solidFill>
            <a:srgbClr val="0F2E38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211" name="Google Shape;211;p7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892454" y="5519318"/>
            <a:ext cx="263347" cy="263347"/>
          </a:xfrm>
          <a:prstGeom prst="rect">
            <a:avLst/>
          </a:prstGeom>
          <a:noFill/>
          <a:ln>
            <a:noFill/>
          </a:ln>
        </p:spPr>
      </p:pic>
      <p:sp>
        <p:nvSpPr>
          <p:cNvPr id="212" name="Google Shape;212;p7"/>
          <p:cNvSpPr/>
          <p:nvPr/>
        </p:nvSpPr>
        <p:spPr>
          <a:xfrm>
            <a:off x="1463040" y="5330952"/>
            <a:ext cx="274320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50"/>
              <a:buFont typeface="Georgia"/>
              <a:buNone/>
            </a:pPr>
            <a:r>
              <a:rPr b="1" lang="en-US" sz="1550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Innholdslag</a:t>
            </a:r>
            <a:endParaRPr sz="15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3" name="Google Shape;213;p7"/>
          <p:cNvSpPr/>
          <p:nvPr/>
        </p:nvSpPr>
        <p:spPr>
          <a:xfrm>
            <a:off x="1463040" y="5650992"/>
            <a:ext cx="402336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9F2F3"/>
              </a:buClr>
              <a:buSzPts val="1050"/>
              <a:buFont typeface="Calibri"/>
              <a:buNone/>
            </a:pPr>
            <a:r>
              <a:rPr lang="en-US" sz="1050">
                <a:solidFill>
                  <a:srgbClr val="E9F2F3"/>
                </a:solidFill>
                <a:latin typeface="Calibri"/>
                <a:ea typeface="Calibri"/>
                <a:cs typeface="Calibri"/>
                <a:sym typeface="Calibri"/>
              </a:rPr>
              <a:t>Geodata, regelterskler og spørsmålskonfig.</a:t>
            </a:r>
            <a:endParaRPr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4" name="Google Shape;214;p7"/>
          <p:cNvSpPr/>
          <p:nvPr/>
        </p:nvSpPr>
        <p:spPr>
          <a:xfrm>
            <a:off x="5486400" y="5212080"/>
            <a:ext cx="2286000" cy="87782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5AAE4A"/>
              </a:buClr>
              <a:buSzPts val="1100"/>
              <a:buFont typeface="Calibri"/>
              <a:buNone/>
            </a:pPr>
            <a:r>
              <a:rPr b="1" lang="en-US" sz="1100">
                <a:solidFill>
                  <a:srgbClr val="5AAE4A"/>
                </a:solidFill>
                <a:latin typeface="Calibri"/>
                <a:ea typeface="Calibri"/>
                <a:cs typeface="Calibri"/>
                <a:sym typeface="Calibri"/>
              </a:rPr>
              <a:t>Supabase · PostGIS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15" name="Google Shape;215;p7"/>
          <p:cNvCxnSpPr/>
          <p:nvPr/>
        </p:nvCxnSpPr>
        <p:spPr>
          <a:xfrm>
            <a:off x="4206240" y="3072384"/>
            <a:ext cx="0" cy="128016"/>
          </a:xfrm>
          <a:prstGeom prst="straightConnector1">
            <a:avLst/>
          </a:prstGeom>
          <a:noFill/>
          <a:ln cap="flat" cmpd="sng" w="12700">
            <a:solidFill>
              <a:srgbClr val="D7E3E5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16" name="Google Shape;216;p7"/>
          <p:cNvSpPr/>
          <p:nvPr/>
        </p:nvSpPr>
        <p:spPr>
          <a:xfrm>
            <a:off x="8092440" y="2194560"/>
            <a:ext cx="3547872" cy="4023360"/>
          </a:xfrm>
          <a:prstGeom prst="roundRect">
            <a:avLst>
              <a:gd fmla="val 2062" name="adj"/>
            </a:avLst>
          </a:prstGeom>
          <a:solidFill>
            <a:srgbClr val="F4F8F9"/>
          </a:solidFill>
          <a:ln cap="flat" cmpd="sng" w="12700">
            <a:solidFill>
              <a:srgbClr val="D7E3E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7" name="Google Shape;217;p7"/>
          <p:cNvSpPr/>
          <p:nvPr/>
        </p:nvSpPr>
        <p:spPr>
          <a:xfrm>
            <a:off x="8366760" y="2468880"/>
            <a:ext cx="566928" cy="566928"/>
          </a:xfrm>
          <a:prstGeom prst="ellipse">
            <a:avLst/>
          </a:prstGeom>
          <a:solidFill>
            <a:srgbClr val="E9F2F3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218" name="Google Shape;218;p7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8514161" y="2616281"/>
            <a:ext cx="272125" cy="272125"/>
          </a:xfrm>
          <a:prstGeom prst="rect">
            <a:avLst/>
          </a:prstGeom>
          <a:noFill/>
          <a:ln>
            <a:noFill/>
          </a:ln>
        </p:spPr>
      </p:pic>
      <p:sp>
        <p:nvSpPr>
          <p:cNvPr id="219" name="Google Shape;219;p7"/>
          <p:cNvSpPr/>
          <p:nvPr/>
        </p:nvSpPr>
        <p:spPr>
          <a:xfrm>
            <a:off x="9052560" y="2505456"/>
            <a:ext cx="2450592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2E38"/>
              </a:buClr>
              <a:buSzPts val="1500"/>
              <a:buFont typeface="Georgia"/>
              <a:buNone/>
            </a:pPr>
            <a:r>
              <a:rPr b="1" lang="en-US" sz="1500">
                <a:solidFill>
                  <a:srgbClr val="0F2E38"/>
                </a:solidFill>
                <a:latin typeface="Georgia"/>
                <a:ea typeface="Georgia"/>
                <a:cs typeface="Georgia"/>
                <a:sym typeface="Georgia"/>
              </a:rPr>
              <a:t>Eksterne datakilder</a:t>
            </a:r>
            <a:endParaRPr sz="1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0" name="Google Shape;220;p7"/>
          <p:cNvSpPr/>
          <p:nvPr/>
        </p:nvSpPr>
        <p:spPr>
          <a:xfrm>
            <a:off x="8385048" y="3255264"/>
            <a:ext cx="109728" cy="109728"/>
          </a:xfrm>
          <a:prstGeom prst="ellipse">
            <a:avLst/>
          </a:prstGeom>
          <a:solidFill>
            <a:srgbClr val="5AAE4A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1" name="Google Shape;221;p7"/>
          <p:cNvSpPr/>
          <p:nvPr/>
        </p:nvSpPr>
        <p:spPr>
          <a:xfrm>
            <a:off x="8604504" y="3154680"/>
            <a:ext cx="2816352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A2E"/>
              </a:buClr>
              <a:buSzPts val="1100"/>
              <a:buFont typeface="Calibri"/>
              <a:buNone/>
            </a:pPr>
            <a:r>
              <a:rPr lang="en-US" sz="1100">
                <a:solidFill>
                  <a:srgbClr val="1E2A2E"/>
                </a:solidFill>
                <a:latin typeface="Calibri"/>
                <a:ea typeface="Calibri"/>
                <a:cs typeface="Calibri"/>
                <a:sym typeface="Calibri"/>
              </a:rPr>
              <a:t>Kartverket – kart og eiendom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2" name="Google Shape;222;p7"/>
          <p:cNvSpPr/>
          <p:nvPr/>
        </p:nvSpPr>
        <p:spPr>
          <a:xfrm>
            <a:off x="8385048" y="3675888"/>
            <a:ext cx="109728" cy="109728"/>
          </a:xfrm>
          <a:prstGeom prst="ellipse">
            <a:avLst/>
          </a:prstGeom>
          <a:solidFill>
            <a:srgbClr val="5AAE4A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3" name="Google Shape;223;p7"/>
          <p:cNvSpPr/>
          <p:nvPr/>
        </p:nvSpPr>
        <p:spPr>
          <a:xfrm>
            <a:off x="8604504" y="3575304"/>
            <a:ext cx="2816352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A2E"/>
              </a:buClr>
              <a:buSzPts val="1100"/>
              <a:buFont typeface="Calibri"/>
              <a:buNone/>
            </a:pPr>
            <a:r>
              <a:rPr lang="en-US" sz="1100">
                <a:solidFill>
                  <a:srgbClr val="1E2A2E"/>
                </a:solidFill>
                <a:latin typeface="Calibri"/>
                <a:ea typeface="Calibri"/>
                <a:cs typeface="Calibri"/>
                <a:sym typeface="Calibri"/>
              </a:rPr>
              <a:t>NVE – flom- og sonedata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4" name="Google Shape;224;p7"/>
          <p:cNvSpPr/>
          <p:nvPr/>
        </p:nvSpPr>
        <p:spPr>
          <a:xfrm>
            <a:off x="8385048" y="4096512"/>
            <a:ext cx="109728" cy="109728"/>
          </a:xfrm>
          <a:prstGeom prst="ellipse">
            <a:avLst/>
          </a:prstGeom>
          <a:solidFill>
            <a:srgbClr val="5AAE4A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5" name="Google Shape;225;p7"/>
          <p:cNvSpPr/>
          <p:nvPr/>
        </p:nvSpPr>
        <p:spPr>
          <a:xfrm>
            <a:off x="8604504" y="3995928"/>
            <a:ext cx="2816352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A2E"/>
              </a:buClr>
              <a:buSzPts val="1100"/>
              <a:buFont typeface="Calibri"/>
              <a:buNone/>
            </a:pPr>
            <a:r>
              <a:rPr lang="en-US" sz="1100">
                <a:solidFill>
                  <a:srgbClr val="1E2A2E"/>
                </a:solidFill>
                <a:latin typeface="Calibri"/>
                <a:ea typeface="Calibri"/>
                <a:cs typeface="Calibri"/>
                <a:sym typeface="Calibri"/>
              </a:rPr>
              <a:t>GeoNorge – FKB-bygningsdata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26" name="Google Shape;226;p7"/>
          <p:cNvCxnSpPr/>
          <p:nvPr/>
        </p:nvCxnSpPr>
        <p:spPr>
          <a:xfrm>
            <a:off x="8366760" y="4590288"/>
            <a:ext cx="2999232" cy="0"/>
          </a:xfrm>
          <a:prstGeom prst="straightConnector1">
            <a:avLst/>
          </a:prstGeom>
          <a:noFill/>
          <a:ln cap="flat" cmpd="sng" w="12700">
            <a:solidFill>
              <a:srgbClr val="D7E3E5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27" name="Google Shape;227;p7"/>
          <p:cNvSpPr/>
          <p:nvPr/>
        </p:nvSpPr>
        <p:spPr>
          <a:xfrm>
            <a:off x="8366760" y="4700016"/>
            <a:ext cx="2999232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7E91"/>
              </a:buClr>
              <a:buSzPts val="1350"/>
              <a:buFont typeface="Georgia"/>
              <a:buNone/>
            </a:pPr>
            <a:r>
              <a:rPr b="1" lang="en-US" sz="1350">
                <a:solidFill>
                  <a:srgbClr val="1B7E91"/>
                </a:solidFill>
                <a:latin typeface="Georgia"/>
                <a:ea typeface="Georgia"/>
                <a:cs typeface="Georgia"/>
                <a:sym typeface="Georgia"/>
              </a:rPr>
              <a:t>Generativitet</a:t>
            </a:r>
            <a:endParaRPr sz="13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8" name="Google Shape;228;p7"/>
          <p:cNvSpPr/>
          <p:nvPr/>
        </p:nvSpPr>
        <p:spPr>
          <a:xfrm>
            <a:off x="8366760" y="5010912"/>
            <a:ext cx="2999232" cy="10972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  <a:buClr>
                <a:srgbClr val="1E2A2E"/>
              </a:buClr>
              <a:buSzPts val="1080"/>
              <a:buFont typeface="Calibri"/>
              <a:buNone/>
            </a:pPr>
            <a:r>
              <a:rPr lang="en-US" sz="1080">
                <a:solidFill>
                  <a:srgbClr val="1E2A2E"/>
                </a:solidFill>
                <a:latin typeface="Calibri"/>
                <a:ea typeface="Calibri"/>
                <a:cs typeface="Calibri"/>
                <a:sym typeface="Calibri"/>
              </a:rPr>
              <a:t>Geodata ligger som data, ikke i koden. Andre kommuner kan bytte dem ut uten kodeendringer – grunnlaget for nasjonal gjenbruk.</a:t>
            </a:r>
            <a:endParaRPr sz="108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33" name="Shape 2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4" name="Google Shape;234;g3e4a3a439d8_4_3"/>
          <p:cNvSpPr/>
          <p:nvPr/>
        </p:nvSpPr>
        <p:spPr>
          <a:xfrm>
            <a:off x="1115568" y="475488"/>
            <a:ext cx="10058400" cy="420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7E91"/>
              </a:buClr>
              <a:buSzPts val="1200"/>
              <a:buFont typeface="Calibri"/>
              <a:buNone/>
            </a:pPr>
            <a:r>
              <a:rPr b="1" lang="en-US" sz="1200">
                <a:solidFill>
                  <a:srgbClr val="1B7E91"/>
                </a:solidFill>
                <a:latin typeface="Calibri"/>
                <a:ea typeface="Calibri"/>
                <a:cs typeface="Calibri"/>
                <a:sym typeface="Calibri"/>
              </a:rPr>
              <a:t>TEKNOLOGI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7E91"/>
              </a:buClr>
              <a:buSzPts val="1200"/>
              <a:buFont typeface="Calibri"/>
              <a:buNone/>
            </a:pPr>
            <a:r>
              <a:t/>
            </a:r>
            <a:endParaRPr b="1" sz="1200">
              <a:solidFill>
                <a:srgbClr val="1B7E9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5" name="Google Shape;235;g3e4a3a439d8_4_3"/>
          <p:cNvSpPr/>
          <p:nvPr/>
        </p:nvSpPr>
        <p:spPr>
          <a:xfrm>
            <a:off x="530352" y="914400"/>
            <a:ext cx="11064300" cy="868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2E38"/>
              </a:buClr>
              <a:buSzPts val="3100"/>
              <a:buFont typeface="Georgia"/>
              <a:buNone/>
            </a:pPr>
            <a:r>
              <a:rPr b="1" lang="en-US" sz="3100">
                <a:solidFill>
                  <a:srgbClr val="0F2E38"/>
                </a:solidFill>
                <a:latin typeface="Georgia"/>
                <a:ea typeface="Georgia"/>
                <a:cs typeface="Georgia"/>
                <a:sym typeface="Georgia"/>
              </a:rPr>
              <a:t>Teknologi Valg</a:t>
            </a:r>
            <a:endParaRPr sz="3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6" name="Google Shape;236;g3e4a3a439d8_4_3"/>
          <p:cNvSpPr/>
          <p:nvPr/>
        </p:nvSpPr>
        <p:spPr>
          <a:xfrm>
            <a:off x="548640" y="6400800"/>
            <a:ext cx="36576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C6E75"/>
              </a:buClr>
              <a:buSzPts val="900"/>
              <a:buFont typeface="Calibri"/>
              <a:buNone/>
            </a:pPr>
            <a:r>
              <a:t/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7" name="Google Shape;237;g3e4a3a439d8_4_3"/>
          <p:cNvSpPr/>
          <p:nvPr/>
        </p:nvSpPr>
        <p:spPr>
          <a:xfrm>
            <a:off x="3657600" y="6400800"/>
            <a:ext cx="59436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5C6E75"/>
              </a:buClr>
              <a:buSzPts val="900"/>
              <a:buFont typeface="Calibri"/>
              <a:buNone/>
            </a:pPr>
            <a:r>
              <a:rPr lang="en-US" sz="900">
                <a:solidFill>
                  <a:srgbClr val="5C6E75"/>
                </a:solidFill>
                <a:latin typeface="Calibri"/>
                <a:ea typeface="Calibri"/>
                <a:cs typeface="Calibri"/>
                <a:sym typeface="Calibri"/>
              </a:rPr>
              <a:t>Arkitektur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8" name="Google Shape;238;g3e4a3a439d8_4_3"/>
          <p:cNvSpPr/>
          <p:nvPr/>
        </p:nvSpPr>
        <p:spPr>
          <a:xfrm>
            <a:off x="10058400" y="6400800"/>
            <a:ext cx="15819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5C6E75"/>
              </a:buClr>
              <a:buSzPts val="900"/>
              <a:buFont typeface="Calibri"/>
              <a:buNone/>
            </a:pPr>
            <a:r>
              <a:rPr lang="en-US" sz="900">
                <a:solidFill>
                  <a:srgbClr val="5C6E75"/>
                </a:solidFill>
                <a:latin typeface="Calibri"/>
                <a:ea typeface="Calibri"/>
                <a:cs typeface="Calibri"/>
                <a:sym typeface="Calibri"/>
              </a:rPr>
              <a:t>07 / 14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9" name="Google Shape;239;g3e4a3a439d8_4_3"/>
          <p:cNvSpPr/>
          <p:nvPr/>
        </p:nvSpPr>
        <p:spPr>
          <a:xfrm>
            <a:off x="548640" y="1627632"/>
            <a:ext cx="10515600" cy="41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C6E75"/>
              </a:buClr>
              <a:buSzPts val="1400"/>
              <a:buFont typeface="Calibri"/>
              <a:buNone/>
            </a:pPr>
            <a:r>
              <a:rPr i="1" lang="en-US" sz="1400">
                <a:solidFill>
                  <a:srgbClr val="5C6E75"/>
                </a:solidFill>
                <a:latin typeface="Calibri"/>
                <a:ea typeface="Calibri"/>
                <a:cs typeface="Calibri"/>
                <a:sym typeface="Calibri"/>
              </a:rPr>
              <a:t>Bygd som et MVP, men strukturert i lag slik at andre kommuner kan tilpasse og gjenbruke løsningen.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0" name="Google Shape;240;g3e4a3a439d8_4_3"/>
          <p:cNvSpPr/>
          <p:nvPr/>
        </p:nvSpPr>
        <p:spPr>
          <a:xfrm>
            <a:off x="715775" y="3054050"/>
            <a:ext cx="2458500" cy="1386300"/>
          </a:xfrm>
          <a:prstGeom prst="roundRect">
            <a:avLst>
              <a:gd fmla="val 7292" name="adj"/>
            </a:avLst>
          </a:prstGeom>
          <a:solidFill>
            <a:srgbClr val="0F2E38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1" name="Google Shape;241;g3e4a3a439d8_4_3"/>
          <p:cNvSpPr/>
          <p:nvPr/>
        </p:nvSpPr>
        <p:spPr>
          <a:xfrm>
            <a:off x="774233" y="3140952"/>
            <a:ext cx="548700" cy="548700"/>
          </a:xfrm>
          <a:prstGeom prst="ellipse">
            <a:avLst/>
          </a:prstGeom>
          <a:solidFill>
            <a:srgbClr val="1B7E91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242" name="Google Shape;242;g3e4a3a439d8_4_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16904" y="3283623"/>
            <a:ext cx="263347" cy="263347"/>
          </a:xfrm>
          <a:prstGeom prst="rect">
            <a:avLst/>
          </a:prstGeom>
          <a:noFill/>
          <a:ln>
            <a:noFill/>
          </a:ln>
        </p:spPr>
      </p:pic>
      <p:sp>
        <p:nvSpPr>
          <p:cNvPr id="243" name="Google Shape;243;g3e4a3a439d8_4_3"/>
          <p:cNvSpPr/>
          <p:nvPr/>
        </p:nvSpPr>
        <p:spPr>
          <a:xfrm>
            <a:off x="1377640" y="3177607"/>
            <a:ext cx="2743200" cy="34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50"/>
              <a:buFont typeface="Georgia"/>
              <a:buNone/>
            </a:pPr>
            <a:r>
              <a:rPr b="1" lang="en-US" sz="1550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Frontend</a:t>
            </a:r>
            <a:endParaRPr sz="15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4" name="Google Shape;244;g3e4a3a439d8_4_3"/>
          <p:cNvSpPr/>
          <p:nvPr/>
        </p:nvSpPr>
        <p:spPr>
          <a:xfrm>
            <a:off x="1322915" y="3730760"/>
            <a:ext cx="40233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9F2F3"/>
              </a:buClr>
              <a:buSzPts val="1050"/>
              <a:buFont typeface="Calibri"/>
              <a:buNone/>
            </a:pPr>
            <a:r>
              <a:rPr lang="en-US" sz="1050">
                <a:solidFill>
                  <a:srgbClr val="E9F2F3"/>
                </a:solidFill>
                <a:latin typeface="Calibri"/>
                <a:ea typeface="Calibri"/>
                <a:cs typeface="Calibri"/>
                <a:sym typeface="Calibri"/>
              </a:rPr>
              <a:t>React/Typescript </a:t>
            </a:r>
            <a:endParaRPr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5" name="Google Shape;245;g3e4a3a439d8_4_3"/>
          <p:cNvSpPr/>
          <p:nvPr/>
        </p:nvSpPr>
        <p:spPr>
          <a:xfrm>
            <a:off x="4359375" y="3054050"/>
            <a:ext cx="2458500" cy="1386300"/>
          </a:xfrm>
          <a:prstGeom prst="roundRect">
            <a:avLst>
              <a:gd fmla="val 7292" name="adj"/>
            </a:avLst>
          </a:prstGeom>
          <a:solidFill>
            <a:srgbClr val="1B7E91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6" name="Google Shape;246;g3e4a3a439d8_4_3"/>
          <p:cNvSpPr/>
          <p:nvPr/>
        </p:nvSpPr>
        <p:spPr>
          <a:xfrm>
            <a:off x="4417833" y="3182055"/>
            <a:ext cx="548700" cy="548700"/>
          </a:xfrm>
          <a:prstGeom prst="ellipse">
            <a:avLst/>
          </a:prstGeom>
          <a:solidFill>
            <a:srgbClr val="0F2E38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247" name="Google Shape;247;g3e4a3a439d8_4_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560504" y="3324738"/>
            <a:ext cx="263347" cy="263347"/>
          </a:xfrm>
          <a:prstGeom prst="rect">
            <a:avLst/>
          </a:prstGeom>
          <a:noFill/>
          <a:ln>
            <a:noFill/>
          </a:ln>
        </p:spPr>
      </p:pic>
      <p:sp>
        <p:nvSpPr>
          <p:cNvPr id="248" name="Google Shape;248;g3e4a3a439d8_4_3"/>
          <p:cNvSpPr/>
          <p:nvPr/>
        </p:nvSpPr>
        <p:spPr>
          <a:xfrm>
            <a:off x="5109215" y="3172910"/>
            <a:ext cx="2743200" cy="34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50"/>
              <a:buFont typeface="Georgia"/>
              <a:buNone/>
            </a:pPr>
            <a:r>
              <a:rPr b="1" lang="en-US" sz="1550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Backend</a:t>
            </a:r>
            <a:endParaRPr sz="15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9" name="Google Shape;249;g3e4a3a439d8_4_3"/>
          <p:cNvSpPr/>
          <p:nvPr/>
        </p:nvSpPr>
        <p:spPr>
          <a:xfrm>
            <a:off x="4966515" y="3685062"/>
            <a:ext cx="40233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9F2F3"/>
              </a:buClr>
              <a:buSzPts val="1050"/>
              <a:buFont typeface="Calibri"/>
              <a:buNone/>
            </a:pPr>
            <a:r>
              <a:rPr lang="en-US" sz="1050">
                <a:solidFill>
                  <a:srgbClr val="E9F2F3"/>
                </a:solidFill>
                <a:latin typeface="Calibri"/>
                <a:ea typeface="Calibri"/>
                <a:cs typeface="Calibri"/>
                <a:sym typeface="Calibri"/>
              </a:rPr>
              <a:t>Python + FastAPI </a:t>
            </a:r>
            <a:endParaRPr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0" name="Google Shape;250;g3e4a3a439d8_4_3"/>
          <p:cNvSpPr/>
          <p:nvPr/>
        </p:nvSpPr>
        <p:spPr>
          <a:xfrm>
            <a:off x="8856265" y="3081487"/>
            <a:ext cx="2743200" cy="34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50"/>
              <a:buFont typeface="Georgia"/>
              <a:buNone/>
            </a:pPr>
            <a:r>
              <a:rPr b="1" lang="en-US" sz="1550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Datase</a:t>
            </a:r>
            <a:endParaRPr sz="15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1" name="Google Shape;251;g3e4a3a439d8_4_3"/>
          <p:cNvSpPr/>
          <p:nvPr/>
        </p:nvSpPr>
        <p:spPr>
          <a:xfrm>
            <a:off x="7941875" y="3054050"/>
            <a:ext cx="2458500" cy="1386300"/>
          </a:xfrm>
          <a:prstGeom prst="roundRect">
            <a:avLst>
              <a:gd fmla="val 7292" name="adj"/>
            </a:avLst>
          </a:prstGeom>
          <a:solidFill>
            <a:srgbClr val="1B7E91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2" name="Google Shape;252;g3e4a3a439d8_4_3"/>
          <p:cNvSpPr/>
          <p:nvPr/>
        </p:nvSpPr>
        <p:spPr>
          <a:xfrm>
            <a:off x="7956458" y="3136347"/>
            <a:ext cx="548700" cy="548700"/>
          </a:xfrm>
          <a:prstGeom prst="ellipse">
            <a:avLst/>
          </a:prstGeom>
          <a:solidFill>
            <a:srgbClr val="0F2E38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253" name="Google Shape;253;g3e4a3a439d8_4_3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8099129" y="3269880"/>
            <a:ext cx="263347" cy="263347"/>
          </a:xfrm>
          <a:prstGeom prst="rect">
            <a:avLst/>
          </a:prstGeom>
          <a:noFill/>
          <a:ln>
            <a:noFill/>
          </a:ln>
        </p:spPr>
      </p:pic>
      <p:sp>
        <p:nvSpPr>
          <p:cNvPr id="254" name="Google Shape;254;g3e4a3a439d8_4_3"/>
          <p:cNvSpPr/>
          <p:nvPr/>
        </p:nvSpPr>
        <p:spPr>
          <a:xfrm>
            <a:off x="8549015" y="3113490"/>
            <a:ext cx="2743200" cy="34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50"/>
              <a:buFont typeface="Georgia"/>
              <a:buNone/>
            </a:pPr>
            <a:r>
              <a:rPr b="1" lang="en-US" sz="1550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Database</a:t>
            </a:r>
            <a:endParaRPr sz="15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5" name="Google Shape;255;g3e4a3a439d8_4_3"/>
          <p:cNvSpPr/>
          <p:nvPr/>
        </p:nvSpPr>
        <p:spPr>
          <a:xfrm>
            <a:off x="8549015" y="3730742"/>
            <a:ext cx="40233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E9F2F3"/>
              </a:buClr>
              <a:buSzPts val="1050"/>
              <a:buFont typeface="Calibri"/>
              <a:buNone/>
            </a:pPr>
            <a:r>
              <a:rPr lang="en-US" sz="1050">
                <a:solidFill>
                  <a:srgbClr val="E9F2F3"/>
                </a:solidFill>
                <a:latin typeface="Calibri"/>
                <a:ea typeface="Calibri"/>
                <a:cs typeface="Calibri"/>
                <a:sym typeface="Calibri"/>
              </a:rPr>
              <a:t>PostgreSQL</a:t>
            </a:r>
            <a:r>
              <a:rPr lang="en-US" sz="1050">
                <a:solidFill>
                  <a:srgbClr val="E9F2F3"/>
                </a:solidFill>
                <a:latin typeface="Calibri"/>
                <a:ea typeface="Calibri"/>
                <a:cs typeface="Calibri"/>
                <a:sym typeface="Calibri"/>
              </a:rPr>
              <a:t>, PostGIS </a:t>
            </a:r>
            <a:endParaRPr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56" name="Google Shape;256;g3e4a3a439d8_4_3"/>
          <p:cNvCxnSpPr/>
          <p:nvPr/>
        </p:nvCxnSpPr>
        <p:spPr>
          <a:xfrm>
            <a:off x="4206240" y="3072384"/>
            <a:ext cx="0" cy="128100"/>
          </a:xfrm>
          <a:prstGeom prst="straightConnector1">
            <a:avLst/>
          </a:prstGeom>
          <a:noFill/>
          <a:ln cap="flat" cmpd="sng" w="12700">
            <a:solidFill>
              <a:srgbClr val="D7E3E5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57" name="Google Shape;257;g3e4a3a439d8_4_3"/>
          <p:cNvSpPr/>
          <p:nvPr/>
        </p:nvSpPr>
        <p:spPr>
          <a:xfrm>
            <a:off x="563215" y="423713"/>
            <a:ext cx="420600" cy="420600"/>
          </a:xfrm>
          <a:prstGeom prst="ellipse">
            <a:avLst/>
          </a:prstGeom>
          <a:solidFill>
            <a:srgbClr val="1B7E91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8" name="Google Shape;258;g3e4a3a439d8_4_3"/>
          <p:cNvSpPr/>
          <p:nvPr/>
        </p:nvSpPr>
        <p:spPr>
          <a:xfrm>
            <a:off x="563215" y="423713"/>
            <a:ext cx="420600" cy="420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b="1" lang="en-US" sz="12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08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63" name="Shape 2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4" name="Google Shape;264;p8"/>
          <p:cNvSpPr/>
          <p:nvPr/>
        </p:nvSpPr>
        <p:spPr>
          <a:xfrm>
            <a:off x="548640" y="475488"/>
            <a:ext cx="420600" cy="420600"/>
          </a:xfrm>
          <a:prstGeom prst="ellipse">
            <a:avLst/>
          </a:prstGeom>
          <a:solidFill>
            <a:srgbClr val="1B7E91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5" name="Google Shape;265;p8"/>
          <p:cNvSpPr/>
          <p:nvPr/>
        </p:nvSpPr>
        <p:spPr>
          <a:xfrm>
            <a:off x="548640" y="475488"/>
            <a:ext cx="420600" cy="420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b="1" lang="en-US" sz="12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09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6" name="Google Shape;266;p8"/>
          <p:cNvSpPr/>
          <p:nvPr/>
        </p:nvSpPr>
        <p:spPr>
          <a:xfrm>
            <a:off x="1115568" y="475488"/>
            <a:ext cx="10058400" cy="420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7E91"/>
              </a:buClr>
              <a:buSzPts val="1200"/>
              <a:buFont typeface="Calibri"/>
              <a:buNone/>
            </a:pPr>
            <a:r>
              <a:rPr b="1" lang="en-US" sz="1200">
                <a:solidFill>
                  <a:srgbClr val="1B7E91"/>
                </a:solidFill>
                <a:latin typeface="Calibri"/>
                <a:ea typeface="Calibri"/>
                <a:cs typeface="Calibri"/>
                <a:sym typeface="Calibri"/>
              </a:rPr>
              <a:t>METODE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7" name="Google Shape;267;p8"/>
          <p:cNvSpPr/>
          <p:nvPr/>
        </p:nvSpPr>
        <p:spPr>
          <a:xfrm>
            <a:off x="530352" y="914400"/>
            <a:ext cx="11064300" cy="868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2E38"/>
              </a:buClr>
              <a:buSzPts val="3100"/>
              <a:buFont typeface="Georgia"/>
              <a:buNone/>
            </a:pPr>
            <a:r>
              <a:rPr b="1" lang="en-US" sz="3100">
                <a:solidFill>
                  <a:srgbClr val="0F2E38"/>
                </a:solidFill>
                <a:latin typeface="Georgia"/>
                <a:ea typeface="Georgia"/>
                <a:cs typeface="Georgia"/>
                <a:sym typeface="Georgia"/>
              </a:rPr>
              <a:t>Smidig arbeid på to nivåer</a:t>
            </a:r>
            <a:endParaRPr sz="3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8" name="Google Shape;268;p8"/>
          <p:cNvSpPr/>
          <p:nvPr/>
        </p:nvSpPr>
        <p:spPr>
          <a:xfrm>
            <a:off x="548640" y="6400800"/>
            <a:ext cx="36576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C6E75"/>
              </a:buClr>
              <a:buSzPts val="900"/>
              <a:buFont typeface="Calibri"/>
              <a:buNone/>
            </a:pPr>
            <a:r>
              <a:rPr b="1" lang="en-US" sz="900">
                <a:solidFill>
                  <a:srgbClr val="5C6E75"/>
                </a:solidFill>
                <a:latin typeface="Calibri"/>
                <a:ea typeface="Calibri"/>
                <a:cs typeface="Calibri"/>
                <a:sym typeface="Calibri"/>
              </a:rPr>
              <a:t>TiltaksAID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9" name="Google Shape;269;p8"/>
          <p:cNvSpPr/>
          <p:nvPr/>
        </p:nvSpPr>
        <p:spPr>
          <a:xfrm>
            <a:off x="3657600" y="6400800"/>
            <a:ext cx="59436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5C6E75"/>
              </a:buClr>
              <a:buSzPts val="900"/>
              <a:buFont typeface="Calibri"/>
              <a:buNone/>
            </a:pPr>
            <a:r>
              <a:rPr lang="en-US" sz="900">
                <a:solidFill>
                  <a:srgbClr val="5C6E75"/>
                </a:solidFill>
                <a:latin typeface="Calibri"/>
                <a:ea typeface="Calibri"/>
                <a:cs typeface="Calibri"/>
                <a:sym typeface="Calibri"/>
              </a:rPr>
              <a:t>Metode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0" name="Google Shape;270;p8"/>
          <p:cNvSpPr/>
          <p:nvPr/>
        </p:nvSpPr>
        <p:spPr>
          <a:xfrm>
            <a:off x="10058400" y="6400800"/>
            <a:ext cx="15819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5C6E75"/>
              </a:buClr>
              <a:buSzPts val="900"/>
              <a:buFont typeface="Calibri"/>
              <a:buNone/>
            </a:pPr>
            <a:r>
              <a:rPr lang="en-US" sz="900">
                <a:solidFill>
                  <a:srgbClr val="5C6E75"/>
                </a:solidFill>
                <a:latin typeface="Calibri"/>
                <a:ea typeface="Calibri"/>
                <a:cs typeface="Calibri"/>
                <a:sym typeface="Calibri"/>
              </a:rPr>
              <a:t>08 / 14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1" name="Google Shape;271;p8"/>
          <p:cNvSpPr/>
          <p:nvPr/>
        </p:nvSpPr>
        <p:spPr>
          <a:xfrm>
            <a:off x="548640" y="1965960"/>
            <a:ext cx="5349300" cy="2148900"/>
          </a:xfrm>
          <a:prstGeom prst="roundRect">
            <a:avLst>
              <a:gd fmla="val 3404" name="adj"/>
            </a:avLst>
          </a:prstGeom>
          <a:solidFill>
            <a:srgbClr val="FFFFFF"/>
          </a:solidFill>
          <a:ln cap="flat" cmpd="sng" w="12700">
            <a:solidFill>
              <a:srgbClr val="D7E3E5"/>
            </a:solidFill>
            <a:prstDash val="solid"/>
            <a:round/>
            <a:headEnd len="sm" w="sm" type="none"/>
            <a:tailEnd len="sm" w="sm" type="none"/>
          </a:ln>
          <a:effectLst>
            <a:outerShdw blurRad="88900" rotWithShape="0" algn="bl" dir="8100000" dist="38100">
              <a:srgbClr val="0F2E38">
                <a:alpha val="12940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2" name="Google Shape;272;p8"/>
          <p:cNvSpPr/>
          <p:nvPr/>
        </p:nvSpPr>
        <p:spPr>
          <a:xfrm>
            <a:off x="841248" y="2258568"/>
            <a:ext cx="749700" cy="749700"/>
          </a:xfrm>
          <a:prstGeom prst="ellipse">
            <a:avLst/>
          </a:prstGeom>
          <a:solidFill>
            <a:srgbClr val="1B7E91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273" name="Google Shape;273;p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36198" y="2453518"/>
            <a:ext cx="359908" cy="359908"/>
          </a:xfrm>
          <a:prstGeom prst="rect">
            <a:avLst/>
          </a:prstGeom>
          <a:noFill/>
          <a:ln>
            <a:noFill/>
          </a:ln>
        </p:spPr>
      </p:pic>
      <p:sp>
        <p:nvSpPr>
          <p:cNvPr id="274" name="Google Shape;274;p8"/>
          <p:cNvSpPr/>
          <p:nvPr/>
        </p:nvSpPr>
        <p:spPr>
          <a:xfrm>
            <a:off x="1783080" y="2295144"/>
            <a:ext cx="3977700" cy="640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2E38"/>
              </a:buClr>
              <a:buSzPts val="1800"/>
              <a:buFont typeface="Georgia"/>
              <a:buNone/>
            </a:pPr>
            <a:r>
              <a:rPr b="1" lang="en-US" sz="1800">
                <a:solidFill>
                  <a:srgbClr val="0F2E38"/>
                </a:solidFill>
                <a:latin typeface="Georgia"/>
                <a:ea typeface="Georgia"/>
                <a:cs typeface="Georgia"/>
                <a:sym typeface="Georgia"/>
              </a:rPr>
              <a:t>Scrum på teamnivå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5" name="Google Shape;275;p8"/>
          <p:cNvSpPr/>
          <p:nvPr/>
        </p:nvSpPr>
        <p:spPr>
          <a:xfrm>
            <a:off x="859536" y="3108960"/>
            <a:ext cx="4745700" cy="868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Clr>
                <a:srgbClr val="1E2A2E"/>
              </a:buClr>
              <a:buSzPts val="1250"/>
              <a:buFont typeface="Calibri"/>
              <a:buNone/>
            </a:pPr>
            <a:r>
              <a:rPr lang="en-US" sz="1250">
                <a:solidFill>
                  <a:srgbClr val="1E2A2E"/>
                </a:solidFill>
                <a:latin typeface="Calibri"/>
                <a:ea typeface="Calibri"/>
                <a:cs typeface="Calibri"/>
                <a:sym typeface="Calibri"/>
              </a:rPr>
              <a:t>Sprinter, daglige stand-ups og retrospektiver,. Iterativ tilpasning til tilbakemeldinger fra brukere og kommune.</a:t>
            </a:r>
            <a:endParaRPr sz="12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6" name="Google Shape;276;p8"/>
          <p:cNvSpPr/>
          <p:nvPr/>
        </p:nvSpPr>
        <p:spPr>
          <a:xfrm>
            <a:off x="6291072" y="1965960"/>
            <a:ext cx="5349300" cy="2148900"/>
          </a:xfrm>
          <a:prstGeom prst="roundRect">
            <a:avLst>
              <a:gd fmla="val 3404" name="adj"/>
            </a:avLst>
          </a:prstGeom>
          <a:solidFill>
            <a:srgbClr val="FFFFFF"/>
          </a:solidFill>
          <a:ln cap="flat" cmpd="sng" w="12700">
            <a:solidFill>
              <a:srgbClr val="D7E3E5"/>
            </a:solidFill>
            <a:prstDash val="solid"/>
            <a:round/>
            <a:headEnd len="sm" w="sm" type="none"/>
            <a:tailEnd len="sm" w="sm" type="none"/>
          </a:ln>
          <a:effectLst>
            <a:outerShdw blurRad="88900" rotWithShape="0" algn="bl" dir="8100000" dist="38100">
              <a:srgbClr val="0F2E38">
                <a:alpha val="12940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7" name="Google Shape;277;p8"/>
          <p:cNvSpPr/>
          <p:nvPr/>
        </p:nvSpPr>
        <p:spPr>
          <a:xfrm>
            <a:off x="6583680" y="2258568"/>
            <a:ext cx="749700" cy="749700"/>
          </a:xfrm>
          <a:prstGeom prst="ellipse">
            <a:avLst/>
          </a:prstGeom>
          <a:solidFill>
            <a:srgbClr val="1B7E91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278" name="Google Shape;278;p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778630" y="2453518"/>
            <a:ext cx="359908" cy="359908"/>
          </a:xfrm>
          <a:prstGeom prst="rect">
            <a:avLst/>
          </a:prstGeom>
          <a:noFill/>
          <a:ln>
            <a:noFill/>
          </a:ln>
        </p:spPr>
      </p:pic>
      <p:sp>
        <p:nvSpPr>
          <p:cNvPr id="279" name="Google Shape;279;p8"/>
          <p:cNvSpPr/>
          <p:nvPr/>
        </p:nvSpPr>
        <p:spPr>
          <a:xfrm>
            <a:off x="7525512" y="2295144"/>
            <a:ext cx="3977700" cy="640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2E38"/>
              </a:buClr>
              <a:buSzPts val="1800"/>
              <a:buFont typeface="Georgia"/>
              <a:buNone/>
            </a:pPr>
            <a:r>
              <a:rPr b="1" lang="en-US" sz="1800">
                <a:solidFill>
                  <a:srgbClr val="0F2E38"/>
                </a:solidFill>
                <a:latin typeface="Georgia"/>
                <a:ea typeface="Georgia"/>
                <a:cs typeface="Georgia"/>
                <a:sym typeface="Georgia"/>
              </a:rPr>
              <a:t>SAFe-inspirert på tvers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0" name="Google Shape;280;p8"/>
          <p:cNvSpPr/>
          <p:nvPr/>
        </p:nvSpPr>
        <p:spPr>
          <a:xfrm>
            <a:off x="6601968" y="3108960"/>
            <a:ext cx="4745700" cy="868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Clr>
                <a:srgbClr val="1E2A2E"/>
              </a:buClr>
              <a:buSzPts val="1250"/>
              <a:buFont typeface="Calibri"/>
              <a:buNone/>
            </a:pPr>
            <a:r>
              <a:rPr lang="en-US" sz="1250">
                <a:solidFill>
                  <a:srgbClr val="1E2A2E"/>
                </a:solidFill>
                <a:latin typeface="Calibri"/>
                <a:ea typeface="Calibri"/>
                <a:cs typeface="Calibri"/>
                <a:sym typeface="Calibri"/>
              </a:rPr>
              <a:t>Felles rytme med fire bachelorgrupper i kommunen. Tilpasset, ikke full SAFe, for et utforskende FoU-miljø.</a:t>
            </a:r>
            <a:endParaRPr sz="12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1" name="Google Shape;281;p8"/>
          <p:cNvSpPr/>
          <p:nvPr/>
        </p:nvSpPr>
        <p:spPr>
          <a:xfrm>
            <a:off x="548640" y="4434840"/>
            <a:ext cx="10515600" cy="32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2E38"/>
              </a:buClr>
              <a:buSzPts val="1250"/>
              <a:buFont typeface="Calibri"/>
              <a:buNone/>
            </a:pPr>
            <a:r>
              <a:rPr b="1" lang="en-US" sz="1250">
                <a:solidFill>
                  <a:srgbClr val="0F2E38"/>
                </a:solidFill>
                <a:latin typeface="Calibri"/>
                <a:ea typeface="Calibri"/>
                <a:cs typeface="Calibri"/>
                <a:sym typeface="Calibri"/>
              </a:rPr>
              <a:t>Prosjektet ble strukturert i tre Program Increments (PI) på syv uker hver:</a:t>
            </a:r>
            <a:endParaRPr sz="12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2" name="Google Shape;282;p8"/>
          <p:cNvSpPr/>
          <p:nvPr/>
        </p:nvSpPr>
        <p:spPr>
          <a:xfrm>
            <a:off x="548640" y="4846320"/>
            <a:ext cx="3538800" cy="841200"/>
          </a:xfrm>
          <a:prstGeom prst="roundRect">
            <a:avLst>
              <a:gd fmla="val 7609" name="adj"/>
            </a:avLst>
          </a:prstGeom>
          <a:solidFill>
            <a:srgbClr val="0F2E38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3" name="Google Shape;283;p8"/>
          <p:cNvSpPr/>
          <p:nvPr/>
        </p:nvSpPr>
        <p:spPr>
          <a:xfrm>
            <a:off x="804672" y="4846320"/>
            <a:ext cx="1005900" cy="841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AAE4A"/>
              </a:buClr>
              <a:buSzPts val="2100"/>
              <a:buFont typeface="Georgia"/>
              <a:buNone/>
            </a:pPr>
            <a:r>
              <a:rPr b="1" lang="en-US" sz="2100">
                <a:solidFill>
                  <a:srgbClr val="5AAE4A"/>
                </a:solidFill>
                <a:latin typeface="Georgia"/>
                <a:ea typeface="Georgia"/>
                <a:cs typeface="Georgia"/>
                <a:sym typeface="Georgia"/>
              </a:rPr>
              <a:t>PI 1</a:t>
            </a:r>
            <a:endParaRPr sz="2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4" name="Google Shape;284;p8"/>
          <p:cNvSpPr/>
          <p:nvPr/>
        </p:nvSpPr>
        <p:spPr>
          <a:xfrm>
            <a:off x="1783080" y="4846320"/>
            <a:ext cx="2121300" cy="841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9F2F3"/>
              </a:buClr>
              <a:buSzPts val="1150"/>
              <a:buFont typeface="Calibri"/>
              <a:buNone/>
            </a:pPr>
            <a:r>
              <a:rPr lang="en-US" sz="1150">
                <a:solidFill>
                  <a:srgbClr val="E9F2F3"/>
                </a:solidFill>
                <a:latin typeface="Calibri"/>
                <a:ea typeface="Calibri"/>
                <a:cs typeface="Calibri"/>
                <a:sym typeface="Calibri"/>
              </a:rPr>
              <a:t>Research, analyse &amp; design</a:t>
            </a:r>
            <a:endParaRPr sz="11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285" name="Google Shape;285;p8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096512" y="5157216"/>
            <a:ext cx="219456" cy="219456"/>
          </a:xfrm>
          <a:prstGeom prst="rect">
            <a:avLst/>
          </a:prstGeom>
          <a:noFill/>
          <a:ln>
            <a:noFill/>
          </a:ln>
        </p:spPr>
      </p:pic>
      <p:sp>
        <p:nvSpPr>
          <p:cNvPr id="286" name="Google Shape;286;p8"/>
          <p:cNvSpPr/>
          <p:nvPr/>
        </p:nvSpPr>
        <p:spPr>
          <a:xfrm>
            <a:off x="4325112" y="4846320"/>
            <a:ext cx="3538800" cy="841200"/>
          </a:xfrm>
          <a:prstGeom prst="roundRect">
            <a:avLst>
              <a:gd fmla="val 7609" name="adj"/>
            </a:avLst>
          </a:prstGeom>
          <a:solidFill>
            <a:srgbClr val="0F2E38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7" name="Google Shape;287;p8"/>
          <p:cNvSpPr/>
          <p:nvPr/>
        </p:nvSpPr>
        <p:spPr>
          <a:xfrm>
            <a:off x="4581144" y="4846320"/>
            <a:ext cx="1005900" cy="841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AAE4A"/>
              </a:buClr>
              <a:buSzPts val="2100"/>
              <a:buFont typeface="Georgia"/>
              <a:buNone/>
            </a:pPr>
            <a:r>
              <a:rPr b="1" lang="en-US" sz="2100">
                <a:solidFill>
                  <a:srgbClr val="5AAE4A"/>
                </a:solidFill>
                <a:latin typeface="Georgia"/>
                <a:ea typeface="Georgia"/>
                <a:cs typeface="Georgia"/>
                <a:sym typeface="Georgia"/>
              </a:rPr>
              <a:t>PI 2</a:t>
            </a:r>
            <a:endParaRPr sz="2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8" name="Google Shape;288;p8"/>
          <p:cNvSpPr/>
          <p:nvPr/>
        </p:nvSpPr>
        <p:spPr>
          <a:xfrm>
            <a:off x="5559552" y="4846320"/>
            <a:ext cx="2121300" cy="841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9F2F3"/>
              </a:buClr>
              <a:buSzPts val="1150"/>
              <a:buFont typeface="Calibri"/>
              <a:buNone/>
            </a:pPr>
            <a:r>
              <a:rPr lang="en-US" sz="1150">
                <a:solidFill>
                  <a:srgbClr val="E9F2F3"/>
                </a:solidFill>
                <a:latin typeface="Calibri"/>
                <a:ea typeface="Calibri"/>
                <a:cs typeface="Calibri"/>
                <a:sym typeface="Calibri"/>
              </a:rPr>
              <a:t>Containerisering, deploy &amp; brukertesting</a:t>
            </a:r>
            <a:endParaRPr sz="11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289" name="Google Shape;289;p8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7872984" y="5157216"/>
            <a:ext cx="219456" cy="219456"/>
          </a:xfrm>
          <a:prstGeom prst="rect">
            <a:avLst/>
          </a:prstGeom>
          <a:noFill/>
          <a:ln>
            <a:noFill/>
          </a:ln>
        </p:spPr>
      </p:pic>
      <p:sp>
        <p:nvSpPr>
          <p:cNvPr id="290" name="Google Shape;290;p8"/>
          <p:cNvSpPr/>
          <p:nvPr/>
        </p:nvSpPr>
        <p:spPr>
          <a:xfrm>
            <a:off x="8101584" y="4846320"/>
            <a:ext cx="3538800" cy="841200"/>
          </a:xfrm>
          <a:prstGeom prst="roundRect">
            <a:avLst>
              <a:gd fmla="val 7609" name="adj"/>
            </a:avLst>
          </a:prstGeom>
          <a:solidFill>
            <a:srgbClr val="0F2E38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1" name="Google Shape;291;p8"/>
          <p:cNvSpPr/>
          <p:nvPr/>
        </p:nvSpPr>
        <p:spPr>
          <a:xfrm>
            <a:off x="8357616" y="4846320"/>
            <a:ext cx="1005900" cy="841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AAE4A"/>
              </a:buClr>
              <a:buSzPts val="2100"/>
              <a:buFont typeface="Georgia"/>
              <a:buNone/>
            </a:pPr>
            <a:r>
              <a:rPr b="1" lang="en-US" sz="2100">
                <a:solidFill>
                  <a:srgbClr val="5AAE4A"/>
                </a:solidFill>
                <a:latin typeface="Georgia"/>
                <a:ea typeface="Georgia"/>
                <a:cs typeface="Georgia"/>
                <a:sym typeface="Georgia"/>
              </a:rPr>
              <a:t>PI 3</a:t>
            </a:r>
            <a:endParaRPr sz="2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2" name="Google Shape;292;p8"/>
          <p:cNvSpPr/>
          <p:nvPr/>
        </p:nvSpPr>
        <p:spPr>
          <a:xfrm>
            <a:off x="9336024" y="4846320"/>
            <a:ext cx="2121300" cy="841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9F2F3"/>
              </a:buClr>
              <a:buSzPts val="1150"/>
              <a:buFont typeface="Calibri"/>
              <a:buNone/>
            </a:pPr>
            <a:r>
              <a:rPr lang="en-US" sz="1150">
                <a:solidFill>
                  <a:srgbClr val="E9F2F3"/>
                </a:solidFill>
                <a:latin typeface="Calibri"/>
                <a:ea typeface="Calibri"/>
                <a:cs typeface="Calibri"/>
                <a:sym typeface="Calibri"/>
              </a:rPr>
              <a:t>Ferdigstilling, evaluering &amp; overlevering</a:t>
            </a:r>
            <a:endParaRPr sz="11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97" name="Shape 2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8" name="Google Shape;298;p10"/>
          <p:cNvSpPr/>
          <p:nvPr/>
        </p:nvSpPr>
        <p:spPr>
          <a:xfrm>
            <a:off x="548640" y="475488"/>
            <a:ext cx="420624" cy="420624"/>
          </a:xfrm>
          <a:prstGeom prst="ellipse">
            <a:avLst/>
          </a:prstGeom>
          <a:solidFill>
            <a:srgbClr val="1B7E91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9" name="Google Shape;299;p10"/>
          <p:cNvSpPr/>
          <p:nvPr/>
        </p:nvSpPr>
        <p:spPr>
          <a:xfrm>
            <a:off x="548640" y="475488"/>
            <a:ext cx="420624" cy="42062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b="1" lang="en-US" sz="12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10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0" name="Google Shape;300;p10"/>
          <p:cNvSpPr/>
          <p:nvPr/>
        </p:nvSpPr>
        <p:spPr>
          <a:xfrm>
            <a:off x="1115568" y="475488"/>
            <a:ext cx="10058400" cy="42062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7E91"/>
              </a:buClr>
              <a:buSzPts val="1200"/>
              <a:buFont typeface="Calibri"/>
              <a:buNone/>
            </a:pPr>
            <a:r>
              <a:rPr b="1" lang="en-US" sz="1200">
                <a:solidFill>
                  <a:srgbClr val="1B7E91"/>
                </a:solidFill>
                <a:latin typeface="Calibri"/>
                <a:ea typeface="Calibri"/>
                <a:cs typeface="Calibri"/>
                <a:sym typeface="Calibri"/>
              </a:rPr>
              <a:t>EVALUERING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1" name="Google Shape;301;p10"/>
          <p:cNvSpPr/>
          <p:nvPr/>
        </p:nvSpPr>
        <p:spPr>
          <a:xfrm>
            <a:off x="530352" y="914400"/>
            <a:ext cx="11064240" cy="868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2E38"/>
              </a:buClr>
              <a:buSzPts val="3100"/>
              <a:buFont typeface="Georgia"/>
              <a:buNone/>
            </a:pPr>
            <a:r>
              <a:rPr b="1" lang="en-US" sz="3100">
                <a:solidFill>
                  <a:srgbClr val="0F2E38"/>
                </a:solidFill>
                <a:latin typeface="Georgia"/>
                <a:ea typeface="Georgia"/>
                <a:cs typeface="Georgia"/>
                <a:sym typeface="Georgia"/>
              </a:rPr>
              <a:t>TiltaksAID målt mot DiBKs veiviser</a:t>
            </a:r>
            <a:endParaRPr sz="3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2" name="Google Shape;302;p10"/>
          <p:cNvSpPr/>
          <p:nvPr/>
        </p:nvSpPr>
        <p:spPr>
          <a:xfrm>
            <a:off x="548640" y="6400800"/>
            <a:ext cx="3657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C6E75"/>
              </a:buClr>
              <a:buSzPts val="900"/>
              <a:buFont typeface="Calibri"/>
              <a:buNone/>
            </a:pPr>
            <a:r>
              <a:rPr b="1" lang="en-US" sz="900">
                <a:solidFill>
                  <a:srgbClr val="5C6E75"/>
                </a:solidFill>
                <a:latin typeface="Calibri"/>
                <a:ea typeface="Calibri"/>
                <a:cs typeface="Calibri"/>
                <a:sym typeface="Calibri"/>
              </a:rPr>
              <a:t>TiltaksAID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3" name="Google Shape;303;p10"/>
          <p:cNvSpPr/>
          <p:nvPr/>
        </p:nvSpPr>
        <p:spPr>
          <a:xfrm>
            <a:off x="3657600" y="6400800"/>
            <a:ext cx="5943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5C6E75"/>
              </a:buClr>
              <a:buSzPts val="900"/>
              <a:buFont typeface="Calibri"/>
              <a:buNone/>
            </a:pPr>
            <a:r>
              <a:rPr lang="en-US" sz="900">
                <a:solidFill>
                  <a:srgbClr val="5C6E75"/>
                </a:solidFill>
                <a:latin typeface="Calibri"/>
                <a:ea typeface="Calibri"/>
                <a:cs typeface="Calibri"/>
                <a:sym typeface="Calibri"/>
              </a:rPr>
              <a:t>Evaluering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4" name="Google Shape;304;p10"/>
          <p:cNvSpPr/>
          <p:nvPr/>
        </p:nvSpPr>
        <p:spPr>
          <a:xfrm>
            <a:off x="10058400" y="6400800"/>
            <a:ext cx="1581912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5C6E75"/>
              </a:buClr>
              <a:buSzPts val="900"/>
              <a:buFont typeface="Calibri"/>
              <a:buNone/>
            </a:pPr>
            <a:r>
              <a:rPr lang="en-US" sz="900">
                <a:solidFill>
                  <a:srgbClr val="5C6E75"/>
                </a:solidFill>
                <a:latin typeface="Calibri"/>
                <a:ea typeface="Calibri"/>
                <a:cs typeface="Calibri"/>
                <a:sym typeface="Calibri"/>
              </a:rPr>
              <a:t>10 / 14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5" name="Google Shape;305;p10"/>
          <p:cNvSpPr/>
          <p:nvPr/>
        </p:nvSpPr>
        <p:spPr>
          <a:xfrm>
            <a:off x="548640" y="1627632"/>
            <a:ext cx="1051560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C6E75"/>
              </a:buClr>
              <a:buSzPts val="1350"/>
              <a:buFont typeface="Calibri"/>
              <a:buNone/>
            </a:pPr>
            <a:r>
              <a:rPr i="1" lang="en-US" sz="1350">
                <a:solidFill>
                  <a:srgbClr val="5C6E75"/>
                </a:solidFill>
                <a:latin typeface="Calibri"/>
                <a:ea typeface="Calibri"/>
                <a:cs typeface="Calibri"/>
                <a:sym typeface="Calibri"/>
              </a:rPr>
              <a:t>Kvalitativ evaluering: 8 deltakere løste samme oppgave i begge verktøy, uten å vite hvilket vi hadde laget.</a:t>
            </a:r>
            <a:endParaRPr sz="13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6" name="Google Shape;306;p10"/>
          <p:cNvSpPr/>
          <p:nvPr/>
        </p:nvSpPr>
        <p:spPr>
          <a:xfrm>
            <a:off x="548640" y="2148840"/>
            <a:ext cx="6766560" cy="3246120"/>
          </a:xfrm>
          <a:prstGeom prst="roundRect">
            <a:avLst>
              <a:gd fmla="val 2254" name="adj"/>
            </a:avLst>
          </a:prstGeom>
          <a:solidFill>
            <a:srgbClr val="FFFFFF"/>
          </a:solidFill>
          <a:ln cap="flat" cmpd="sng" w="12700">
            <a:solidFill>
              <a:srgbClr val="D7E3E5"/>
            </a:solidFill>
            <a:prstDash val="solid"/>
            <a:round/>
            <a:headEnd len="sm" w="sm" type="none"/>
            <a:tailEnd len="sm" w="sm" type="none"/>
          </a:ln>
          <a:effectLst>
            <a:outerShdw blurRad="88900" rotWithShape="0" algn="bl" dir="8100000" dist="38100">
              <a:srgbClr val="0F2E38">
                <a:alpha val="12941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7" name="Google Shape;307;p10"/>
          <p:cNvSpPr/>
          <p:nvPr/>
        </p:nvSpPr>
        <p:spPr>
          <a:xfrm>
            <a:off x="777240" y="2249424"/>
            <a:ext cx="63093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2E38"/>
              </a:buClr>
              <a:buSzPts val="1100"/>
              <a:buFont typeface="Calibri"/>
              <a:buNone/>
            </a:pPr>
            <a:r>
              <a:rPr b="1" lang="en-US" sz="1100">
                <a:solidFill>
                  <a:srgbClr val="0F2E38"/>
                </a:solidFill>
                <a:latin typeface="Calibri"/>
                <a:ea typeface="Calibri"/>
                <a:cs typeface="Calibri"/>
                <a:sym typeface="Calibri"/>
              </a:rPr>
              <a:t>Snittresultater per kriterium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308" name="Google Shape;308;p10"/>
          <p:cNvGraphicFramePr/>
          <p:nvPr/>
        </p:nvGraphicFramePr>
        <p:xfrm>
          <a:off x="640080" y="2542032"/>
          <a:ext cx="6583680" cy="2743200"/>
        </p:xfrm>
        <a:graphic>
          <a:graphicData uri="http://schemas.openxmlformats.org/drawingml/2006/chart">
            <c:chart r:id="rId3"/>
          </a:graphicData>
        </a:graphic>
      </p:graphicFrame>
      <p:sp>
        <p:nvSpPr>
          <p:cNvPr id="309" name="Google Shape;309;p10"/>
          <p:cNvSpPr/>
          <p:nvPr/>
        </p:nvSpPr>
        <p:spPr>
          <a:xfrm>
            <a:off x="7543800" y="2148840"/>
            <a:ext cx="4096512" cy="1371600"/>
          </a:xfrm>
          <a:prstGeom prst="roundRect">
            <a:avLst>
              <a:gd fmla="val 5333" name="adj"/>
            </a:avLst>
          </a:prstGeom>
          <a:solidFill>
            <a:srgbClr val="0F2E38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0" name="Google Shape;310;p10"/>
          <p:cNvSpPr/>
          <p:nvPr/>
        </p:nvSpPr>
        <p:spPr>
          <a:xfrm>
            <a:off x="7772400" y="2212848"/>
            <a:ext cx="1828800" cy="12344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AAE4A"/>
              </a:buClr>
              <a:buSzPts val="3800"/>
              <a:buFont typeface="Georgia"/>
              <a:buNone/>
            </a:pPr>
            <a:r>
              <a:rPr b="1" lang="en-US" sz="3800">
                <a:solidFill>
                  <a:srgbClr val="5AAE4A"/>
                </a:solidFill>
                <a:latin typeface="Georgia"/>
                <a:ea typeface="Georgia"/>
                <a:cs typeface="Georgia"/>
                <a:sym typeface="Georgia"/>
              </a:rPr>
              <a:t>−36 %</a:t>
            </a:r>
            <a:endParaRPr sz="3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1" name="Google Shape;311;p10"/>
          <p:cNvSpPr/>
          <p:nvPr/>
        </p:nvSpPr>
        <p:spPr>
          <a:xfrm>
            <a:off x="9555480" y="2148840"/>
            <a:ext cx="1901952" cy="137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b="1" lang="en-US" sz="12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kortere tid på oppgaven</a:t>
            </a:r>
            <a:br>
              <a:rPr b="1" lang="en-US" sz="12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1050">
                <a:solidFill>
                  <a:srgbClr val="E9F2F3"/>
                </a:solidFill>
                <a:latin typeface="Calibri"/>
                <a:ea typeface="Calibri"/>
                <a:cs typeface="Calibri"/>
                <a:sym typeface="Calibri"/>
              </a:rPr>
              <a:t>21:42 -&gt;  13:57 i snitt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2" name="Google Shape;312;p10"/>
          <p:cNvSpPr/>
          <p:nvPr/>
        </p:nvSpPr>
        <p:spPr>
          <a:xfrm>
            <a:off x="7543800" y="3657600"/>
            <a:ext cx="4096512" cy="512064"/>
          </a:xfrm>
          <a:prstGeom prst="roundRect">
            <a:avLst>
              <a:gd fmla="val 8929" name="adj"/>
            </a:avLst>
          </a:prstGeom>
          <a:solidFill>
            <a:srgbClr val="F4F8F9"/>
          </a:solidFill>
          <a:ln cap="flat" cmpd="sng" w="12700">
            <a:solidFill>
              <a:srgbClr val="D7E3E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313" name="Google Shape;313;p1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690104" y="3776472"/>
            <a:ext cx="274320" cy="274320"/>
          </a:xfrm>
          <a:prstGeom prst="rect">
            <a:avLst/>
          </a:prstGeom>
          <a:noFill/>
          <a:ln>
            <a:noFill/>
          </a:ln>
        </p:spPr>
      </p:pic>
      <p:sp>
        <p:nvSpPr>
          <p:cNvPr id="314" name="Google Shape;314;p10"/>
          <p:cNvSpPr/>
          <p:nvPr/>
        </p:nvSpPr>
        <p:spPr>
          <a:xfrm>
            <a:off x="8074152" y="3657600"/>
            <a:ext cx="3438144" cy="51206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1E2A2E"/>
              </a:buClr>
              <a:buSzPts val="980"/>
              <a:buFont typeface="Calibri"/>
              <a:buNone/>
            </a:pPr>
            <a:r>
              <a:rPr lang="en-US" sz="980">
                <a:solidFill>
                  <a:srgbClr val="1E2A2E"/>
                </a:solidFill>
                <a:latin typeface="Calibri"/>
                <a:ea typeface="Calibri"/>
                <a:cs typeface="Calibri"/>
                <a:sym typeface="Calibri"/>
              </a:rPr>
              <a:t>Færre eksterne oppslag, mindre gjetting og høyere selvtillit – lavere kognitiv belastning.</a:t>
            </a:r>
            <a:endParaRPr sz="98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5" name="Google Shape;315;p10"/>
          <p:cNvSpPr/>
          <p:nvPr/>
        </p:nvSpPr>
        <p:spPr>
          <a:xfrm>
            <a:off x="7543800" y="4251960"/>
            <a:ext cx="4096512" cy="512064"/>
          </a:xfrm>
          <a:prstGeom prst="roundRect">
            <a:avLst>
              <a:gd fmla="val 8929" name="adj"/>
            </a:avLst>
          </a:prstGeom>
          <a:solidFill>
            <a:srgbClr val="F4F8F9"/>
          </a:solidFill>
          <a:ln cap="flat" cmpd="sng" w="12700">
            <a:solidFill>
              <a:srgbClr val="D7E3E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316" name="Google Shape;316;p1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690104" y="4370832"/>
            <a:ext cx="274320" cy="274320"/>
          </a:xfrm>
          <a:prstGeom prst="rect">
            <a:avLst/>
          </a:prstGeom>
          <a:noFill/>
          <a:ln>
            <a:noFill/>
          </a:ln>
        </p:spPr>
      </p:pic>
      <p:sp>
        <p:nvSpPr>
          <p:cNvPr id="317" name="Google Shape;317;p10"/>
          <p:cNvSpPr/>
          <p:nvPr/>
        </p:nvSpPr>
        <p:spPr>
          <a:xfrm>
            <a:off x="8074152" y="4251960"/>
            <a:ext cx="3438144" cy="51206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1E2A2E"/>
              </a:buClr>
              <a:buSzPts val="980"/>
              <a:buFont typeface="Calibri"/>
              <a:buNone/>
            </a:pPr>
            <a:r>
              <a:rPr lang="en-US" sz="980">
                <a:solidFill>
                  <a:srgbClr val="1E2A2E"/>
                </a:solidFill>
                <a:latin typeface="Calibri"/>
                <a:ea typeface="Calibri"/>
                <a:cs typeface="Calibri"/>
                <a:sym typeface="Calibri"/>
              </a:rPr>
              <a:t>Brukerne syntes det var klart enklere å visualisere grenser og avstander på kartet.</a:t>
            </a:r>
            <a:endParaRPr sz="98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8" name="Google Shape;318;p10"/>
          <p:cNvSpPr/>
          <p:nvPr/>
        </p:nvSpPr>
        <p:spPr>
          <a:xfrm>
            <a:off x="7543800" y="4846320"/>
            <a:ext cx="4096512" cy="512064"/>
          </a:xfrm>
          <a:prstGeom prst="roundRect">
            <a:avLst>
              <a:gd fmla="val 8929" name="adj"/>
            </a:avLst>
          </a:prstGeom>
          <a:solidFill>
            <a:srgbClr val="FBF1E2"/>
          </a:solidFill>
          <a:ln cap="flat" cmpd="sng" w="12700">
            <a:solidFill>
              <a:srgbClr val="EBD3A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319" name="Google Shape;319;p10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7690104" y="4965192"/>
            <a:ext cx="274320" cy="274320"/>
          </a:xfrm>
          <a:prstGeom prst="rect">
            <a:avLst/>
          </a:prstGeom>
          <a:noFill/>
          <a:ln>
            <a:noFill/>
          </a:ln>
        </p:spPr>
      </p:pic>
      <p:sp>
        <p:nvSpPr>
          <p:cNvPr id="320" name="Google Shape;320;p10"/>
          <p:cNvSpPr/>
          <p:nvPr/>
        </p:nvSpPr>
        <p:spPr>
          <a:xfrm>
            <a:off x="8074152" y="4846320"/>
            <a:ext cx="3438144" cy="51206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1E2A2E"/>
              </a:buClr>
              <a:buSzPts val="980"/>
              <a:buFont typeface="Calibri"/>
              <a:buNone/>
            </a:pPr>
            <a:r>
              <a:rPr lang="en-US" sz="980">
                <a:solidFill>
                  <a:srgbClr val="1E2A2E"/>
                </a:solidFill>
                <a:latin typeface="Calibri"/>
                <a:ea typeface="Calibri"/>
                <a:cs typeface="Calibri"/>
                <a:sym typeface="Calibri"/>
              </a:rPr>
              <a:t>Men: feilraten doblet seg (0,6 → 1,5) – unøyaktig tegning påvirket svarene.</a:t>
            </a:r>
            <a:endParaRPr sz="98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1" name="Google Shape;321;p10"/>
          <p:cNvSpPr/>
          <p:nvPr/>
        </p:nvSpPr>
        <p:spPr>
          <a:xfrm>
            <a:off x="548640" y="5511830"/>
            <a:ext cx="11091600" cy="640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F2E38"/>
              </a:buClr>
              <a:buSzPts val="1150"/>
              <a:buFont typeface="Calibri"/>
              <a:buNone/>
            </a:pPr>
            <a:r>
              <a:rPr i="1" lang="en-US" sz="1150">
                <a:solidFill>
                  <a:srgbClr val="0F2E38"/>
                </a:solidFill>
                <a:latin typeface="Calibri"/>
                <a:ea typeface="Calibri"/>
                <a:cs typeface="Calibri"/>
                <a:sym typeface="Calibri"/>
              </a:rPr>
              <a:t>Et verktøy som øker selvtilliten samtidig som feilraten stiger og som flere oppfattet som en offentlig godkjenning, er nettopp den tillit–nøyaktighet-gapet vi må lukke.</a:t>
            </a:r>
            <a:endParaRPr sz="11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326" name="Shape 3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" name="Google Shape;327;p11"/>
          <p:cNvSpPr/>
          <p:nvPr/>
        </p:nvSpPr>
        <p:spPr>
          <a:xfrm>
            <a:off x="548640" y="475488"/>
            <a:ext cx="420624" cy="420624"/>
          </a:xfrm>
          <a:prstGeom prst="ellipse">
            <a:avLst/>
          </a:prstGeom>
          <a:solidFill>
            <a:srgbClr val="1B7E91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8" name="Google Shape;328;p11"/>
          <p:cNvSpPr/>
          <p:nvPr/>
        </p:nvSpPr>
        <p:spPr>
          <a:xfrm>
            <a:off x="548640" y="475488"/>
            <a:ext cx="420624" cy="42062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b="1" lang="en-US" sz="12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11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9" name="Google Shape;329;p11"/>
          <p:cNvSpPr/>
          <p:nvPr/>
        </p:nvSpPr>
        <p:spPr>
          <a:xfrm>
            <a:off x="1115568" y="475488"/>
            <a:ext cx="10058400" cy="42062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7E91"/>
              </a:buClr>
              <a:buSzPts val="1200"/>
              <a:buFont typeface="Calibri"/>
              <a:buNone/>
            </a:pPr>
            <a:r>
              <a:rPr b="1" lang="en-US" sz="1200">
                <a:solidFill>
                  <a:srgbClr val="1B7E91"/>
                </a:solidFill>
                <a:latin typeface="Calibri"/>
                <a:ea typeface="Calibri"/>
                <a:cs typeface="Calibri"/>
                <a:sym typeface="Calibri"/>
              </a:rPr>
              <a:t>ETTER INNLEVERING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0" name="Google Shape;330;p11"/>
          <p:cNvSpPr/>
          <p:nvPr/>
        </p:nvSpPr>
        <p:spPr>
          <a:xfrm>
            <a:off x="530352" y="914400"/>
            <a:ext cx="11064240" cy="868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2E38"/>
              </a:buClr>
              <a:buSzPts val="3100"/>
              <a:buFont typeface="Georgia"/>
              <a:buNone/>
            </a:pPr>
            <a:r>
              <a:rPr b="1" lang="en-US" sz="3100">
                <a:solidFill>
                  <a:srgbClr val="0F2E38"/>
                </a:solidFill>
                <a:latin typeface="Georgia"/>
                <a:ea typeface="Georgia"/>
                <a:cs typeface="Georgia"/>
                <a:sym typeface="Georgia"/>
              </a:rPr>
              <a:t>Hva vi forbedret videre</a:t>
            </a:r>
            <a:endParaRPr sz="3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1" name="Google Shape;331;p11"/>
          <p:cNvSpPr/>
          <p:nvPr/>
        </p:nvSpPr>
        <p:spPr>
          <a:xfrm>
            <a:off x="548640" y="6400800"/>
            <a:ext cx="3657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C6E75"/>
              </a:buClr>
              <a:buSzPts val="900"/>
              <a:buFont typeface="Calibri"/>
              <a:buNone/>
            </a:pPr>
            <a:r>
              <a:rPr b="1" lang="en-US" sz="900">
                <a:solidFill>
                  <a:srgbClr val="5C6E75"/>
                </a:solidFill>
                <a:latin typeface="Calibri"/>
                <a:ea typeface="Calibri"/>
                <a:cs typeface="Calibri"/>
                <a:sym typeface="Calibri"/>
              </a:rPr>
              <a:t>TiltaksAID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2" name="Google Shape;332;p11"/>
          <p:cNvSpPr/>
          <p:nvPr/>
        </p:nvSpPr>
        <p:spPr>
          <a:xfrm>
            <a:off x="3657600" y="6400800"/>
            <a:ext cx="5943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5C6E75"/>
              </a:buClr>
              <a:buSzPts val="900"/>
              <a:buFont typeface="Calibri"/>
              <a:buNone/>
            </a:pPr>
            <a:r>
              <a:rPr lang="en-US" sz="900">
                <a:solidFill>
                  <a:srgbClr val="5C6E75"/>
                </a:solidFill>
                <a:latin typeface="Calibri"/>
                <a:ea typeface="Calibri"/>
                <a:cs typeface="Calibri"/>
                <a:sym typeface="Calibri"/>
              </a:rPr>
              <a:t>Endringer etter innlevering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3" name="Google Shape;333;p11"/>
          <p:cNvSpPr/>
          <p:nvPr/>
        </p:nvSpPr>
        <p:spPr>
          <a:xfrm>
            <a:off x="10058400" y="6400800"/>
            <a:ext cx="1581912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5C6E75"/>
              </a:buClr>
              <a:buSzPts val="900"/>
              <a:buFont typeface="Calibri"/>
              <a:buNone/>
            </a:pPr>
            <a:r>
              <a:rPr lang="en-US" sz="900">
                <a:solidFill>
                  <a:srgbClr val="5C6E75"/>
                </a:solidFill>
                <a:latin typeface="Calibri"/>
                <a:ea typeface="Calibri"/>
                <a:cs typeface="Calibri"/>
                <a:sym typeface="Calibri"/>
              </a:rPr>
              <a:t>11 / 14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4" name="Google Shape;334;p11"/>
          <p:cNvSpPr/>
          <p:nvPr/>
        </p:nvSpPr>
        <p:spPr>
          <a:xfrm>
            <a:off x="548640" y="1627632"/>
            <a:ext cx="1069848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C6E75"/>
              </a:buClr>
              <a:buSzPts val="1400"/>
              <a:buFont typeface="Calibri"/>
              <a:buNone/>
            </a:pPr>
            <a:r>
              <a:rPr i="1" lang="en-US" sz="1400">
                <a:solidFill>
                  <a:srgbClr val="5C6E75"/>
                </a:solidFill>
                <a:latin typeface="Calibri"/>
                <a:ea typeface="Calibri"/>
                <a:cs typeface="Calibri"/>
                <a:sym typeface="Calibri"/>
              </a:rPr>
              <a:t>Evalueringen pekte rett på hva som må prioriteres – disse endringene adresserer tillit–nøyaktighet-gapet direkte.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5" name="Google Shape;335;p11"/>
          <p:cNvSpPr/>
          <p:nvPr/>
        </p:nvSpPr>
        <p:spPr>
          <a:xfrm>
            <a:off x="548640" y="2194560"/>
            <a:ext cx="3520440" cy="2286000"/>
          </a:xfrm>
          <a:prstGeom prst="roundRect">
            <a:avLst>
              <a:gd fmla="val 3200" name="adj"/>
            </a:avLst>
          </a:prstGeom>
          <a:solidFill>
            <a:srgbClr val="FFFFFF"/>
          </a:solidFill>
          <a:ln cap="flat" cmpd="sng" w="12700">
            <a:solidFill>
              <a:srgbClr val="D7E3E5"/>
            </a:solidFill>
            <a:prstDash val="solid"/>
            <a:round/>
            <a:headEnd len="sm" w="sm" type="none"/>
            <a:tailEnd len="sm" w="sm" type="none"/>
          </a:ln>
          <a:effectLst>
            <a:outerShdw blurRad="88900" rotWithShape="0" algn="bl" dir="8100000" dist="38100">
              <a:srgbClr val="0F2E38">
                <a:alpha val="12941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6" name="Google Shape;336;p11"/>
          <p:cNvSpPr/>
          <p:nvPr/>
        </p:nvSpPr>
        <p:spPr>
          <a:xfrm>
            <a:off x="548640" y="2194560"/>
            <a:ext cx="3520440" cy="91440"/>
          </a:xfrm>
          <a:prstGeom prst="rect">
            <a:avLst/>
          </a:prstGeom>
          <a:solidFill>
            <a:srgbClr val="5AAE4A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7" name="Google Shape;337;p11"/>
          <p:cNvSpPr/>
          <p:nvPr/>
        </p:nvSpPr>
        <p:spPr>
          <a:xfrm>
            <a:off x="822960" y="2487168"/>
            <a:ext cx="731520" cy="731520"/>
          </a:xfrm>
          <a:prstGeom prst="ellipse">
            <a:avLst/>
          </a:prstGeom>
          <a:solidFill>
            <a:srgbClr val="1B7E91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338" name="Google Shape;338;p1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13155" y="2677363"/>
            <a:ext cx="351130" cy="351130"/>
          </a:xfrm>
          <a:prstGeom prst="rect">
            <a:avLst/>
          </a:prstGeom>
          <a:noFill/>
          <a:ln>
            <a:noFill/>
          </a:ln>
        </p:spPr>
      </p:pic>
      <p:sp>
        <p:nvSpPr>
          <p:cNvPr id="339" name="Google Shape;339;p11"/>
          <p:cNvSpPr/>
          <p:nvPr/>
        </p:nvSpPr>
        <p:spPr>
          <a:xfrm>
            <a:off x="3355848" y="2505456"/>
            <a:ext cx="457200" cy="457200"/>
          </a:xfrm>
          <a:prstGeom prst="ellipse">
            <a:avLst/>
          </a:prstGeom>
          <a:solidFill>
            <a:srgbClr val="E9F2F3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0" name="Google Shape;340;p11"/>
          <p:cNvSpPr/>
          <p:nvPr/>
        </p:nvSpPr>
        <p:spPr>
          <a:xfrm>
            <a:off x="3355848" y="2505456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B7E91"/>
              </a:buClr>
              <a:buSzPts val="1600"/>
              <a:buFont typeface="Georgia"/>
              <a:buNone/>
            </a:pPr>
            <a:r>
              <a:rPr b="1" lang="en-US" sz="1600">
                <a:solidFill>
                  <a:srgbClr val="1B7E91"/>
                </a:solidFill>
                <a:latin typeface="Georgia"/>
                <a:ea typeface="Georgia"/>
                <a:cs typeface="Georgia"/>
                <a:sym typeface="Georgia"/>
              </a:rPr>
              <a:t>1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1" name="Google Shape;341;p11"/>
          <p:cNvSpPr/>
          <p:nvPr/>
        </p:nvSpPr>
        <p:spPr>
          <a:xfrm>
            <a:off x="822960" y="3291840"/>
            <a:ext cx="2990088" cy="6583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2E38"/>
              </a:buClr>
              <a:buSzPts val="1450"/>
              <a:buFont typeface="Georgia"/>
              <a:buNone/>
            </a:pPr>
            <a:r>
              <a:rPr b="1" lang="en-US" sz="1450">
                <a:solidFill>
                  <a:srgbClr val="0F2E38"/>
                </a:solidFill>
                <a:latin typeface="Georgia"/>
                <a:ea typeface="Georgia"/>
                <a:cs typeface="Georgia"/>
                <a:sym typeface="Georgia"/>
              </a:rPr>
              <a:t>Tydeligere tutorial</a:t>
            </a:r>
            <a:endParaRPr sz="14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2" name="Google Shape;342;p11"/>
          <p:cNvSpPr/>
          <p:nvPr/>
        </p:nvSpPr>
        <p:spPr>
          <a:xfrm>
            <a:off x="822960" y="3895344"/>
            <a:ext cx="2990088" cy="53035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>
                <a:srgbClr val="1E2A2E"/>
              </a:buClr>
              <a:buSzPts val="1080"/>
              <a:buFont typeface="Calibri"/>
              <a:buNone/>
            </a:pPr>
            <a:r>
              <a:rPr lang="en-US" sz="1080">
                <a:solidFill>
                  <a:srgbClr val="1E2A2E"/>
                </a:solidFill>
                <a:latin typeface="Calibri"/>
                <a:ea typeface="Calibri"/>
                <a:cs typeface="Calibri"/>
                <a:sym typeface="Calibri"/>
              </a:rPr>
              <a:t>Vises automatisk etter eiendomssøk og forklarer tegneverktøyet – senker feilraten og intrinsisk belastning.</a:t>
            </a:r>
            <a:endParaRPr sz="108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3" name="Google Shape;343;p11"/>
          <p:cNvSpPr/>
          <p:nvPr/>
        </p:nvSpPr>
        <p:spPr>
          <a:xfrm>
            <a:off x="4334256" y="2194560"/>
            <a:ext cx="3520440" cy="2286000"/>
          </a:xfrm>
          <a:prstGeom prst="roundRect">
            <a:avLst>
              <a:gd fmla="val 3200" name="adj"/>
            </a:avLst>
          </a:prstGeom>
          <a:solidFill>
            <a:srgbClr val="FFFFFF"/>
          </a:solidFill>
          <a:ln cap="flat" cmpd="sng" w="12700">
            <a:solidFill>
              <a:srgbClr val="D7E3E5"/>
            </a:solidFill>
            <a:prstDash val="solid"/>
            <a:round/>
            <a:headEnd len="sm" w="sm" type="none"/>
            <a:tailEnd len="sm" w="sm" type="none"/>
          </a:ln>
          <a:effectLst>
            <a:outerShdw blurRad="88900" rotWithShape="0" algn="bl" dir="8100000" dist="38100">
              <a:srgbClr val="0F2E38">
                <a:alpha val="12941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4" name="Google Shape;344;p11"/>
          <p:cNvSpPr/>
          <p:nvPr/>
        </p:nvSpPr>
        <p:spPr>
          <a:xfrm>
            <a:off x="4334256" y="2194560"/>
            <a:ext cx="3520440" cy="91440"/>
          </a:xfrm>
          <a:prstGeom prst="rect">
            <a:avLst/>
          </a:prstGeom>
          <a:solidFill>
            <a:srgbClr val="5AAE4A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5" name="Google Shape;345;p11"/>
          <p:cNvSpPr/>
          <p:nvPr/>
        </p:nvSpPr>
        <p:spPr>
          <a:xfrm>
            <a:off x="4608576" y="2487168"/>
            <a:ext cx="731520" cy="731520"/>
          </a:xfrm>
          <a:prstGeom prst="ellipse">
            <a:avLst/>
          </a:prstGeom>
          <a:solidFill>
            <a:srgbClr val="1B7E91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346" name="Google Shape;346;p1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798771" y="2677363"/>
            <a:ext cx="351130" cy="351130"/>
          </a:xfrm>
          <a:prstGeom prst="rect">
            <a:avLst/>
          </a:prstGeom>
          <a:noFill/>
          <a:ln>
            <a:noFill/>
          </a:ln>
        </p:spPr>
      </p:pic>
      <p:sp>
        <p:nvSpPr>
          <p:cNvPr id="347" name="Google Shape;347;p11"/>
          <p:cNvSpPr/>
          <p:nvPr/>
        </p:nvSpPr>
        <p:spPr>
          <a:xfrm>
            <a:off x="7141464" y="2505456"/>
            <a:ext cx="457200" cy="457200"/>
          </a:xfrm>
          <a:prstGeom prst="ellipse">
            <a:avLst/>
          </a:prstGeom>
          <a:solidFill>
            <a:srgbClr val="E9F2F3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8" name="Google Shape;348;p11"/>
          <p:cNvSpPr/>
          <p:nvPr/>
        </p:nvSpPr>
        <p:spPr>
          <a:xfrm>
            <a:off x="7141464" y="2505456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B7E91"/>
              </a:buClr>
              <a:buSzPts val="1600"/>
              <a:buFont typeface="Georgia"/>
              <a:buNone/>
            </a:pPr>
            <a:r>
              <a:rPr b="1" lang="en-US" sz="1600">
                <a:solidFill>
                  <a:srgbClr val="1B7E91"/>
                </a:solidFill>
                <a:latin typeface="Georgia"/>
                <a:ea typeface="Georgia"/>
                <a:cs typeface="Georgia"/>
                <a:sym typeface="Georgia"/>
              </a:rPr>
              <a:t>2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9" name="Google Shape;349;p11"/>
          <p:cNvSpPr/>
          <p:nvPr/>
        </p:nvSpPr>
        <p:spPr>
          <a:xfrm>
            <a:off x="4608576" y="3291840"/>
            <a:ext cx="2990088" cy="6583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2E38"/>
              </a:buClr>
              <a:buSzPts val="1450"/>
              <a:buFont typeface="Georgia"/>
              <a:buNone/>
            </a:pPr>
            <a:r>
              <a:rPr b="1" lang="en-US" sz="1450">
                <a:solidFill>
                  <a:srgbClr val="0F2E38"/>
                </a:solidFill>
                <a:latin typeface="Georgia"/>
                <a:ea typeface="Georgia"/>
                <a:cs typeface="Georgia"/>
                <a:sym typeface="Georgia"/>
              </a:rPr>
              <a:t>Automatisk henting av arealplaner</a:t>
            </a:r>
            <a:endParaRPr sz="14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0" name="Google Shape;350;p11"/>
          <p:cNvSpPr/>
          <p:nvPr/>
        </p:nvSpPr>
        <p:spPr>
          <a:xfrm>
            <a:off x="4608576" y="3895344"/>
            <a:ext cx="2990088" cy="53035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>
                <a:srgbClr val="1E2A2E"/>
              </a:buClr>
              <a:buSzPts val="1080"/>
              <a:buFont typeface="Calibri"/>
              <a:buNone/>
            </a:pPr>
            <a:r>
              <a:rPr lang="en-US" sz="1080">
                <a:solidFill>
                  <a:srgbClr val="1E2A2E"/>
                </a:solidFill>
                <a:latin typeface="Calibri"/>
                <a:ea typeface="Calibri"/>
                <a:cs typeface="Calibri"/>
                <a:sym typeface="Calibri"/>
              </a:rPr>
              <a:t>Eiendomsspesifikke planer hentes og vises, slik at brukeren slipper å lete dem opp selv.</a:t>
            </a:r>
            <a:endParaRPr sz="108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1" name="Google Shape;351;p11"/>
          <p:cNvSpPr/>
          <p:nvPr/>
        </p:nvSpPr>
        <p:spPr>
          <a:xfrm>
            <a:off x="8119872" y="2194560"/>
            <a:ext cx="3520440" cy="2286000"/>
          </a:xfrm>
          <a:prstGeom prst="roundRect">
            <a:avLst>
              <a:gd fmla="val 3200" name="adj"/>
            </a:avLst>
          </a:prstGeom>
          <a:solidFill>
            <a:srgbClr val="FFFFFF"/>
          </a:solidFill>
          <a:ln cap="flat" cmpd="sng" w="12700">
            <a:solidFill>
              <a:srgbClr val="D7E3E5"/>
            </a:solidFill>
            <a:prstDash val="solid"/>
            <a:round/>
            <a:headEnd len="sm" w="sm" type="none"/>
            <a:tailEnd len="sm" w="sm" type="none"/>
          </a:ln>
          <a:effectLst>
            <a:outerShdw blurRad="88900" rotWithShape="0" algn="bl" dir="8100000" dist="38100">
              <a:srgbClr val="0F2E38">
                <a:alpha val="12941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2" name="Google Shape;352;p11"/>
          <p:cNvSpPr/>
          <p:nvPr/>
        </p:nvSpPr>
        <p:spPr>
          <a:xfrm>
            <a:off x="8119872" y="2194560"/>
            <a:ext cx="3520440" cy="91440"/>
          </a:xfrm>
          <a:prstGeom prst="rect">
            <a:avLst/>
          </a:prstGeom>
          <a:solidFill>
            <a:srgbClr val="5AAE4A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3" name="Google Shape;353;p11"/>
          <p:cNvSpPr/>
          <p:nvPr/>
        </p:nvSpPr>
        <p:spPr>
          <a:xfrm>
            <a:off x="8394192" y="2487168"/>
            <a:ext cx="731520" cy="731520"/>
          </a:xfrm>
          <a:prstGeom prst="ellipse">
            <a:avLst/>
          </a:prstGeom>
          <a:solidFill>
            <a:srgbClr val="1B7E91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354" name="Google Shape;354;p11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8584387" y="2677363"/>
            <a:ext cx="351130" cy="351130"/>
          </a:xfrm>
          <a:prstGeom prst="rect">
            <a:avLst/>
          </a:prstGeom>
          <a:noFill/>
          <a:ln>
            <a:noFill/>
          </a:ln>
        </p:spPr>
      </p:pic>
      <p:sp>
        <p:nvSpPr>
          <p:cNvPr id="355" name="Google Shape;355;p11"/>
          <p:cNvSpPr/>
          <p:nvPr/>
        </p:nvSpPr>
        <p:spPr>
          <a:xfrm>
            <a:off x="10927080" y="2505456"/>
            <a:ext cx="457200" cy="457200"/>
          </a:xfrm>
          <a:prstGeom prst="ellipse">
            <a:avLst/>
          </a:prstGeom>
          <a:solidFill>
            <a:srgbClr val="E9F2F3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6" name="Google Shape;356;p11"/>
          <p:cNvSpPr/>
          <p:nvPr/>
        </p:nvSpPr>
        <p:spPr>
          <a:xfrm>
            <a:off x="10927080" y="2505456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B7E91"/>
              </a:buClr>
              <a:buSzPts val="1600"/>
              <a:buFont typeface="Georgia"/>
              <a:buNone/>
            </a:pPr>
            <a:r>
              <a:rPr b="1" lang="en-US" sz="1600">
                <a:solidFill>
                  <a:srgbClr val="1B7E91"/>
                </a:solidFill>
                <a:latin typeface="Georgia"/>
                <a:ea typeface="Georgia"/>
                <a:cs typeface="Georgia"/>
                <a:sym typeface="Georgia"/>
              </a:rPr>
              <a:t>3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7" name="Google Shape;357;p11"/>
          <p:cNvSpPr/>
          <p:nvPr/>
        </p:nvSpPr>
        <p:spPr>
          <a:xfrm>
            <a:off x="8394192" y="3291840"/>
            <a:ext cx="2990088" cy="6583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2E38"/>
              </a:buClr>
              <a:buSzPts val="1450"/>
              <a:buFont typeface="Georgia"/>
              <a:buNone/>
            </a:pPr>
            <a:r>
              <a:rPr b="1" lang="en-US" sz="1450">
                <a:solidFill>
                  <a:srgbClr val="0F2E38"/>
                </a:solidFill>
                <a:latin typeface="Georgia"/>
                <a:ea typeface="Georgia"/>
                <a:cs typeface="Georgia"/>
                <a:sym typeface="Georgia"/>
              </a:rPr>
              <a:t>Visualisering av fagbegreper</a:t>
            </a:r>
            <a:endParaRPr sz="14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8" name="Google Shape;358;p11"/>
          <p:cNvSpPr/>
          <p:nvPr/>
        </p:nvSpPr>
        <p:spPr>
          <a:xfrm>
            <a:off x="8394192" y="3895344"/>
            <a:ext cx="2990088" cy="53035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>
                <a:srgbClr val="1E2A2E"/>
              </a:buClr>
              <a:buSzPts val="1080"/>
              <a:buFont typeface="Calibri"/>
              <a:buNone/>
            </a:pPr>
            <a:r>
              <a:rPr lang="en-US" sz="1080">
                <a:solidFill>
                  <a:srgbClr val="1E2A2E"/>
                </a:solidFill>
                <a:latin typeface="Calibri"/>
                <a:ea typeface="Calibri"/>
                <a:cs typeface="Calibri"/>
                <a:sym typeface="Calibri"/>
              </a:rPr>
              <a:t>Bilder og forklaringer av begreper som gesims- og mønehøyde reduserer feiltolkning.</a:t>
            </a:r>
            <a:endParaRPr sz="108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9" name="Google Shape;359;p11"/>
          <p:cNvSpPr/>
          <p:nvPr/>
        </p:nvSpPr>
        <p:spPr>
          <a:xfrm>
            <a:off x="548640" y="4736592"/>
            <a:ext cx="11091672" cy="749808"/>
          </a:xfrm>
          <a:prstGeom prst="roundRect">
            <a:avLst>
              <a:gd fmla="val 9756" name="adj"/>
            </a:avLst>
          </a:prstGeom>
          <a:solidFill>
            <a:srgbClr val="0F2E38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360" name="Google Shape;360;p11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786384" y="4928616"/>
            <a:ext cx="365760" cy="365760"/>
          </a:xfrm>
          <a:prstGeom prst="rect">
            <a:avLst/>
          </a:prstGeom>
          <a:noFill/>
          <a:ln>
            <a:noFill/>
          </a:ln>
        </p:spPr>
      </p:pic>
      <p:sp>
        <p:nvSpPr>
          <p:cNvPr id="361" name="Google Shape;361;p11"/>
          <p:cNvSpPr/>
          <p:nvPr/>
        </p:nvSpPr>
        <p:spPr>
          <a:xfrm>
            <a:off x="1298448" y="4736592"/>
            <a:ext cx="10149840" cy="7498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AAE4A"/>
              </a:buClr>
              <a:buSzPts val="1200"/>
              <a:buFont typeface="Calibri"/>
              <a:buNone/>
            </a:pPr>
            <a:r>
              <a:rPr b="1" lang="en-US" sz="1200">
                <a:solidFill>
                  <a:srgbClr val="5AAE4A"/>
                </a:solidFill>
                <a:latin typeface="Calibri"/>
                <a:ea typeface="Calibri"/>
                <a:cs typeface="Calibri"/>
                <a:sym typeface="Calibri"/>
              </a:rPr>
              <a:t>Etter innlevering: </a:t>
            </a:r>
            <a:r>
              <a:rPr lang="en-US" sz="1200">
                <a:solidFill>
                  <a:srgbClr val="E9F2F3"/>
                </a:solidFill>
                <a:latin typeface="Calibri"/>
                <a:ea typeface="Calibri"/>
                <a:cs typeface="Calibri"/>
                <a:sym typeface="Calibri"/>
              </a:rPr>
              <a:t>videre utvikling med optimaliserte databasespørringer, dokumentasjon for fremtidige team og feilretting.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366" name="Shape 3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7" name="Google Shape;367;p12"/>
          <p:cNvSpPr/>
          <p:nvPr/>
        </p:nvSpPr>
        <p:spPr>
          <a:xfrm>
            <a:off x="548640" y="475488"/>
            <a:ext cx="420624" cy="420624"/>
          </a:xfrm>
          <a:prstGeom prst="ellipse">
            <a:avLst/>
          </a:prstGeom>
          <a:solidFill>
            <a:srgbClr val="1B7E91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8" name="Google Shape;368;p12"/>
          <p:cNvSpPr/>
          <p:nvPr/>
        </p:nvSpPr>
        <p:spPr>
          <a:xfrm>
            <a:off x="548640" y="475488"/>
            <a:ext cx="420624" cy="42062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b="1" lang="en-US" sz="12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12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9" name="Google Shape;369;p12"/>
          <p:cNvSpPr/>
          <p:nvPr/>
        </p:nvSpPr>
        <p:spPr>
          <a:xfrm>
            <a:off x="1115568" y="475488"/>
            <a:ext cx="10058400" cy="42062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7E91"/>
              </a:buClr>
              <a:buSzPts val="1200"/>
              <a:buFont typeface="Calibri"/>
              <a:buNone/>
            </a:pPr>
            <a:r>
              <a:rPr b="1" lang="en-US" sz="1200">
                <a:solidFill>
                  <a:srgbClr val="1B7E91"/>
                </a:solidFill>
                <a:latin typeface="Calibri"/>
                <a:ea typeface="Calibri"/>
                <a:cs typeface="Calibri"/>
                <a:sym typeface="Calibri"/>
              </a:rPr>
              <a:t>AVGRENSNING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0" name="Google Shape;370;p12"/>
          <p:cNvSpPr/>
          <p:nvPr/>
        </p:nvSpPr>
        <p:spPr>
          <a:xfrm>
            <a:off x="530352" y="914400"/>
            <a:ext cx="11064240" cy="868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2E38"/>
              </a:buClr>
              <a:buSzPts val="3100"/>
              <a:buFont typeface="Georgia"/>
              <a:buNone/>
            </a:pPr>
            <a:r>
              <a:rPr b="1" lang="en-US" sz="3100">
                <a:solidFill>
                  <a:srgbClr val="0F2E38"/>
                </a:solidFill>
                <a:latin typeface="Georgia"/>
                <a:ea typeface="Georgia"/>
                <a:cs typeface="Georgia"/>
                <a:sym typeface="Georgia"/>
              </a:rPr>
              <a:t>Begrensninger og veien videre</a:t>
            </a:r>
            <a:endParaRPr sz="3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1" name="Google Shape;371;p12"/>
          <p:cNvSpPr/>
          <p:nvPr/>
        </p:nvSpPr>
        <p:spPr>
          <a:xfrm>
            <a:off x="548640" y="6400800"/>
            <a:ext cx="3657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C6E75"/>
              </a:buClr>
              <a:buSzPts val="900"/>
              <a:buFont typeface="Calibri"/>
              <a:buNone/>
            </a:pPr>
            <a:r>
              <a:rPr b="1" lang="en-US" sz="900">
                <a:solidFill>
                  <a:srgbClr val="5C6E75"/>
                </a:solidFill>
                <a:latin typeface="Calibri"/>
                <a:ea typeface="Calibri"/>
                <a:cs typeface="Calibri"/>
                <a:sym typeface="Calibri"/>
              </a:rPr>
              <a:t>TiltaksAID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2" name="Google Shape;372;p12"/>
          <p:cNvSpPr/>
          <p:nvPr/>
        </p:nvSpPr>
        <p:spPr>
          <a:xfrm>
            <a:off x="3657600" y="6400800"/>
            <a:ext cx="5943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5C6E75"/>
              </a:buClr>
              <a:buSzPts val="900"/>
              <a:buFont typeface="Calibri"/>
              <a:buNone/>
            </a:pPr>
            <a:r>
              <a:rPr lang="en-US" sz="900">
                <a:solidFill>
                  <a:srgbClr val="5C6E75"/>
                </a:solidFill>
                <a:latin typeface="Calibri"/>
                <a:ea typeface="Calibri"/>
                <a:cs typeface="Calibri"/>
                <a:sym typeface="Calibri"/>
              </a:rPr>
              <a:t>Begrensninger og videre arbeid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3" name="Google Shape;373;p12"/>
          <p:cNvSpPr/>
          <p:nvPr/>
        </p:nvSpPr>
        <p:spPr>
          <a:xfrm>
            <a:off x="10058400" y="6400800"/>
            <a:ext cx="1581912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5C6E75"/>
              </a:buClr>
              <a:buSzPts val="900"/>
              <a:buFont typeface="Calibri"/>
              <a:buNone/>
            </a:pPr>
            <a:r>
              <a:rPr lang="en-US" sz="900">
                <a:solidFill>
                  <a:srgbClr val="5C6E75"/>
                </a:solidFill>
                <a:latin typeface="Calibri"/>
                <a:ea typeface="Calibri"/>
                <a:cs typeface="Calibri"/>
                <a:sym typeface="Calibri"/>
              </a:rPr>
              <a:t>12 / 14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4" name="Google Shape;374;p12"/>
          <p:cNvSpPr/>
          <p:nvPr/>
        </p:nvSpPr>
        <p:spPr>
          <a:xfrm>
            <a:off x="530340" y="1947495"/>
            <a:ext cx="5349300" cy="4114800"/>
          </a:xfrm>
          <a:prstGeom prst="roundRect">
            <a:avLst>
              <a:gd fmla="val 1778" name="adj"/>
            </a:avLst>
          </a:prstGeom>
          <a:solidFill>
            <a:srgbClr val="F4F8F9"/>
          </a:solidFill>
          <a:ln cap="flat" cmpd="sng" w="12700">
            <a:solidFill>
              <a:srgbClr val="D7E3E5"/>
            </a:solidFill>
            <a:prstDash val="solid"/>
            <a:round/>
            <a:headEnd len="sm" w="sm" type="none"/>
            <a:tailEnd len="sm" w="sm" type="none"/>
          </a:ln>
          <a:effectLst>
            <a:outerShdw blurRad="88900" rotWithShape="0" algn="bl" dir="8100000" dist="38100">
              <a:srgbClr val="0F2E38">
                <a:alpha val="12941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5" name="Google Shape;375;p12"/>
          <p:cNvSpPr/>
          <p:nvPr/>
        </p:nvSpPr>
        <p:spPr>
          <a:xfrm>
            <a:off x="822960" y="2130552"/>
            <a:ext cx="566928" cy="566928"/>
          </a:xfrm>
          <a:prstGeom prst="ellipse">
            <a:avLst/>
          </a:prstGeom>
          <a:solidFill>
            <a:srgbClr val="D98C2B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376" name="Google Shape;376;p1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70361" y="2277953"/>
            <a:ext cx="272125" cy="272125"/>
          </a:xfrm>
          <a:prstGeom prst="rect">
            <a:avLst/>
          </a:prstGeom>
          <a:noFill/>
          <a:ln>
            <a:noFill/>
          </a:ln>
        </p:spPr>
      </p:pic>
      <p:sp>
        <p:nvSpPr>
          <p:cNvPr id="377" name="Google Shape;377;p12"/>
          <p:cNvSpPr/>
          <p:nvPr/>
        </p:nvSpPr>
        <p:spPr>
          <a:xfrm>
            <a:off x="1508760" y="2130552"/>
            <a:ext cx="4251960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2E38"/>
              </a:buClr>
              <a:buSzPts val="1650"/>
              <a:buFont typeface="Georgia"/>
              <a:buNone/>
            </a:pPr>
            <a:r>
              <a:rPr b="1" lang="en-US" sz="1650">
                <a:solidFill>
                  <a:srgbClr val="0F2E38"/>
                </a:solidFill>
                <a:latin typeface="Georgia"/>
                <a:ea typeface="Georgia"/>
                <a:cs typeface="Georgia"/>
                <a:sym typeface="Georgia"/>
              </a:rPr>
              <a:t>Begrensninger i MVP-et</a:t>
            </a:r>
            <a:endParaRPr sz="16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8" name="Google Shape;378;p12"/>
          <p:cNvSpPr/>
          <p:nvPr/>
        </p:nvSpPr>
        <p:spPr>
          <a:xfrm>
            <a:off x="859561" y="2971842"/>
            <a:ext cx="118800" cy="118800"/>
          </a:xfrm>
          <a:prstGeom prst="ellipse">
            <a:avLst/>
          </a:prstGeom>
          <a:solidFill>
            <a:srgbClr val="D98C2B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9" name="Google Shape;379;p12"/>
          <p:cNvSpPr/>
          <p:nvPr/>
        </p:nvSpPr>
        <p:spPr>
          <a:xfrm>
            <a:off x="1097218" y="2848350"/>
            <a:ext cx="45264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A2E"/>
              </a:buClr>
              <a:buSzPts val="1200"/>
              <a:buFont typeface="Calibri"/>
              <a:buNone/>
            </a:pPr>
            <a:r>
              <a:rPr lang="en-US" sz="1200">
                <a:solidFill>
                  <a:srgbClr val="1E2A2E"/>
                </a:solidFill>
                <a:latin typeface="Calibri"/>
                <a:ea typeface="Calibri"/>
                <a:cs typeface="Calibri"/>
                <a:sym typeface="Calibri"/>
              </a:rPr>
              <a:t>Sensitiv vann og avløp-infrastruktur kan ikke vises automatisk uten innlogging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0" name="Google Shape;380;p12"/>
          <p:cNvSpPr/>
          <p:nvPr/>
        </p:nvSpPr>
        <p:spPr>
          <a:xfrm>
            <a:off x="859561" y="3625633"/>
            <a:ext cx="118800" cy="118800"/>
          </a:xfrm>
          <a:prstGeom prst="ellipse">
            <a:avLst/>
          </a:prstGeom>
          <a:solidFill>
            <a:srgbClr val="D98C2B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1" name="Google Shape;381;p12"/>
          <p:cNvSpPr/>
          <p:nvPr/>
        </p:nvSpPr>
        <p:spPr>
          <a:xfrm>
            <a:off x="1097280" y="3450717"/>
            <a:ext cx="45264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A2E"/>
              </a:buClr>
              <a:buSzPts val="1200"/>
              <a:buFont typeface="Calibri"/>
              <a:buNone/>
            </a:pPr>
            <a:r>
              <a:rPr lang="en-US" sz="1200">
                <a:solidFill>
                  <a:srgbClr val="1E2A2E"/>
                </a:solidFill>
                <a:latin typeface="Calibri"/>
                <a:ea typeface="Calibri"/>
                <a:cs typeface="Calibri"/>
                <a:sym typeface="Calibri"/>
              </a:rPr>
              <a:t>Vurderer kun nasjonale regler – ikke reguleringsplaner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2" name="Google Shape;382;p12"/>
          <p:cNvSpPr/>
          <p:nvPr/>
        </p:nvSpPr>
        <p:spPr>
          <a:xfrm>
            <a:off x="6291072" y="1874520"/>
            <a:ext cx="5349240" cy="4114800"/>
          </a:xfrm>
          <a:prstGeom prst="roundRect">
            <a:avLst>
              <a:gd fmla="val 1778" name="adj"/>
            </a:avLst>
          </a:prstGeom>
          <a:solidFill>
            <a:srgbClr val="0F2E38"/>
          </a:solidFill>
          <a:ln>
            <a:noFill/>
          </a:ln>
          <a:effectLst>
            <a:outerShdw blurRad="88900" rotWithShape="0" algn="bl" dir="8100000" dist="38100">
              <a:srgbClr val="0F2E38">
                <a:alpha val="12941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3" name="Google Shape;383;p12"/>
          <p:cNvSpPr/>
          <p:nvPr/>
        </p:nvSpPr>
        <p:spPr>
          <a:xfrm>
            <a:off x="6565392" y="2130552"/>
            <a:ext cx="566928" cy="566928"/>
          </a:xfrm>
          <a:prstGeom prst="ellipse">
            <a:avLst/>
          </a:prstGeom>
          <a:solidFill>
            <a:srgbClr val="5AAE4A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384" name="Google Shape;384;p1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712793" y="2277953"/>
            <a:ext cx="272125" cy="272125"/>
          </a:xfrm>
          <a:prstGeom prst="rect">
            <a:avLst/>
          </a:prstGeom>
          <a:noFill/>
          <a:ln>
            <a:noFill/>
          </a:ln>
        </p:spPr>
      </p:pic>
      <p:sp>
        <p:nvSpPr>
          <p:cNvPr id="385" name="Google Shape;385;p12"/>
          <p:cNvSpPr/>
          <p:nvPr/>
        </p:nvSpPr>
        <p:spPr>
          <a:xfrm>
            <a:off x="7251192" y="2130552"/>
            <a:ext cx="4251960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50"/>
              <a:buFont typeface="Georgia"/>
              <a:buNone/>
            </a:pPr>
            <a:r>
              <a:rPr b="1" lang="en-US" sz="1650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Veien videre</a:t>
            </a:r>
            <a:endParaRPr sz="16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386" name="Google Shape;386;p12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583680" y="2926080"/>
            <a:ext cx="201168" cy="201168"/>
          </a:xfrm>
          <a:prstGeom prst="rect">
            <a:avLst/>
          </a:prstGeom>
          <a:noFill/>
          <a:ln>
            <a:noFill/>
          </a:ln>
        </p:spPr>
      </p:pic>
      <p:sp>
        <p:nvSpPr>
          <p:cNvPr id="387" name="Google Shape;387;p12"/>
          <p:cNvSpPr/>
          <p:nvPr/>
        </p:nvSpPr>
        <p:spPr>
          <a:xfrm>
            <a:off x="6894576" y="2843784"/>
            <a:ext cx="448056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9F2F3"/>
              </a:buClr>
              <a:buSzPts val="1200"/>
              <a:buFont typeface="Calibri"/>
              <a:buNone/>
            </a:pPr>
            <a:r>
              <a:rPr lang="en-US" sz="1200">
                <a:solidFill>
                  <a:srgbClr val="E9F2F3"/>
                </a:solidFill>
                <a:latin typeface="Calibri"/>
                <a:ea typeface="Calibri"/>
                <a:cs typeface="Calibri"/>
                <a:sym typeface="Calibri"/>
              </a:rPr>
              <a:t>Finne en måte å bruke den avsluttende </a:t>
            </a:r>
            <a:r>
              <a:rPr lang="en-US" sz="1200">
                <a:solidFill>
                  <a:srgbClr val="E9F2F3"/>
                </a:solidFill>
                <a:latin typeface="Calibri"/>
                <a:ea typeface="Calibri"/>
                <a:cs typeface="Calibri"/>
                <a:sym typeface="Calibri"/>
              </a:rPr>
              <a:t>PDF</a:t>
            </a:r>
            <a:r>
              <a:rPr lang="en-US" sz="1200">
                <a:solidFill>
                  <a:srgbClr val="E9F2F3"/>
                </a:solidFill>
                <a:latin typeface="Calibri"/>
                <a:ea typeface="Calibri"/>
                <a:cs typeface="Calibri"/>
                <a:sym typeface="Calibri"/>
              </a:rPr>
              <a:t> på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388" name="Google Shape;388;p12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583680" y="3584438"/>
            <a:ext cx="201168" cy="201168"/>
          </a:xfrm>
          <a:prstGeom prst="rect">
            <a:avLst/>
          </a:prstGeom>
          <a:noFill/>
          <a:ln>
            <a:noFill/>
          </a:ln>
        </p:spPr>
      </p:pic>
      <p:sp>
        <p:nvSpPr>
          <p:cNvPr id="389" name="Google Shape;389;p12"/>
          <p:cNvSpPr/>
          <p:nvPr/>
        </p:nvSpPr>
        <p:spPr>
          <a:xfrm>
            <a:off x="6894601" y="3447292"/>
            <a:ext cx="44805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9F2F3"/>
              </a:buClr>
              <a:buSzPts val="1200"/>
              <a:buFont typeface="Calibri"/>
              <a:buNone/>
            </a:pPr>
            <a:r>
              <a:rPr lang="en-US" sz="1200">
                <a:solidFill>
                  <a:srgbClr val="E9F2F3"/>
                </a:solidFill>
                <a:latin typeface="Calibri"/>
                <a:ea typeface="Calibri"/>
                <a:cs typeface="Calibri"/>
                <a:sym typeface="Calibri"/>
              </a:rPr>
              <a:t>Eiendoms/regions spesifikk veiviser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390" name="Google Shape;390;p12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569993" y="4178842"/>
            <a:ext cx="201168" cy="201168"/>
          </a:xfrm>
          <a:prstGeom prst="rect">
            <a:avLst/>
          </a:prstGeom>
          <a:noFill/>
          <a:ln>
            <a:noFill/>
          </a:ln>
        </p:spPr>
      </p:pic>
      <p:sp>
        <p:nvSpPr>
          <p:cNvPr id="391" name="Google Shape;391;p12"/>
          <p:cNvSpPr/>
          <p:nvPr/>
        </p:nvSpPr>
        <p:spPr>
          <a:xfrm>
            <a:off x="6880876" y="4050821"/>
            <a:ext cx="44805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9F2F3"/>
              </a:buClr>
              <a:buSzPts val="1200"/>
              <a:buFont typeface="Calibri"/>
              <a:buNone/>
            </a:pPr>
            <a:r>
              <a:rPr lang="en-US" sz="1200">
                <a:solidFill>
                  <a:srgbClr val="E9F2F3"/>
                </a:solidFill>
                <a:latin typeface="Calibri"/>
                <a:ea typeface="Calibri"/>
                <a:cs typeface="Calibri"/>
                <a:sym typeface="Calibri"/>
              </a:rPr>
              <a:t>Gjøre kartet mer tilgjengelig for eldre brukere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392" name="Google Shape;392;p12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528818" y="4750292"/>
            <a:ext cx="201168" cy="201168"/>
          </a:xfrm>
          <a:prstGeom prst="rect">
            <a:avLst/>
          </a:prstGeom>
          <a:noFill/>
          <a:ln>
            <a:noFill/>
          </a:ln>
        </p:spPr>
      </p:pic>
      <p:sp>
        <p:nvSpPr>
          <p:cNvPr id="393" name="Google Shape;393;p12"/>
          <p:cNvSpPr/>
          <p:nvPr/>
        </p:nvSpPr>
        <p:spPr>
          <a:xfrm>
            <a:off x="6894588" y="4622284"/>
            <a:ext cx="44805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9F2F3"/>
              </a:buClr>
              <a:buSzPts val="1200"/>
              <a:buFont typeface="Calibri"/>
              <a:buNone/>
            </a:pPr>
            <a:r>
              <a:rPr lang="en-US" sz="1200">
                <a:solidFill>
                  <a:srgbClr val="E9F2F3"/>
                </a:solidFill>
                <a:latin typeface="Calibri"/>
                <a:ea typeface="Calibri"/>
                <a:cs typeface="Calibri"/>
                <a:sym typeface="Calibri"/>
              </a:rPr>
              <a:t>Integrert kart vs kun mer tilgjengelige spørreskjema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2E38"/>
        </a:solidFill>
      </p:bgPr>
    </p:bg>
    <p:spTree>
      <p:nvGrpSpPr>
        <p:cNvPr id="398" name="Shape 3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" name="Google Shape;399;p13"/>
          <p:cNvSpPr/>
          <p:nvPr/>
        </p:nvSpPr>
        <p:spPr>
          <a:xfrm rot="960023">
            <a:off x="8878133" y="-1077588"/>
            <a:ext cx="4937895" cy="4937895"/>
          </a:xfrm>
          <a:prstGeom prst="roundRect">
            <a:avLst>
              <a:gd fmla="val 9259" name="adj"/>
            </a:avLst>
          </a:prstGeom>
          <a:solidFill>
            <a:srgbClr val="1B7E91">
              <a:alpha val="14117"/>
            </a:srgbClr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0" name="Google Shape;400;p13"/>
          <p:cNvSpPr/>
          <p:nvPr/>
        </p:nvSpPr>
        <p:spPr>
          <a:xfrm rot="600000">
            <a:off x="9966960" y="3291840"/>
            <a:ext cx="4023360" cy="4023360"/>
          </a:xfrm>
          <a:prstGeom prst="roundRect">
            <a:avLst>
              <a:gd fmla="val 11364" name="adj"/>
            </a:avLst>
          </a:prstGeom>
          <a:solidFill>
            <a:srgbClr val="5AAE4A">
              <a:alpha val="12156"/>
            </a:srgbClr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1" name="Google Shape;401;p13"/>
          <p:cNvSpPr/>
          <p:nvPr/>
        </p:nvSpPr>
        <p:spPr>
          <a:xfrm>
            <a:off x="822960" y="777240"/>
            <a:ext cx="73152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AAE4A"/>
              </a:buClr>
              <a:buSzPts val="1300"/>
              <a:buFont typeface="Calibri"/>
              <a:buNone/>
            </a:pPr>
            <a:r>
              <a:rPr b="1" lang="en-US" sz="1300">
                <a:solidFill>
                  <a:srgbClr val="5AAE4A"/>
                </a:solidFill>
                <a:latin typeface="Calibri"/>
                <a:ea typeface="Calibri"/>
                <a:cs typeface="Calibri"/>
                <a:sym typeface="Calibri"/>
              </a:rPr>
              <a:t>KONKLUSJON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2" name="Google Shape;402;p13"/>
          <p:cNvSpPr/>
          <p:nvPr/>
        </p:nvSpPr>
        <p:spPr>
          <a:xfrm>
            <a:off x="777240" y="1143000"/>
            <a:ext cx="10424160" cy="11887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300"/>
              <a:buFont typeface="Georgia"/>
              <a:buNone/>
            </a:pPr>
            <a:r>
              <a:rPr b="1" lang="en-US" sz="3300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Et målbart steg mot enklere byggeveiledning</a:t>
            </a:r>
            <a:endParaRPr sz="3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3" name="Google Shape;403;p13"/>
          <p:cNvSpPr/>
          <p:nvPr/>
        </p:nvSpPr>
        <p:spPr>
          <a:xfrm>
            <a:off x="777240" y="2697480"/>
            <a:ext cx="3520440" cy="2148840"/>
          </a:xfrm>
          <a:prstGeom prst="roundRect">
            <a:avLst>
              <a:gd fmla="val 3404" name="adj"/>
            </a:avLst>
          </a:prstGeom>
          <a:solidFill>
            <a:srgbClr val="16414D"/>
          </a:solidFill>
          <a:ln cap="flat" cmpd="sng" w="12700">
            <a:solidFill>
              <a:srgbClr val="2B5C6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4" name="Google Shape;404;p13"/>
          <p:cNvSpPr/>
          <p:nvPr/>
        </p:nvSpPr>
        <p:spPr>
          <a:xfrm>
            <a:off x="1051560" y="2953512"/>
            <a:ext cx="640080" cy="640080"/>
          </a:xfrm>
          <a:prstGeom prst="ellipse">
            <a:avLst/>
          </a:prstGeom>
          <a:solidFill>
            <a:srgbClr val="0F2E38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405" name="Google Shape;405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217981" y="3119933"/>
            <a:ext cx="307238" cy="307238"/>
          </a:xfrm>
          <a:prstGeom prst="rect">
            <a:avLst/>
          </a:prstGeom>
          <a:noFill/>
          <a:ln>
            <a:noFill/>
          </a:ln>
        </p:spPr>
      </p:pic>
      <p:sp>
        <p:nvSpPr>
          <p:cNvPr id="406" name="Google Shape;406;p13"/>
          <p:cNvSpPr/>
          <p:nvPr/>
        </p:nvSpPr>
        <p:spPr>
          <a:xfrm>
            <a:off x="1051560" y="3685032"/>
            <a:ext cx="29718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Georgia"/>
              <a:buNone/>
            </a:pPr>
            <a:r>
              <a:rPr b="1" lang="en-US" sz="1500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Lavere kognitiv belastning</a:t>
            </a:r>
            <a:endParaRPr sz="1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7" name="Google Shape;407;p13"/>
          <p:cNvSpPr/>
          <p:nvPr/>
        </p:nvSpPr>
        <p:spPr>
          <a:xfrm>
            <a:off x="1051560" y="4160520"/>
            <a:ext cx="2990088" cy="6217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  <a:buClr>
                <a:srgbClr val="E9F2F3"/>
              </a:buClr>
              <a:buSzPts val="1100"/>
              <a:buFont typeface="Calibri"/>
              <a:buNone/>
            </a:pPr>
            <a:r>
              <a:rPr lang="en-US" sz="1100">
                <a:solidFill>
                  <a:srgbClr val="E9F2F3"/>
                </a:solidFill>
                <a:latin typeface="Calibri"/>
                <a:ea typeface="Calibri"/>
                <a:cs typeface="Calibri"/>
                <a:sym typeface="Calibri"/>
              </a:rPr>
              <a:t>Færre eksterne oppslag, mindre gjetting og kortere tid – målt mot DiBKs veiviser.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8" name="Google Shape;408;p13"/>
          <p:cNvSpPr/>
          <p:nvPr/>
        </p:nvSpPr>
        <p:spPr>
          <a:xfrm>
            <a:off x="8443956" y="2642618"/>
            <a:ext cx="3520500" cy="2148900"/>
          </a:xfrm>
          <a:prstGeom prst="roundRect">
            <a:avLst>
              <a:gd fmla="val 3404" name="adj"/>
            </a:avLst>
          </a:prstGeom>
          <a:solidFill>
            <a:srgbClr val="16414D"/>
          </a:solidFill>
          <a:ln cap="flat" cmpd="sng" w="12700">
            <a:solidFill>
              <a:srgbClr val="2B5C6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9" name="Google Shape;409;p13"/>
          <p:cNvSpPr/>
          <p:nvPr/>
        </p:nvSpPr>
        <p:spPr>
          <a:xfrm>
            <a:off x="4837176" y="2953512"/>
            <a:ext cx="640080" cy="640080"/>
          </a:xfrm>
          <a:prstGeom prst="ellipse">
            <a:avLst/>
          </a:prstGeom>
          <a:solidFill>
            <a:srgbClr val="0F2E38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410" name="Google Shape;410;p1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699872" y="2973083"/>
            <a:ext cx="307238" cy="307238"/>
          </a:xfrm>
          <a:prstGeom prst="rect">
            <a:avLst/>
          </a:prstGeom>
          <a:noFill/>
          <a:ln>
            <a:noFill/>
          </a:ln>
        </p:spPr>
      </p:pic>
      <p:sp>
        <p:nvSpPr>
          <p:cNvPr id="411" name="Google Shape;411;p13"/>
          <p:cNvSpPr/>
          <p:nvPr/>
        </p:nvSpPr>
        <p:spPr>
          <a:xfrm>
            <a:off x="8622776" y="3593607"/>
            <a:ext cx="2971800" cy="54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Georgia"/>
              <a:buNone/>
            </a:pPr>
            <a:r>
              <a:rPr b="1" lang="en-US" sz="1500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Bedre romlig forståelse</a:t>
            </a:r>
            <a:endParaRPr sz="1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2" name="Google Shape;412;p13"/>
          <p:cNvSpPr/>
          <p:nvPr/>
        </p:nvSpPr>
        <p:spPr>
          <a:xfrm>
            <a:off x="8613626" y="4160520"/>
            <a:ext cx="2990100" cy="621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  <a:buClr>
                <a:srgbClr val="E9F2F3"/>
              </a:buClr>
              <a:buSzPts val="1100"/>
              <a:buFont typeface="Calibri"/>
              <a:buNone/>
            </a:pPr>
            <a:r>
              <a:rPr lang="en-US" sz="1100">
                <a:solidFill>
                  <a:srgbClr val="E9F2F3"/>
                </a:solidFill>
                <a:latin typeface="Calibri"/>
                <a:ea typeface="Calibri"/>
                <a:cs typeface="Calibri"/>
                <a:sym typeface="Calibri"/>
              </a:rPr>
              <a:t>Bedre </a:t>
            </a:r>
            <a:r>
              <a:rPr lang="en-US" sz="1100">
                <a:solidFill>
                  <a:srgbClr val="E9F2F3"/>
                </a:solidFill>
                <a:latin typeface="Calibri"/>
                <a:ea typeface="Calibri"/>
                <a:cs typeface="Calibri"/>
                <a:sym typeface="Calibri"/>
              </a:rPr>
              <a:t>visualisering</a:t>
            </a:r>
            <a:r>
              <a:rPr lang="en-US" sz="1100">
                <a:solidFill>
                  <a:srgbClr val="E9F2F3"/>
                </a:solidFill>
                <a:latin typeface="Calibri"/>
                <a:ea typeface="Calibri"/>
                <a:cs typeface="Calibri"/>
                <a:sym typeface="Calibri"/>
              </a:rPr>
              <a:t> av avstander og bruk av digitalkart. 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3" name="Google Shape;413;p13"/>
          <p:cNvSpPr/>
          <p:nvPr/>
        </p:nvSpPr>
        <p:spPr>
          <a:xfrm>
            <a:off x="8622792" y="3685032"/>
            <a:ext cx="29718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Georgia"/>
              <a:buNone/>
            </a:pPr>
            <a:r>
              <a:t/>
            </a:r>
            <a:endParaRPr sz="1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4" name="Google Shape;414;p13"/>
          <p:cNvSpPr/>
          <p:nvPr/>
        </p:nvSpPr>
        <p:spPr>
          <a:xfrm>
            <a:off x="8622792" y="4160520"/>
            <a:ext cx="2990088" cy="6217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  <a:buClr>
                <a:srgbClr val="E9F2F3"/>
              </a:buClr>
              <a:buSzPts val="1100"/>
              <a:buFont typeface="Calibri"/>
              <a:buNone/>
            </a:pPr>
            <a:r>
              <a:t/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5" name="Google Shape;415;p13"/>
          <p:cNvSpPr/>
          <p:nvPr/>
        </p:nvSpPr>
        <p:spPr>
          <a:xfrm>
            <a:off x="777240" y="5102352"/>
            <a:ext cx="10972800" cy="749808"/>
          </a:xfrm>
          <a:prstGeom prst="roundRect">
            <a:avLst>
              <a:gd fmla="val 9756" name="adj"/>
            </a:avLst>
          </a:prstGeom>
          <a:solidFill>
            <a:srgbClr val="5AAE4A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6" name="Google Shape;416;p13"/>
          <p:cNvSpPr/>
          <p:nvPr/>
        </p:nvSpPr>
        <p:spPr>
          <a:xfrm>
            <a:off x="1005840" y="5102352"/>
            <a:ext cx="10515600" cy="7498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2E38"/>
              </a:buClr>
              <a:buSzPts val="1450"/>
              <a:buFont typeface="Georgia"/>
              <a:buNone/>
            </a:pPr>
            <a:r>
              <a:rPr b="1" i="1" lang="en-US" sz="1450">
                <a:solidFill>
                  <a:srgbClr val="0F2E38"/>
                </a:solidFill>
                <a:latin typeface="Georgia"/>
                <a:ea typeface="Georgia"/>
                <a:cs typeface="Georgia"/>
                <a:sym typeface="Georgia"/>
              </a:rPr>
              <a:t>TiltaksAID gir verdi for innbyggeren i dag – og har et reelt potensial som nasjonal modell for andre kommuner.</a:t>
            </a:r>
            <a:endParaRPr sz="14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421" name="Shape 4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2" name="Google Shape;422;p14"/>
          <p:cNvSpPr/>
          <p:nvPr/>
        </p:nvSpPr>
        <p:spPr>
          <a:xfrm>
            <a:off x="548640" y="475488"/>
            <a:ext cx="420624" cy="420624"/>
          </a:xfrm>
          <a:prstGeom prst="ellipse">
            <a:avLst/>
          </a:prstGeom>
          <a:solidFill>
            <a:srgbClr val="1B7E91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3" name="Google Shape;423;p14"/>
          <p:cNvSpPr/>
          <p:nvPr/>
        </p:nvSpPr>
        <p:spPr>
          <a:xfrm>
            <a:off x="548640" y="475488"/>
            <a:ext cx="420624" cy="42062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b="1" lang="en-US" sz="12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14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4" name="Google Shape;424;p14"/>
          <p:cNvSpPr/>
          <p:nvPr/>
        </p:nvSpPr>
        <p:spPr>
          <a:xfrm>
            <a:off x="1115568" y="475488"/>
            <a:ext cx="10058400" cy="42062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7E91"/>
              </a:buClr>
              <a:buSzPts val="1200"/>
              <a:buFont typeface="Calibri"/>
              <a:buNone/>
            </a:pPr>
            <a:r>
              <a:rPr b="1" lang="en-US" sz="1200">
                <a:solidFill>
                  <a:srgbClr val="1B7E91"/>
                </a:solidFill>
                <a:latin typeface="Calibri"/>
                <a:ea typeface="Calibri"/>
                <a:cs typeface="Calibri"/>
                <a:sym typeface="Calibri"/>
              </a:rPr>
              <a:t>BACKUP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5" name="Google Shape;425;p14"/>
          <p:cNvSpPr/>
          <p:nvPr/>
        </p:nvSpPr>
        <p:spPr>
          <a:xfrm>
            <a:off x="530352" y="914400"/>
            <a:ext cx="11064240" cy="868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2E38"/>
              </a:buClr>
              <a:buSzPts val="3100"/>
              <a:buFont typeface="Georgia"/>
              <a:buNone/>
            </a:pPr>
            <a:r>
              <a:rPr b="1" lang="en-US" sz="3100">
                <a:solidFill>
                  <a:srgbClr val="0F2E38"/>
                </a:solidFill>
                <a:latin typeface="Georgia"/>
                <a:ea typeface="Georgia"/>
                <a:cs typeface="Georgia"/>
                <a:sym typeface="Georgia"/>
              </a:rPr>
              <a:t>Prosjektstyring i praksis</a:t>
            </a:r>
            <a:endParaRPr sz="3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6" name="Google Shape;426;p14"/>
          <p:cNvSpPr/>
          <p:nvPr/>
        </p:nvSpPr>
        <p:spPr>
          <a:xfrm>
            <a:off x="548640" y="6400800"/>
            <a:ext cx="3657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C6E75"/>
              </a:buClr>
              <a:buSzPts val="900"/>
              <a:buFont typeface="Calibri"/>
              <a:buNone/>
            </a:pPr>
            <a:r>
              <a:rPr b="1" lang="en-US" sz="900">
                <a:solidFill>
                  <a:srgbClr val="5C6E75"/>
                </a:solidFill>
                <a:latin typeface="Calibri"/>
                <a:ea typeface="Calibri"/>
                <a:cs typeface="Calibri"/>
                <a:sym typeface="Calibri"/>
              </a:rPr>
              <a:t>TiltaksAID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7" name="Google Shape;427;p14"/>
          <p:cNvSpPr/>
          <p:nvPr/>
        </p:nvSpPr>
        <p:spPr>
          <a:xfrm>
            <a:off x="3657600" y="6400800"/>
            <a:ext cx="5943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5C6E75"/>
              </a:buClr>
              <a:buSzPts val="900"/>
              <a:buFont typeface="Calibri"/>
              <a:buNone/>
            </a:pPr>
            <a:r>
              <a:rPr lang="en-US" sz="900">
                <a:solidFill>
                  <a:srgbClr val="5C6E75"/>
                </a:solidFill>
                <a:latin typeface="Calibri"/>
                <a:ea typeface="Calibri"/>
                <a:cs typeface="Calibri"/>
                <a:sym typeface="Calibri"/>
              </a:rPr>
              <a:t>Backup – Prosjektstyring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8" name="Google Shape;428;p14"/>
          <p:cNvSpPr/>
          <p:nvPr/>
        </p:nvSpPr>
        <p:spPr>
          <a:xfrm>
            <a:off x="10058400" y="6400800"/>
            <a:ext cx="1581912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5C6E75"/>
              </a:buClr>
              <a:buSzPts val="900"/>
              <a:buFont typeface="Calibri"/>
              <a:buNone/>
            </a:pPr>
            <a:r>
              <a:rPr lang="en-US" sz="900">
                <a:solidFill>
                  <a:srgbClr val="5C6E75"/>
                </a:solidFill>
                <a:latin typeface="Calibri"/>
                <a:ea typeface="Calibri"/>
                <a:cs typeface="Calibri"/>
                <a:sym typeface="Calibri"/>
              </a:rPr>
              <a:t>14 / 14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9" name="Google Shape;429;p14"/>
          <p:cNvSpPr/>
          <p:nvPr/>
        </p:nvSpPr>
        <p:spPr>
          <a:xfrm>
            <a:off x="9646920" y="457200"/>
            <a:ext cx="1993392" cy="457200"/>
          </a:xfrm>
          <a:prstGeom prst="roundRect">
            <a:avLst>
              <a:gd fmla="val 50000" name="adj"/>
            </a:avLst>
          </a:prstGeom>
          <a:solidFill>
            <a:srgbClr val="E9F2F3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0" name="Google Shape;430;p14"/>
          <p:cNvSpPr/>
          <p:nvPr/>
        </p:nvSpPr>
        <p:spPr>
          <a:xfrm>
            <a:off x="9646920" y="457200"/>
            <a:ext cx="1993392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B7E91"/>
              </a:buClr>
              <a:buSzPts val="1000"/>
              <a:buFont typeface="Calibri"/>
              <a:buNone/>
            </a:pPr>
            <a:r>
              <a:rPr b="1" lang="en-US" sz="1000">
                <a:solidFill>
                  <a:srgbClr val="1B7E91"/>
                </a:solidFill>
                <a:latin typeface="Calibri"/>
                <a:ea typeface="Calibri"/>
                <a:cs typeface="Calibri"/>
                <a:sym typeface="Calibri"/>
              </a:rPr>
              <a:t>BACKUP-SLIDE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1" name="Google Shape;431;p14"/>
          <p:cNvSpPr/>
          <p:nvPr/>
        </p:nvSpPr>
        <p:spPr>
          <a:xfrm>
            <a:off x="548640" y="1920240"/>
            <a:ext cx="7315200" cy="1243584"/>
          </a:xfrm>
          <a:prstGeom prst="roundRect">
            <a:avLst>
              <a:gd fmla="val 5882" name="adj"/>
            </a:avLst>
          </a:prstGeom>
          <a:solidFill>
            <a:srgbClr val="FFFFFF"/>
          </a:solidFill>
          <a:ln cap="flat" cmpd="sng" w="12700">
            <a:solidFill>
              <a:srgbClr val="D7E3E5"/>
            </a:solidFill>
            <a:prstDash val="solid"/>
            <a:round/>
            <a:headEnd len="sm" w="sm" type="none"/>
            <a:tailEnd len="sm" w="sm" type="none"/>
          </a:ln>
          <a:effectLst>
            <a:outerShdw blurRad="88900" rotWithShape="0" algn="bl" dir="8100000" dist="38100">
              <a:srgbClr val="0F2E38">
                <a:alpha val="12941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2" name="Google Shape;432;p14"/>
          <p:cNvSpPr/>
          <p:nvPr/>
        </p:nvSpPr>
        <p:spPr>
          <a:xfrm>
            <a:off x="749808" y="2212848"/>
            <a:ext cx="658368" cy="658368"/>
          </a:xfrm>
          <a:prstGeom prst="ellipse">
            <a:avLst/>
          </a:prstGeom>
          <a:solidFill>
            <a:srgbClr val="1B7E91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433" name="Google Shape;433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20984" y="2384024"/>
            <a:ext cx="316017" cy="316017"/>
          </a:xfrm>
          <a:prstGeom prst="rect">
            <a:avLst/>
          </a:prstGeom>
          <a:noFill/>
          <a:ln>
            <a:noFill/>
          </a:ln>
        </p:spPr>
      </p:pic>
      <p:sp>
        <p:nvSpPr>
          <p:cNvPr id="434" name="Google Shape;434;p14"/>
          <p:cNvSpPr/>
          <p:nvPr/>
        </p:nvSpPr>
        <p:spPr>
          <a:xfrm>
            <a:off x="1591056" y="2084832"/>
            <a:ext cx="603504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2E38"/>
              </a:buClr>
              <a:buSzPts val="1550"/>
              <a:buFont typeface="Georgia"/>
              <a:buNone/>
            </a:pPr>
            <a:r>
              <a:rPr b="1" lang="en-US" sz="1550">
                <a:solidFill>
                  <a:srgbClr val="0F2E38"/>
                </a:solidFill>
                <a:latin typeface="Georgia"/>
                <a:ea typeface="Georgia"/>
                <a:cs typeface="Georgia"/>
                <a:sym typeface="Georgia"/>
              </a:rPr>
              <a:t>GitHub Projects</a:t>
            </a:r>
            <a:endParaRPr sz="15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5" name="Google Shape;435;p14"/>
          <p:cNvSpPr/>
          <p:nvPr/>
        </p:nvSpPr>
        <p:spPr>
          <a:xfrm>
            <a:off x="1591056" y="2432304"/>
            <a:ext cx="6126480" cy="6583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>
                <a:srgbClr val="1E2A2E"/>
              </a:buClr>
              <a:buSzPts val="1100"/>
              <a:buFont typeface="Calibri"/>
              <a:buNone/>
            </a:pPr>
            <a:r>
              <a:rPr lang="en-US" sz="1100">
                <a:solidFill>
                  <a:srgbClr val="1E2A2E"/>
                </a:solidFill>
                <a:latin typeface="Calibri"/>
                <a:ea typeface="Calibri"/>
                <a:cs typeface="Calibri"/>
                <a:sym typeface="Calibri"/>
              </a:rPr>
              <a:t>Felles Scrumboard for hele teamet, og synlig for de andre bachelorgruppene hos kommunen. 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6" name="Google Shape;436;p14"/>
          <p:cNvSpPr/>
          <p:nvPr/>
        </p:nvSpPr>
        <p:spPr>
          <a:xfrm>
            <a:off x="548640" y="3310128"/>
            <a:ext cx="7315200" cy="1243584"/>
          </a:xfrm>
          <a:prstGeom prst="roundRect">
            <a:avLst>
              <a:gd fmla="val 5882" name="adj"/>
            </a:avLst>
          </a:prstGeom>
          <a:solidFill>
            <a:srgbClr val="FFFFFF"/>
          </a:solidFill>
          <a:ln cap="flat" cmpd="sng" w="12700">
            <a:solidFill>
              <a:srgbClr val="D7E3E5"/>
            </a:solidFill>
            <a:prstDash val="solid"/>
            <a:round/>
            <a:headEnd len="sm" w="sm" type="none"/>
            <a:tailEnd len="sm" w="sm" type="none"/>
          </a:ln>
          <a:effectLst>
            <a:outerShdw blurRad="88900" rotWithShape="0" algn="bl" dir="8100000" dist="38100">
              <a:srgbClr val="0F2E38">
                <a:alpha val="12941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7" name="Google Shape;437;p14"/>
          <p:cNvSpPr/>
          <p:nvPr/>
        </p:nvSpPr>
        <p:spPr>
          <a:xfrm>
            <a:off x="749808" y="3602736"/>
            <a:ext cx="658368" cy="658368"/>
          </a:xfrm>
          <a:prstGeom prst="ellipse">
            <a:avLst/>
          </a:prstGeom>
          <a:solidFill>
            <a:srgbClr val="1B7E91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438" name="Google Shape;438;p1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920984" y="3773912"/>
            <a:ext cx="316017" cy="316017"/>
          </a:xfrm>
          <a:prstGeom prst="rect">
            <a:avLst/>
          </a:prstGeom>
          <a:noFill/>
          <a:ln>
            <a:noFill/>
          </a:ln>
        </p:spPr>
      </p:pic>
      <p:sp>
        <p:nvSpPr>
          <p:cNvPr id="439" name="Google Shape;439;p14"/>
          <p:cNvSpPr/>
          <p:nvPr/>
        </p:nvSpPr>
        <p:spPr>
          <a:xfrm>
            <a:off x="1591056" y="3474720"/>
            <a:ext cx="603504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2E38"/>
              </a:buClr>
              <a:buSzPts val="1550"/>
              <a:buFont typeface="Georgia"/>
              <a:buNone/>
            </a:pPr>
            <a:r>
              <a:rPr b="1" lang="en-US" sz="1550">
                <a:solidFill>
                  <a:srgbClr val="0F2E38"/>
                </a:solidFill>
                <a:latin typeface="Georgia"/>
                <a:ea typeface="Georgia"/>
                <a:cs typeface="Georgia"/>
                <a:sym typeface="Georgia"/>
              </a:rPr>
              <a:t>Story points &amp; Planning Poker</a:t>
            </a:r>
            <a:endParaRPr sz="15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0" name="Google Shape;440;p14"/>
          <p:cNvSpPr/>
          <p:nvPr/>
        </p:nvSpPr>
        <p:spPr>
          <a:xfrm>
            <a:off x="1591056" y="3822192"/>
            <a:ext cx="6126480" cy="6583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>
                <a:srgbClr val="1E2A2E"/>
              </a:buClr>
              <a:buSzPts val="1100"/>
              <a:buFont typeface="Calibri"/>
              <a:buNone/>
            </a:pPr>
            <a:r>
              <a:rPr lang="en-US" sz="1100">
                <a:solidFill>
                  <a:srgbClr val="1E2A2E"/>
                </a:solidFill>
                <a:latin typeface="Calibri"/>
                <a:ea typeface="Calibri"/>
                <a:cs typeface="Calibri"/>
                <a:sym typeface="Calibri"/>
              </a:rPr>
              <a:t>Relativ estimering av kompleksitet og usikkerhet. Etablerte en målbar velocity som styrte sprintkapasiteten.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1" name="Google Shape;441;p14"/>
          <p:cNvSpPr/>
          <p:nvPr/>
        </p:nvSpPr>
        <p:spPr>
          <a:xfrm>
            <a:off x="548640" y="4700016"/>
            <a:ext cx="7315200" cy="1243584"/>
          </a:xfrm>
          <a:prstGeom prst="roundRect">
            <a:avLst>
              <a:gd fmla="val 5882" name="adj"/>
            </a:avLst>
          </a:prstGeom>
          <a:solidFill>
            <a:srgbClr val="FFFFFF"/>
          </a:solidFill>
          <a:ln cap="flat" cmpd="sng" w="12700">
            <a:solidFill>
              <a:srgbClr val="D7E3E5"/>
            </a:solidFill>
            <a:prstDash val="solid"/>
            <a:round/>
            <a:headEnd len="sm" w="sm" type="none"/>
            <a:tailEnd len="sm" w="sm" type="none"/>
          </a:ln>
          <a:effectLst>
            <a:outerShdw blurRad="88900" rotWithShape="0" algn="bl" dir="8100000" dist="38100">
              <a:srgbClr val="0F2E38">
                <a:alpha val="12941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2" name="Google Shape;442;p14"/>
          <p:cNvSpPr/>
          <p:nvPr/>
        </p:nvSpPr>
        <p:spPr>
          <a:xfrm>
            <a:off x="749808" y="4992624"/>
            <a:ext cx="658368" cy="658368"/>
          </a:xfrm>
          <a:prstGeom prst="ellipse">
            <a:avLst/>
          </a:prstGeom>
          <a:solidFill>
            <a:srgbClr val="1B7E91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443" name="Google Shape;443;p1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920984" y="5163800"/>
            <a:ext cx="316017" cy="316017"/>
          </a:xfrm>
          <a:prstGeom prst="rect">
            <a:avLst/>
          </a:prstGeom>
          <a:noFill/>
          <a:ln>
            <a:noFill/>
          </a:ln>
        </p:spPr>
      </p:pic>
      <p:sp>
        <p:nvSpPr>
          <p:cNvPr id="444" name="Google Shape;444;p14"/>
          <p:cNvSpPr/>
          <p:nvPr/>
        </p:nvSpPr>
        <p:spPr>
          <a:xfrm>
            <a:off x="1591056" y="4864608"/>
            <a:ext cx="603504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2E38"/>
              </a:buClr>
              <a:buSzPts val="1550"/>
              <a:buFont typeface="Georgia"/>
              <a:buNone/>
            </a:pPr>
            <a:r>
              <a:rPr b="1" lang="en-US" sz="1550">
                <a:solidFill>
                  <a:srgbClr val="0F2E38"/>
                </a:solidFill>
                <a:latin typeface="Georgia"/>
                <a:ea typeface="Georgia"/>
                <a:cs typeface="Georgia"/>
                <a:sym typeface="Georgia"/>
              </a:rPr>
              <a:t>Burn-up &amp; to backlogs</a:t>
            </a:r>
            <a:endParaRPr sz="15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5" name="Google Shape;445;p14"/>
          <p:cNvSpPr/>
          <p:nvPr/>
        </p:nvSpPr>
        <p:spPr>
          <a:xfrm>
            <a:off x="1591056" y="5212080"/>
            <a:ext cx="6126480" cy="6583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>
                <a:srgbClr val="1E2A2E"/>
              </a:buClr>
              <a:buSzPts val="1100"/>
              <a:buFont typeface="Calibri"/>
              <a:buNone/>
            </a:pPr>
            <a:r>
              <a:rPr lang="en-US" sz="1100">
                <a:solidFill>
                  <a:srgbClr val="1E2A2E"/>
                </a:solidFill>
                <a:latin typeface="Calibri"/>
                <a:ea typeface="Calibri"/>
                <a:cs typeface="Calibri"/>
                <a:sym typeface="Calibri"/>
              </a:rPr>
              <a:t>Burn-up-graf synliggjorde fremdrift og scope-endringer. Separate backlogs for produkt og rapport holdt arbeidet ryddig.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6" name="Google Shape;446;p14"/>
          <p:cNvSpPr/>
          <p:nvPr/>
        </p:nvSpPr>
        <p:spPr>
          <a:xfrm>
            <a:off x="8092440" y="1920240"/>
            <a:ext cx="3547872" cy="4023360"/>
          </a:xfrm>
          <a:prstGeom prst="roundRect">
            <a:avLst>
              <a:gd fmla="val 2062" name="adj"/>
            </a:avLst>
          </a:prstGeom>
          <a:solidFill>
            <a:srgbClr val="0F2E38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7" name="Google Shape;447;p14"/>
          <p:cNvSpPr/>
          <p:nvPr/>
        </p:nvSpPr>
        <p:spPr>
          <a:xfrm>
            <a:off x="8366760" y="2121408"/>
            <a:ext cx="2999232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Georgia"/>
              <a:buNone/>
            </a:pPr>
            <a:r>
              <a:rPr b="1" lang="en-US" sz="1500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Prosjektet i tall</a:t>
            </a:r>
            <a:endParaRPr sz="1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8" name="Google Shape;448;p14"/>
          <p:cNvSpPr/>
          <p:nvPr/>
        </p:nvSpPr>
        <p:spPr>
          <a:xfrm>
            <a:off x="8366760" y="2633472"/>
            <a:ext cx="2999232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AAE4A"/>
              </a:buClr>
              <a:buSzPts val="2700"/>
              <a:buFont typeface="Georgia"/>
              <a:buNone/>
            </a:pPr>
            <a:r>
              <a:rPr b="1" lang="en-US" sz="2700">
                <a:solidFill>
                  <a:srgbClr val="5AAE4A"/>
                </a:solidFill>
                <a:latin typeface="Georgia"/>
                <a:ea typeface="Georgia"/>
                <a:cs typeface="Georgia"/>
                <a:sym typeface="Georgia"/>
              </a:rPr>
              <a:t>3 PI × 7 uker</a:t>
            </a:r>
            <a:endParaRPr sz="27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9" name="Google Shape;449;p14"/>
          <p:cNvSpPr/>
          <p:nvPr/>
        </p:nvSpPr>
        <p:spPr>
          <a:xfrm>
            <a:off x="8366760" y="3090672"/>
            <a:ext cx="2999232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9F2F3"/>
              </a:buClr>
              <a:buSzPts val="1050"/>
              <a:buFont typeface="Calibri"/>
              <a:buNone/>
            </a:pPr>
            <a:r>
              <a:rPr lang="en-US" sz="1050">
                <a:solidFill>
                  <a:srgbClr val="E9F2F3"/>
                </a:solidFill>
                <a:latin typeface="Calibri"/>
                <a:ea typeface="Calibri"/>
                <a:cs typeface="Calibri"/>
                <a:sym typeface="Calibri"/>
              </a:rPr>
              <a:t>Program Increments à syv uker =&gt; 2 - 2 -2 + 1 ukers sprinter</a:t>
            </a:r>
            <a:endParaRPr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450" name="Google Shape;450;p14"/>
          <p:cNvCxnSpPr/>
          <p:nvPr/>
        </p:nvCxnSpPr>
        <p:spPr>
          <a:xfrm>
            <a:off x="8366760" y="3547872"/>
            <a:ext cx="2999232" cy="0"/>
          </a:xfrm>
          <a:prstGeom prst="straightConnector1">
            <a:avLst/>
          </a:prstGeom>
          <a:noFill/>
          <a:ln cap="flat" cmpd="sng" w="9525">
            <a:solidFill>
              <a:srgbClr val="2B5C68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51" name="Google Shape;451;p14"/>
          <p:cNvSpPr/>
          <p:nvPr/>
        </p:nvSpPr>
        <p:spPr>
          <a:xfrm>
            <a:off x="8366760" y="3657600"/>
            <a:ext cx="2999232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AAE4A"/>
              </a:buClr>
              <a:buSzPts val="2700"/>
              <a:buFont typeface="Georgia"/>
              <a:buNone/>
            </a:pPr>
            <a:r>
              <a:t/>
            </a:r>
            <a:endParaRPr sz="27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2" name="Google Shape;452;p14"/>
          <p:cNvSpPr/>
          <p:nvPr/>
        </p:nvSpPr>
        <p:spPr>
          <a:xfrm>
            <a:off x="8327135" y="3694178"/>
            <a:ext cx="29991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AAE4A"/>
              </a:buClr>
              <a:buSzPts val="2700"/>
              <a:buFont typeface="Georgia"/>
              <a:buNone/>
            </a:pPr>
            <a:r>
              <a:rPr b="1" lang="en-US" sz="2700">
                <a:solidFill>
                  <a:srgbClr val="5AAE4A"/>
                </a:solidFill>
                <a:latin typeface="Georgia"/>
                <a:ea typeface="Georgia"/>
                <a:cs typeface="Georgia"/>
                <a:sym typeface="Georgia"/>
              </a:rPr>
              <a:t>5</a:t>
            </a:r>
            <a:endParaRPr sz="27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3" name="Google Shape;453;p14"/>
          <p:cNvSpPr/>
          <p:nvPr/>
        </p:nvSpPr>
        <p:spPr>
          <a:xfrm>
            <a:off x="8366760" y="4180928"/>
            <a:ext cx="29991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9F2F3"/>
              </a:buClr>
              <a:buSzPts val="1050"/>
              <a:buFont typeface="Calibri"/>
              <a:buNone/>
            </a:pPr>
            <a:r>
              <a:rPr lang="en-US" sz="1050">
                <a:solidFill>
                  <a:srgbClr val="E9F2F3"/>
                </a:solidFill>
                <a:latin typeface="Calibri"/>
                <a:ea typeface="Calibri"/>
                <a:cs typeface="Calibri"/>
                <a:sym typeface="Calibri"/>
              </a:rPr>
              <a:t>T</a:t>
            </a:r>
            <a:r>
              <a:rPr lang="en-US" sz="1050">
                <a:solidFill>
                  <a:srgbClr val="E9F2F3"/>
                </a:solidFill>
                <a:latin typeface="Calibri"/>
                <a:ea typeface="Calibri"/>
                <a:cs typeface="Calibri"/>
                <a:sym typeface="Calibri"/>
              </a:rPr>
              <a:t>eammedlemmer med DevOps-roller </a:t>
            </a:r>
            <a:endParaRPr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-tema">
  <a:themeElements>
    <a:clrScheme name="Office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2026-05-26T08:11:13Z</dcterms:created>
  <dc:creator>Team π – Group 1</dc:creator>
</cp:coreProperties>
</file>